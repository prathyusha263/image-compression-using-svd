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2" r:id="rId15"/>
    <p:sldId id="273" r:id="rId16"/>
    <p:sldId id="274" r:id="rId17"/>
    <p:sldId id="275" r:id="rId18"/>
    <p:sldId id="276"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3.png"/><Relationship Id="rId12" Type="http://schemas.openxmlformats.org/officeDocument/2006/relationships/image" Target="../media/image20.svg"/><Relationship Id="rId2" Type="http://schemas.openxmlformats.org/officeDocument/2006/relationships/image" Target="../media/image12.svg"/><Relationship Id="rId16" Type="http://schemas.openxmlformats.org/officeDocument/2006/relationships/image" Target="../media/image24.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4.svg"/><Relationship Id="rId9" Type="http://schemas.openxmlformats.org/officeDocument/2006/relationships/image" Target="../media/image17.png"/><Relationship Id="rId14" Type="http://schemas.openxmlformats.org/officeDocument/2006/relationships/image" Target="../media/image22.svg"/></Relationships>
</file>

<file path=ppt/diagrams/_rels/data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3.png"/><Relationship Id="rId12" Type="http://schemas.openxmlformats.org/officeDocument/2006/relationships/image" Target="../media/image20.svg"/><Relationship Id="rId2" Type="http://schemas.openxmlformats.org/officeDocument/2006/relationships/image" Target="../media/image12.svg"/><Relationship Id="rId16" Type="http://schemas.openxmlformats.org/officeDocument/2006/relationships/image" Target="../media/image24.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19.png"/><Relationship Id="rId5" Type="http://schemas.openxmlformats.org/officeDocument/2006/relationships/image" Target="../media/image15.pn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4.svg"/><Relationship Id="rId9" Type="http://schemas.openxmlformats.org/officeDocument/2006/relationships/image" Target="../media/image17.png"/><Relationship Id="rId1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1BBF04-A2FA-483F-ADAC-A8C94C1E04AB}"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6B00294-E2BC-439A-B04F-DA23A6A5E983}">
      <dgm:prSet custT="1"/>
      <dgm:spPr/>
      <dgm:t>
        <a:bodyPr/>
        <a:lstStyle/>
        <a:p>
          <a:pPr>
            <a:lnSpc>
              <a:spcPct val="100000"/>
            </a:lnSpc>
          </a:pPr>
          <a:r>
            <a:rPr lang="en-US" sz="1400" i="0" baseline="0" dirty="0"/>
            <a:t>Digital images, especially large and high-resolution ones, take a lot of storage space and are expensive to store and transmit.</a:t>
          </a:r>
          <a:endParaRPr lang="en-US" sz="1400" dirty="0"/>
        </a:p>
      </dgm:t>
    </dgm:pt>
    <dgm:pt modelId="{25984F90-56A0-49D3-A0B2-C719C5391893}" type="parTrans" cxnId="{9F5EB2A0-8192-4303-B903-9C80519C0506}">
      <dgm:prSet/>
      <dgm:spPr/>
      <dgm:t>
        <a:bodyPr/>
        <a:lstStyle/>
        <a:p>
          <a:endParaRPr lang="en-US"/>
        </a:p>
      </dgm:t>
    </dgm:pt>
    <dgm:pt modelId="{5B4B42E0-4164-48C7-ACB4-F409C501EBDC}" type="sibTrans" cxnId="{9F5EB2A0-8192-4303-B903-9C80519C0506}">
      <dgm:prSet/>
      <dgm:spPr/>
      <dgm:t>
        <a:bodyPr/>
        <a:lstStyle/>
        <a:p>
          <a:endParaRPr lang="en-US"/>
        </a:p>
      </dgm:t>
    </dgm:pt>
    <dgm:pt modelId="{E4A6DCEA-D7B1-4FFC-91D2-66AFD27AA145}">
      <dgm:prSet custT="1"/>
      <dgm:spPr/>
      <dgm:t>
        <a:bodyPr/>
        <a:lstStyle/>
        <a:p>
          <a:pPr>
            <a:lnSpc>
              <a:spcPct val="100000"/>
            </a:lnSpc>
          </a:pPr>
          <a:r>
            <a:rPr lang="en-US" sz="1400" i="0" baseline="0" dirty="0"/>
            <a:t>Many images contain redundant pixel information, so they don’t actually need all their original data to look good to the human eye.</a:t>
          </a:r>
          <a:endParaRPr lang="en-US" sz="1400" dirty="0"/>
        </a:p>
      </dgm:t>
    </dgm:pt>
    <dgm:pt modelId="{2E82E047-3CCC-41BA-9F09-41C75F12DE96}" type="parTrans" cxnId="{41028DD4-DDA1-42AC-A140-6443021D02E0}">
      <dgm:prSet/>
      <dgm:spPr/>
      <dgm:t>
        <a:bodyPr/>
        <a:lstStyle/>
        <a:p>
          <a:endParaRPr lang="en-US"/>
        </a:p>
      </dgm:t>
    </dgm:pt>
    <dgm:pt modelId="{23850F65-D024-4078-820F-C710D63EB6F5}" type="sibTrans" cxnId="{41028DD4-DDA1-42AC-A140-6443021D02E0}">
      <dgm:prSet/>
      <dgm:spPr/>
      <dgm:t>
        <a:bodyPr/>
        <a:lstStyle/>
        <a:p>
          <a:endParaRPr lang="en-US"/>
        </a:p>
      </dgm:t>
    </dgm:pt>
    <dgm:pt modelId="{53D97A35-3EB6-475D-B44E-BD40C019E5B7}">
      <dgm:prSet custT="1"/>
      <dgm:spPr/>
      <dgm:t>
        <a:bodyPr/>
        <a:lstStyle/>
        <a:p>
          <a:pPr>
            <a:lnSpc>
              <a:spcPct val="100000"/>
            </a:lnSpc>
          </a:pPr>
          <a:r>
            <a:rPr lang="en-US" sz="1200" i="0" baseline="0" dirty="0"/>
            <a:t>In this project, we want to see how much we can compress an image by using a mathematical method called Singular Value Decomposition (SVD), while still it keeping the image visually acceptable.</a:t>
          </a:r>
          <a:endParaRPr lang="en-US" sz="1200" dirty="0"/>
        </a:p>
      </dgm:t>
    </dgm:pt>
    <dgm:pt modelId="{C6F35781-1732-45A4-A727-25ED40EDFF0E}" type="parTrans" cxnId="{0A559E7F-128C-46F3-8173-AC0B0B44D4E9}">
      <dgm:prSet/>
      <dgm:spPr/>
      <dgm:t>
        <a:bodyPr/>
        <a:lstStyle/>
        <a:p>
          <a:endParaRPr lang="en-US"/>
        </a:p>
      </dgm:t>
    </dgm:pt>
    <dgm:pt modelId="{96DC8F97-CE6E-49D3-97AC-5EE3C0CF4EAF}" type="sibTrans" cxnId="{0A559E7F-128C-46F3-8173-AC0B0B44D4E9}">
      <dgm:prSet/>
      <dgm:spPr/>
      <dgm:t>
        <a:bodyPr/>
        <a:lstStyle/>
        <a:p>
          <a:endParaRPr lang="en-US"/>
        </a:p>
      </dgm:t>
    </dgm:pt>
    <dgm:pt modelId="{3AA490D2-182E-478D-873F-A72A58C783B0}" type="pres">
      <dgm:prSet presAssocID="{741BBF04-A2FA-483F-ADAC-A8C94C1E04AB}" presName="root" presStyleCnt="0">
        <dgm:presLayoutVars>
          <dgm:dir/>
          <dgm:resizeHandles val="exact"/>
        </dgm:presLayoutVars>
      </dgm:prSet>
      <dgm:spPr/>
    </dgm:pt>
    <dgm:pt modelId="{E52CC866-B962-41F7-AD97-039D1D2D7A14}" type="pres">
      <dgm:prSet presAssocID="{76B00294-E2BC-439A-B04F-DA23A6A5E983}" presName="compNode" presStyleCnt="0"/>
      <dgm:spPr/>
    </dgm:pt>
    <dgm:pt modelId="{73D0FCE6-5104-4712-8A05-6E88E96ED1F2}" type="pres">
      <dgm:prSet presAssocID="{76B00294-E2BC-439A-B04F-DA23A6A5E98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redder"/>
        </a:ext>
      </dgm:extLst>
    </dgm:pt>
    <dgm:pt modelId="{E9B8CA32-3BAD-4C02-B211-BD240845DA28}" type="pres">
      <dgm:prSet presAssocID="{76B00294-E2BC-439A-B04F-DA23A6A5E983}" presName="spaceRect" presStyleCnt="0"/>
      <dgm:spPr/>
    </dgm:pt>
    <dgm:pt modelId="{BCE40840-56F0-467B-AB4D-FFC11BF5BBA4}" type="pres">
      <dgm:prSet presAssocID="{76B00294-E2BC-439A-B04F-DA23A6A5E983}" presName="textRect" presStyleLbl="revTx" presStyleIdx="0" presStyleCnt="3">
        <dgm:presLayoutVars>
          <dgm:chMax val="1"/>
          <dgm:chPref val="1"/>
        </dgm:presLayoutVars>
      </dgm:prSet>
      <dgm:spPr/>
    </dgm:pt>
    <dgm:pt modelId="{8BDAA4CE-E282-45DF-B66D-8A93ED8550FA}" type="pres">
      <dgm:prSet presAssocID="{5B4B42E0-4164-48C7-ACB4-F409C501EBDC}" presName="sibTrans" presStyleCnt="0"/>
      <dgm:spPr/>
    </dgm:pt>
    <dgm:pt modelId="{2A962687-6785-438B-B71D-26CB94C2E574}" type="pres">
      <dgm:prSet presAssocID="{E4A6DCEA-D7B1-4FFC-91D2-66AFD27AA145}" presName="compNode" presStyleCnt="0"/>
      <dgm:spPr/>
    </dgm:pt>
    <dgm:pt modelId="{24633204-B90A-4079-87C6-646F73598EFA}" type="pres">
      <dgm:prSet presAssocID="{E4A6DCEA-D7B1-4FFC-91D2-66AFD27AA14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Image"/>
        </a:ext>
      </dgm:extLst>
    </dgm:pt>
    <dgm:pt modelId="{A782C19E-9403-4B37-BC6E-D24AD8349BD7}" type="pres">
      <dgm:prSet presAssocID="{E4A6DCEA-D7B1-4FFC-91D2-66AFD27AA145}" presName="spaceRect" presStyleCnt="0"/>
      <dgm:spPr/>
    </dgm:pt>
    <dgm:pt modelId="{12EDEC8C-54BF-44D0-867B-565058BA9756}" type="pres">
      <dgm:prSet presAssocID="{E4A6DCEA-D7B1-4FFC-91D2-66AFD27AA145}" presName="textRect" presStyleLbl="revTx" presStyleIdx="1" presStyleCnt="3">
        <dgm:presLayoutVars>
          <dgm:chMax val="1"/>
          <dgm:chPref val="1"/>
        </dgm:presLayoutVars>
      </dgm:prSet>
      <dgm:spPr/>
    </dgm:pt>
    <dgm:pt modelId="{ECD9D971-1268-492B-9E8D-85EBBD49051C}" type="pres">
      <dgm:prSet presAssocID="{23850F65-D024-4078-820F-C710D63EB6F5}" presName="sibTrans" presStyleCnt="0"/>
      <dgm:spPr/>
    </dgm:pt>
    <dgm:pt modelId="{9D1E1BB5-224D-42D7-A9C8-CF170FF4054B}" type="pres">
      <dgm:prSet presAssocID="{53D97A35-3EB6-475D-B44E-BD40C019E5B7}" presName="compNode" presStyleCnt="0"/>
      <dgm:spPr/>
    </dgm:pt>
    <dgm:pt modelId="{9C1E6B61-F657-487A-96F1-78AAC2A4DD91}" type="pres">
      <dgm:prSet presAssocID="{53D97A35-3EB6-475D-B44E-BD40C019E5B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low"/>
        </a:ext>
      </dgm:extLst>
    </dgm:pt>
    <dgm:pt modelId="{4354AF32-5D84-4B8F-B093-490BC5CCC39D}" type="pres">
      <dgm:prSet presAssocID="{53D97A35-3EB6-475D-B44E-BD40C019E5B7}" presName="spaceRect" presStyleCnt="0"/>
      <dgm:spPr/>
    </dgm:pt>
    <dgm:pt modelId="{B43DE448-E4EE-4A29-B7E1-7257A1BF4682}" type="pres">
      <dgm:prSet presAssocID="{53D97A35-3EB6-475D-B44E-BD40C019E5B7}" presName="textRect" presStyleLbl="revTx" presStyleIdx="2" presStyleCnt="3" custScaleX="92910" custScaleY="154790">
        <dgm:presLayoutVars>
          <dgm:chMax val="1"/>
          <dgm:chPref val="1"/>
        </dgm:presLayoutVars>
      </dgm:prSet>
      <dgm:spPr/>
    </dgm:pt>
  </dgm:ptLst>
  <dgm:cxnLst>
    <dgm:cxn modelId="{3AE11F11-EE71-4B52-9404-7ED3F512C228}" type="presOf" srcId="{53D97A35-3EB6-475D-B44E-BD40C019E5B7}" destId="{B43DE448-E4EE-4A29-B7E1-7257A1BF4682}" srcOrd="0" destOrd="0" presId="urn:microsoft.com/office/officeart/2018/2/layout/IconLabelList"/>
    <dgm:cxn modelId="{BA404B29-E69D-4692-8611-61A66375CCBF}" type="presOf" srcId="{E4A6DCEA-D7B1-4FFC-91D2-66AFD27AA145}" destId="{12EDEC8C-54BF-44D0-867B-565058BA9756}" srcOrd="0" destOrd="0" presId="urn:microsoft.com/office/officeart/2018/2/layout/IconLabelList"/>
    <dgm:cxn modelId="{77C9DA35-B04D-47A5-96EA-B68E08CDC272}" type="presOf" srcId="{76B00294-E2BC-439A-B04F-DA23A6A5E983}" destId="{BCE40840-56F0-467B-AB4D-FFC11BF5BBA4}" srcOrd="0" destOrd="0" presId="urn:microsoft.com/office/officeart/2018/2/layout/IconLabelList"/>
    <dgm:cxn modelId="{0A559E7F-128C-46F3-8173-AC0B0B44D4E9}" srcId="{741BBF04-A2FA-483F-ADAC-A8C94C1E04AB}" destId="{53D97A35-3EB6-475D-B44E-BD40C019E5B7}" srcOrd="2" destOrd="0" parTransId="{C6F35781-1732-45A4-A727-25ED40EDFF0E}" sibTransId="{96DC8F97-CE6E-49D3-97AC-5EE3C0CF4EAF}"/>
    <dgm:cxn modelId="{9F5EB2A0-8192-4303-B903-9C80519C0506}" srcId="{741BBF04-A2FA-483F-ADAC-A8C94C1E04AB}" destId="{76B00294-E2BC-439A-B04F-DA23A6A5E983}" srcOrd="0" destOrd="0" parTransId="{25984F90-56A0-49D3-A0B2-C719C5391893}" sibTransId="{5B4B42E0-4164-48C7-ACB4-F409C501EBDC}"/>
    <dgm:cxn modelId="{41028DD4-DDA1-42AC-A140-6443021D02E0}" srcId="{741BBF04-A2FA-483F-ADAC-A8C94C1E04AB}" destId="{E4A6DCEA-D7B1-4FFC-91D2-66AFD27AA145}" srcOrd="1" destOrd="0" parTransId="{2E82E047-3CCC-41BA-9F09-41C75F12DE96}" sibTransId="{23850F65-D024-4078-820F-C710D63EB6F5}"/>
    <dgm:cxn modelId="{8FD906FB-7DB2-42DD-95F7-C3DB30340B70}" type="presOf" srcId="{741BBF04-A2FA-483F-ADAC-A8C94C1E04AB}" destId="{3AA490D2-182E-478D-873F-A72A58C783B0}" srcOrd="0" destOrd="0" presId="urn:microsoft.com/office/officeart/2018/2/layout/IconLabelList"/>
    <dgm:cxn modelId="{3D5416AD-1D70-454B-A70D-C6B7B9CF87BB}" type="presParOf" srcId="{3AA490D2-182E-478D-873F-A72A58C783B0}" destId="{E52CC866-B962-41F7-AD97-039D1D2D7A14}" srcOrd="0" destOrd="0" presId="urn:microsoft.com/office/officeart/2018/2/layout/IconLabelList"/>
    <dgm:cxn modelId="{68771016-6448-4022-8B75-0499588EEA6C}" type="presParOf" srcId="{E52CC866-B962-41F7-AD97-039D1D2D7A14}" destId="{73D0FCE6-5104-4712-8A05-6E88E96ED1F2}" srcOrd="0" destOrd="0" presId="urn:microsoft.com/office/officeart/2018/2/layout/IconLabelList"/>
    <dgm:cxn modelId="{47060E37-5A22-4EFA-84A0-F6658CBE7F06}" type="presParOf" srcId="{E52CC866-B962-41F7-AD97-039D1D2D7A14}" destId="{E9B8CA32-3BAD-4C02-B211-BD240845DA28}" srcOrd="1" destOrd="0" presId="urn:microsoft.com/office/officeart/2018/2/layout/IconLabelList"/>
    <dgm:cxn modelId="{4956D740-D15B-481A-9395-C5A8408B22AB}" type="presParOf" srcId="{E52CC866-B962-41F7-AD97-039D1D2D7A14}" destId="{BCE40840-56F0-467B-AB4D-FFC11BF5BBA4}" srcOrd="2" destOrd="0" presId="urn:microsoft.com/office/officeart/2018/2/layout/IconLabelList"/>
    <dgm:cxn modelId="{5AD2316A-C919-498C-9AF1-284844443EC4}" type="presParOf" srcId="{3AA490D2-182E-478D-873F-A72A58C783B0}" destId="{8BDAA4CE-E282-45DF-B66D-8A93ED8550FA}" srcOrd="1" destOrd="0" presId="urn:microsoft.com/office/officeart/2018/2/layout/IconLabelList"/>
    <dgm:cxn modelId="{AA152F05-9953-4483-B87F-080D086E95DC}" type="presParOf" srcId="{3AA490D2-182E-478D-873F-A72A58C783B0}" destId="{2A962687-6785-438B-B71D-26CB94C2E574}" srcOrd="2" destOrd="0" presId="urn:microsoft.com/office/officeart/2018/2/layout/IconLabelList"/>
    <dgm:cxn modelId="{12D788EA-566D-41B4-8559-E92A2379BE91}" type="presParOf" srcId="{2A962687-6785-438B-B71D-26CB94C2E574}" destId="{24633204-B90A-4079-87C6-646F73598EFA}" srcOrd="0" destOrd="0" presId="urn:microsoft.com/office/officeart/2018/2/layout/IconLabelList"/>
    <dgm:cxn modelId="{3098422C-726F-4F4A-ADB4-BC04DD8E6D3A}" type="presParOf" srcId="{2A962687-6785-438B-B71D-26CB94C2E574}" destId="{A782C19E-9403-4B37-BC6E-D24AD8349BD7}" srcOrd="1" destOrd="0" presId="urn:microsoft.com/office/officeart/2018/2/layout/IconLabelList"/>
    <dgm:cxn modelId="{8F5323E7-B571-4FD0-AEB3-CCF22B6DCA73}" type="presParOf" srcId="{2A962687-6785-438B-B71D-26CB94C2E574}" destId="{12EDEC8C-54BF-44D0-867B-565058BA9756}" srcOrd="2" destOrd="0" presId="urn:microsoft.com/office/officeart/2018/2/layout/IconLabelList"/>
    <dgm:cxn modelId="{83B88E44-F75C-4E58-BC4A-EE4A6FFFBF5F}" type="presParOf" srcId="{3AA490D2-182E-478D-873F-A72A58C783B0}" destId="{ECD9D971-1268-492B-9E8D-85EBBD49051C}" srcOrd="3" destOrd="0" presId="urn:microsoft.com/office/officeart/2018/2/layout/IconLabelList"/>
    <dgm:cxn modelId="{239D2274-7989-4039-B0BA-C3340A9AD342}" type="presParOf" srcId="{3AA490D2-182E-478D-873F-A72A58C783B0}" destId="{9D1E1BB5-224D-42D7-A9C8-CF170FF4054B}" srcOrd="4" destOrd="0" presId="urn:microsoft.com/office/officeart/2018/2/layout/IconLabelList"/>
    <dgm:cxn modelId="{C9478589-59AC-408F-8961-F5102053668D}" type="presParOf" srcId="{9D1E1BB5-224D-42D7-A9C8-CF170FF4054B}" destId="{9C1E6B61-F657-487A-96F1-78AAC2A4DD91}" srcOrd="0" destOrd="0" presId="urn:microsoft.com/office/officeart/2018/2/layout/IconLabelList"/>
    <dgm:cxn modelId="{66A3FA2B-D829-4AD9-B02C-0D0C4FDB0CA8}" type="presParOf" srcId="{9D1E1BB5-224D-42D7-A9C8-CF170FF4054B}" destId="{4354AF32-5D84-4B8F-B093-490BC5CCC39D}" srcOrd="1" destOrd="0" presId="urn:microsoft.com/office/officeart/2018/2/layout/IconLabelList"/>
    <dgm:cxn modelId="{4B4316CC-D59E-42E2-BE12-CE2DEFADBB97}" type="presParOf" srcId="{9D1E1BB5-224D-42D7-A9C8-CF170FF4054B}" destId="{B43DE448-E4EE-4A29-B7E1-7257A1BF468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DD79BF-C4A9-43B5-BB5F-1AC42E7E05B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1028CB16-54CC-4D5A-9362-389EDB3123D1}">
      <dgm:prSet custT="1"/>
      <dgm:spPr/>
      <dgm:t>
        <a:bodyPr/>
        <a:lstStyle/>
        <a:p>
          <a:pPr>
            <a:lnSpc>
              <a:spcPct val="100000"/>
            </a:lnSpc>
          </a:pPr>
          <a:r>
            <a:rPr lang="en-US" sz="1400" dirty="0"/>
            <a:t>The dataset used is “Landscape Pictures” from Kaggle.</a:t>
          </a:r>
        </a:p>
      </dgm:t>
    </dgm:pt>
    <dgm:pt modelId="{EDFE99C1-3B91-4EFE-8AED-8B29B3A4D411}" type="parTrans" cxnId="{1C5F09C1-1811-42FF-9C80-9C4B2ABBCBB4}">
      <dgm:prSet/>
      <dgm:spPr/>
      <dgm:t>
        <a:bodyPr/>
        <a:lstStyle/>
        <a:p>
          <a:endParaRPr lang="en-US"/>
        </a:p>
      </dgm:t>
    </dgm:pt>
    <dgm:pt modelId="{188DBB9C-E0B7-4AE8-8E26-CDE2A988AF87}" type="sibTrans" cxnId="{1C5F09C1-1811-42FF-9C80-9C4B2ABBCBB4}">
      <dgm:prSet/>
      <dgm:spPr/>
      <dgm:t>
        <a:bodyPr/>
        <a:lstStyle/>
        <a:p>
          <a:pPr>
            <a:lnSpc>
              <a:spcPct val="100000"/>
            </a:lnSpc>
          </a:pPr>
          <a:endParaRPr lang="en-US"/>
        </a:p>
      </dgm:t>
    </dgm:pt>
    <dgm:pt modelId="{A01A6C2C-DE2E-451F-A708-2112886EDB82}">
      <dgm:prSet custT="1"/>
      <dgm:spPr/>
      <dgm:t>
        <a:bodyPr/>
        <a:lstStyle/>
        <a:p>
          <a:pPr>
            <a:lnSpc>
              <a:spcPct val="100000"/>
            </a:lnSpc>
          </a:pPr>
          <a:r>
            <a:rPr lang="en-US" sz="1400" dirty="0"/>
            <a:t>It contains about 4319 landscape images, with a total size of roughly 650 MB. </a:t>
          </a:r>
        </a:p>
      </dgm:t>
    </dgm:pt>
    <dgm:pt modelId="{8041ADE4-FB56-4061-9AE8-0966683E02A5}" type="parTrans" cxnId="{07756D29-8AD0-4355-B458-3167CB628046}">
      <dgm:prSet/>
      <dgm:spPr/>
      <dgm:t>
        <a:bodyPr/>
        <a:lstStyle/>
        <a:p>
          <a:endParaRPr lang="en-US"/>
        </a:p>
      </dgm:t>
    </dgm:pt>
    <dgm:pt modelId="{917CAEAF-0C05-4704-9F5A-1282E4C96A86}" type="sibTrans" cxnId="{07756D29-8AD0-4355-B458-3167CB628046}">
      <dgm:prSet/>
      <dgm:spPr/>
      <dgm:t>
        <a:bodyPr/>
        <a:lstStyle/>
        <a:p>
          <a:pPr>
            <a:lnSpc>
              <a:spcPct val="100000"/>
            </a:lnSpc>
          </a:pPr>
          <a:endParaRPr lang="en-US"/>
        </a:p>
      </dgm:t>
    </dgm:pt>
    <dgm:pt modelId="{33361188-9891-4C6D-AFFA-D1C9D4D0E11D}">
      <dgm:prSet custT="1"/>
      <dgm:spPr/>
      <dgm:t>
        <a:bodyPr/>
        <a:lstStyle/>
        <a:p>
          <a:pPr>
            <a:lnSpc>
              <a:spcPct val="100000"/>
            </a:lnSpc>
          </a:pPr>
          <a:r>
            <a:rPr lang="en-US" sz="1400" dirty="0"/>
            <a:t>Images show natural outdoor scenes such as mountains, sea, beaches, islands, deserts, and general landscapes. </a:t>
          </a:r>
        </a:p>
      </dgm:t>
    </dgm:pt>
    <dgm:pt modelId="{E868104D-C091-4023-9B41-877E3C7D2245}" type="parTrans" cxnId="{48669FD2-C9DC-474D-88B2-85595CFE3B43}">
      <dgm:prSet/>
      <dgm:spPr/>
      <dgm:t>
        <a:bodyPr/>
        <a:lstStyle/>
        <a:p>
          <a:endParaRPr lang="en-US"/>
        </a:p>
      </dgm:t>
    </dgm:pt>
    <dgm:pt modelId="{1067C5B2-78DA-45AA-B6E8-E34E083F3289}" type="sibTrans" cxnId="{48669FD2-C9DC-474D-88B2-85595CFE3B43}">
      <dgm:prSet/>
      <dgm:spPr/>
      <dgm:t>
        <a:bodyPr/>
        <a:lstStyle/>
        <a:p>
          <a:pPr>
            <a:lnSpc>
              <a:spcPct val="100000"/>
            </a:lnSpc>
          </a:pPr>
          <a:endParaRPr lang="en-US"/>
        </a:p>
      </dgm:t>
    </dgm:pt>
    <dgm:pt modelId="{A1E0B596-F958-4B6C-82ED-ED9C6CF09E0F}">
      <dgm:prSet custT="1"/>
      <dgm:spPr/>
      <dgm:t>
        <a:bodyPr/>
        <a:lstStyle/>
        <a:p>
          <a:pPr>
            <a:lnSpc>
              <a:spcPct val="100000"/>
            </a:lnSpc>
          </a:pPr>
          <a:r>
            <a:rPr lang="en-US" sz="1400" dirty="0"/>
            <a:t>The original Flickr-based dataset is grouped into 7 landscape categories:</a:t>
          </a:r>
        </a:p>
      </dgm:t>
    </dgm:pt>
    <dgm:pt modelId="{B6BE3540-70CC-499E-98E3-BCB8DF0A364C}" type="parTrans" cxnId="{F925287B-E9EC-4ADC-BA3D-9523661C8462}">
      <dgm:prSet/>
      <dgm:spPr/>
      <dgm:t>
        <a:bodyPr/>
        <a:lstStyle/>
        <a:p>
          <a:endParaRPr lang="en-US"/>
        </a:p>
      </dgm:t>
    </dgm:pt>
    <dgm:pt modelId="{B2760D49-4A07-4308-B94B-2FCF8996BB92}" type="sibTrans" cxnId="{F925287B-E9EC-4ADC-BA3D-9523661C8462}">
      <dgm:prSet/>
      <dgm:spPr/>
      <dgm:t>
        <a:bodyPr/>
        <a:lstStyle/>
        <a:p>
          <a:pPr>
            <a:lnSpc>
              <a:spcPct val="100000"/>
            </a:lnSpc>
          </a:pPr>
          <a:endParaRPr lang="en-US"/>
        </a:p>
      </dgm:t>
    </dgm:pt>
    <dgm:pt modelId="{379D99AB-582D-4A58-87F0-9A9641C13C6F}">
      <dgm:prSet custT="1"/>
      <dgm:spPr/>
      <dgm:t>
        <a:bodyPr/>
        <a:lstStyle/>
        <a:p>
          <a:pPr>
            <a:lnSpc>
              <a:spcPct val="100000"/>
            </a:lnSpc>
          </a:pPr>
          <a:r>
            <a:rPr lang="en-US" sz="1400" dirty="0"/>
            <a:t>The pictures are provided as color JPG files with different original resolutions. </a:t>
          </a:r>
        </a:p>
      </dgm:t>
    </dgm:pt>
    <dgm:pt modelId="{D679E85E-C0E1-49D5-A0C2-191541D38CD5}" type="parTrans" cxnId="{74E8B96B-103F-4085-B964-658312DB45DC}">
      <dgm:prSet/>
      <dgm:spPr/>
      <dgm:t>
        <a:bodyPr/>
        <a:lstStyle/>
        <a:p>
          <a:endParaRPr lang="en-US"/>
        </a:p>
      </dgm:t>
    </dgm:pt>
    <dgm:pt modelId="{D42B102A-6512-4A5D-9345-4E7915B2C0D9}" type="sibTrans" cxnId="{74E8B96B-103F-4085-B964-658312DB45DC}">
      <dgm:prSet/>
      <dgm:spPr/>
      <dgm:t>
        <a:bodyPr/>
        <a:lstStyle/>
        <a:p>
          <a:pPr>
            <a:lnSpc>
              <a:spcPct val="100000"/>
            </a:lnSpc>
          </a:pPr>
          <a:endParaRPr lang="en-US"/>
        </a:p>
      </dgm:t>
    </dgm:pt>
    <dgm:pt modelId="{979CB907-020C-4746-91AF-F8A4B676B976}">
      <dgm:prSet custT="1"/>
      <dgm:spPr/>
      <dgm:t>
        <a:bodyPr/>
        <a:lstStyle/>
        <a:p>
          <a:pPr>
            <a:lnSpc>
              <a:spcPct val="100000"/>
            </a:lnSpc>
          </a:pPr>
          <a:r>
            <a:rPr lang="en-US" sz="1400" dirty="0"/>
            <a:t>The dataset is commonly used for computer vision tasks like image generation, style transfer, and segmentation, making it suitable for SVD-based image experiments. In this project, the dataset is downloaded as a zip file (e.g., archive (15).zip) from Kaggle and extracted into a local folder for processing</a:t>
          </a:r>
          <a:r>
            <a:rPr lang="en-US" sz="1100" dirty="0"/>
            <a:t>. </a:t>
          </a:r>
        </a:p>
      </dgm:t>
    </dgm:pt>
    <dgm:pt modelId="{C01CCC1E-DD80-4087-9DE3-84DE10BF07C0}" type="parTrans" cxnId="{40DD4862-D701-4FAD-8BDD-3BF102515636}">
      <dgm:prSet/>
      <dgm:spPr/>
      <dgm:t>
        <a:bodyPr/>
        <a:lstStyle/>
        <a:p>
          <a:endParaRPr lang="en-US"/>
        </a:p>
      </dgm:t>
    </dgm:pt>
    <dgm:pt modelId="{1EC5E0ED-56EF-435C-9E51-9E056DF12DF1}" type="sibTrans" cxnId="{40DD4862-D701-4FAD-8BDD-3BF102515636}">
      <dgm:prSet/>
      <dgm:spPr/>
      <dgm:t>
        <a:bodyPr/>
        <a:lstStyle/>
        <a:p>
          <a:pPr>
            <a:lnSpc>
              <a:spcPct val="100000"/>
            </a:lnSpc>
          </a:pPr>
          <a:endParaRPr lang="en-US"/>
        </a:p>
      </dgm:t>
    </dgm:pt>
    <dgm:pt modelId="{2DE27936-55DC-4D1C-ABFB-ABEB24C3C169}">
      <dgm:prSet custT="1"/>
      <dgm:spPr/>
      <dgm:t>
        <a:bodyPr/>
        <a:lstStyle/>
        <a:p>
          <a:pPr>
            <a:lnSpc>
              <a:spcPct val="100000"/>
            </a:lnSpc>
          </a:pPr>
          <a:r>
            <a:rPr lang="en-US" sz="1400" dirty="0"/>
            <a:t>From all available images, only a small subset (head) is selected for experiments to make computations faster and easier to analyze.</a:t>
          </a:r>
        </a:p>
      </dgm:t>
    </dgm:pt>
    <dgm:pt modelId="{637DFF04-88F4-4E8D-A568-EC81A00667F1}" type="parTrans" cxnId="{FA5A18B1-AC7B-4AB2-AF31-29DC1EBEE864}">
      <dgm:prSet/>
      <dgm:spPr/>
      <dgm:t>
        <a:bodyPr/>
        <a:lstStyle/>
        <a:p>
          <a:endParaRPr lang="en-US"/>
        </a:p>
      </dgm:t>
    </dgm:pt>
    <dgm:pt modelId="{13748E63-DAAE-43E3-9846-CB77BE2F9181}" type="sibTrans" cxnId="{FA5A18B1-AC7B-4AB2-AF31-29DC1EBEE864}">
      <dgm:prSet/>
      <dgm:spPr/>
      <dgm:t>
        <a:bodyPr/>
        <a:lstStyle/>
        <a:p>
          <a:pPr>
            <a:lnSpc>
              <a:spcPct val="100000"/>
            </a:lnSpc>
          </a:pPr>
          <a:endParaRPr lang="en-US"/>
        </a:p>
      </dgm:t>
    </dgm:pt>
    <dgm:pt modelId="{6A677154-C5AE-4E52-A7CA-AF425F156BCE}">
      <dgm:prSet custT="1"/>
      <dgm:spPr/>
      <dgm:t>
        <a:bodyPr/>
        <a:lstStyle/>
        <a:p>
          <a:pPr>
            <a:lnSpc>
              <a:spcPct val="100000"/>
            </a:lnSpc>
          </a:pPr>
          <a:r>
            <a:rPr lang="en-US" sz="1400" dirty="0"/>
            <a:t>These selected images are later resized to 256 × 256 and converted to grayscale, so they can be treated as matrices for SVD.</a:t>
          </a:r>
        </a:p>
      </dgm:t>
    </dgm:pt>
    <dgm:pt modelId="{947E387E-D250-4A3E-A931-66FC9B6619A3}" type="parTrans" cxnId="{725DCE1B-FA5A-4765-BFA1-D8BD8F70E9BE}">
      <dgm:prSet/>
      <dgm:spPr/>
      <dgm:t>
        <a:bodyPr/>
        <a:lstStyle/>
        <a:p>
          <a:endParaRPr lang="en-US"/>
        </a:p>
      </dgm:t>
    </dgm:pt>
    <dgm:pt modelId="{44996E03-1CEC-4303-B0F2-05632DAD3530}" type="sibTrans" cxnId="{725DCE1B-FA5A-4765-BFA1-D8BD8F70E9BE}">
      <dgm:prSet/>
      <dgm:spPr/>
      <dgm:t>
        <a:bodyPr/>
        <a:lstStyle/>
        <a:p>
          <a:endParaRPr lang="en-US"/>
        </a:p>
      </dgm:t>
    </dgm:pt>
    <dgm:pt modelId="{C27E9D5E-667A-48BE-AC52-5C375314B4BD}" type="pres">
      <dgm:prSet presAssocID="{F0DD79BF-C4A9-43B5-BB5F-1AC42E7E05B2}" presName="root" presStyleCnt="0">
        <dgm:presLayoutVars>
          <dgm:dir/>
          <dgm:resizeHandles val="exact"/>
        </dgm:presLayoutVars>
      </dgm:prSet>
      <dgm:spPr/>
    </dgm:pt>
    <dgm:pt modelId="{09D8A770-D7C8-47C7-89D4-38EDDF9DD2CA}" type="pres">
      <dgm:prSet presAssocID="{F0DD79BF-C4A9-43B5-BB5F-1AC42E7E05B2}" presName="container" presStyleCnt="0">
        <dgm:presLayoutVars>
          <dgm:dir/>
          <dgm:resizeHandles val="exact"/>
        </dgm:presLayoutVars>
      </dgm:prSet>
      <dgm:spPr/>
    </dgm:pt>
    <dgm:pt modelId="{0029691E-3A3B-4885-BAE8-A260A321B8B4}" type="pres">
      <dgm:prSet presAssocID="{1028CB16-54CC-4D5A-9362-389EDB3123D1}" presName="compNode" presStyleCnt="0"/>
      <dgm:spPr/>
    </dgm:pt>
    <dgm:pt modelId="{49E0FCCF-93E5-44D6-AA3E-3CD7FA7837A4}" type="pres">
      <dgm:prSet presAssocID="{1028CB16-54CC-4D5A-9362-389EDB3123D1}" presName="iconBgRect" presStyleLbl="bgShp" presStyleIdx="0" presStyleCnt="8"/>
      <dgm:spPr/>
    </dgm:pt>
    <dgm:pt modelId="{33CE1837-2299-470D-8363-F0B0E87F1C9E}" type="pres">
      <dgm:prSet presAssocID="{1028CB16-54CC-4D5A-9362-389EDB3123D1}"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1DE1C5F-59EA-401A-99F9-AFFBF78C19CF}" type="pres">
      <dgm:prSet presAssocID="{1028CB16-54CC-4D5A-9362-389EDB3123D1}" presName="spaceRect" presStyleCnt="0"/>
      <dgm:spPr/>
    </dgm:pt>
    <dgm:pt modelId="{5023DB4D-FE00-466F-B5BF-D891A175BFAA}" type="pres">
      <dgm:prSet presAssocID="{1028CB16-54CC-4D5A-9362-389EDB3123D1}" presName="textRect" presStyleLbl="revTx" presStyleIdx="0" presStyleCnt="8">
        <dgm:presLayoutVars>
          <dgm:chMax val="1"/>
          <dgm:chPref val="1"/>
        </dgm:presLayoutVars>
      </dgm:prSet>
      <dgm:spPr/>
    </dgm:pt>
    <dgm:pt modelId="{7D9E89C3-E82A-4D9F-8C63-C07CB25C0BBB}" type="pres">
      <dgm:prSet presAssocID="{188DBB9C-E0B7-4AE8-8E26-CDE2A988AF87}" presName="sibTrans" presStyleLbl="sibTrans2D1" presStyleIdx="0" presStyleCnt="0"/>
      <dgm:spPr/>
    </dgm:pt>
    <dgm:pt modelId="{87810596-1B7E-4F1D-81D0-0F217552D6EB}" type="pres">
      <dgm:prSet presAssocID="{A01A6C2C-DE2E-451F-A708-2112886EDB82}" presName="compNode" presStyleCnt="0"/>
      <dgm:spPr/>
    </dgm:pt>
    <dgm:pt modelId="{7F4D5338-D7F8-48EE-B4D7-E0FEE3B7DC7D}" type="pres">
      <dgm:prSet presAssocID="{A01A6C2C-DE2E-451F-A708-2112886EDB82}" presName="iconBgRect" presStyleLbl="bgShp" presStyleIdx="1" presStyleCnt="8"/>
      <dgm:spPr/>
    </dgm:pt>
    <dgm:pt modelId="{93440D40-E50D-4C0D-B87C-994E39625A87}" type="pres">
      <dgm:prSet presAssocID="{A01A6C2C-DE2E-451F-A708-2112886EDB82}"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ptical disc"/>
        </a:ext>
      </dgm:extLst>
    </dgm:pt>
    <dgm:pt modelId="{F85F304D-0420-46E6-8C95-F96BF496E8B3}" type="pres">
      <dgm:prSet presAssocID="{A01A6C2C-DE2E-451F-A708-2112886EDB82}" presName="spaceRect" presStyleCnt="0"/>
      <dgm:spPr/>
    </dgm:pt>
    <dgm:pt modelId="{E494BC7F-51C8-4D81-8F49-4DA1B019A96B}" type="pres">
      <dgm:prSet presAssocID="{A01A6C2C-DE2E-451F-A708-2112886EDB82}" presName="textRect" presStyleLbl="revTx" presStyleIdx="1" presStyleCnt="8">
        <dgm:presLayoutVars>
          <dgm:chMax val="1"/>
          <dgm:chPref val="1"/>
        </dgm:presLayoutVars>
      </dgm:prSet>
      <dgm:spPr/>
    </dgm:pt>
    <dgm:pt modelId="{1AD0223B-83AD-4A47-945C-DE9E7DCB0A25}" type="pres">
      <dgm:prSet presAssocID="{917CAEAF-0C05-4704-9F5A-1282E4C96A86}" presName="sibTrans" presStyleLbl="sibTrans2D1" presStyleIdx="0" presStyleCnt="0"/>
      <dgm:spPr/>
    </dgm:pt>
    <dgm:pt modelId="{F78DE008-36A9-46D2-8BDC-AACACB55EAE9}" type="pres">
      <dgm:prSet presAssocID="{33361188-9891-4C6D-AFFA-D1C9D4D0E11D}" presName="compNode" presStyleCnt="0"/>
      <dgm:spPr/>
    </dgm:pt>
    <dgm:pt modelId="{43E7BAE0-4CD2-41DC-80E7-824AD10996AE}" type="pres">
      <dgm:prSet presAssocID="{33361188-9891-4C6D-AFFA-D1C9D4D0E11D}" presName="iconBgRect" presStyleLbl="bgShp" presStyleIdx="2" presStyleCnt="8"/>
      <dgm:spPr/>
    </dgm:pt>
    <dgm:pt modelId="{86C40952-36D1-42A7-B3C4-32741018F93D}" type="pres">
      <dgm:prSet presAssocID="{33361188-9891-4C6D-AFFA-D1C9D4D0E11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esert scene"/>
        </a:ext>
      </dgm:extLst>
    </dgm:pt>
    <dgm:pt modelId="{8B33B0AE-5D89-454A-BB42-10E4E6D27D22}" type="pres">
      <dgm:prSet presAssocID="{33361188-9891-4C6D-AFFA-D1C9D4D0E11D}" presName="spaceRect" presStyleCnt="0"/>
      <dgm:spPr/>
    </dgm:pt>
    <dgm:pt modelId="{6DF433F1-302C-47DA-A06B-E09A03777A2A}" type="pres">
      <dgm:prSet presAssocID="{33361188-9891-4C6D-AFFA-D1C9D4D0E11D}" presName="textRect" presStyleLbl="revTx" presStyleIdx="2" presStyleCnt="8">
        <dgm:presLayoutVars>
          <dgm:chMax val="1"/>
          <dgm:chPref val="1"/>
        </dgm:presLayoutVars>
      </dgm:prSet>
      <dgm:spPr/>
    </dgm:pt>
    <dgm:pt modelId="{EB3F1D02-1DA7-410C-81A1-5920F79A5741}" type="pres">
      <dgm:prSet presAssocID="{1067C5B2-78DA-45AA-B6E8-E34E083F3289}" presName="sibTrans" presStyleLbl="sibTrans2D1" presStyleIdx="0" presStyleCnt="0"/>
      <dgm:spPr/>
    </dgm:pt>
    <dgm:pt modelId="{5F47C206-1386-48CA-B030-94BBA89F2908}" type="pres">
      <dgm:prSet presAssocID="{A1E0B596-F958-4B6C-82ED-ED9C6CF09E0F}" presName="compNode" presStyleCnt="0"/>
      <dgm:spPr/>
    </dgm:pt>
    <dgm:pt modelId="{A82EA98D-5A09-40CB-9516-3419F6B4BE71}" type="pres">
      <dgm:prSet presAssocID="{A1E0B596-F958-4B6C-82ED-ED9C6CF09E0F}" presName="iconBgRect" presStyleLbl="bgShp" presStyleIdx="3" presStyleCnt="8"/>
      <dgm:spPr/>
    </dgm:pt>
    <dgm:pt modelId="{CCFDA82E-DC17-4E59-8189-F99E174DA596}" type="pres">
      <dgm:prSet presAssocID="{A1E0B596-F958-4B6C-82ED-ED9C6CF09E0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hredder"/>
        </a:ext>
      </dgm:extLst>
    </dgm:pt>
    <dgm:pt modelId="{1955A02C-98FD-46E3-B982-F8DE034F5520}" type="pres">
      <dgm:prSet presAssocID="{A1E0B596-F958-4B6C-82ED-ED9C6CF09E0F}" presName="spaceRect" presStyleCnt="0"/>
      <dgm:spPr/>
    </dgm:pt>
    <dgm:pt modelId="{1617207A-B43E-41AD-B937-806CC4568D4E}" type="pres">
      <dgm:prSet presAssocID="{A1E0B596-F958-4B6C-82ED-ED9C6CF09E0F}" presName="textRect" presStyleLbl="revTx" presStyleIdx="3" presStyleCnt="8">
        <dgm:presLayoutVars>
          <dgm:chMax val="1"/>
          <dgm:chPref val="1"/>
        </dgm:presLayoutVars>
      </dgm:prSet>
      <dgm:spPr/>
    </dgm:pt>
    <dgm:pt modelId="{74DE428D-CE1C-4DA8-94E6-66A5F914585F}" type="pres">
      <dgm:prSet presAssocID="{B2760D49-4A07-4308-B94B-2FCF8996BB92}" presName="sibTrans" presStyleLbl="sibTrans2D1" presStyleIdx="0" presStyleCnt="0"/>
      <dgm:spPr/>
    </dgm:pt>
    <dgm:pt modelId="{1CF59FD8-6BE9-45EB-B83C-D2FB5E92C983}" type="pres">
      <dgm:prSet presAssocID="{379D99AB-582D-4A58-87F0-9A9641C13C6F}" presName="compNode" presStyleCnt="0"/>
      <dgm:spPr/>
    </dgm:pt>
    <dgm:pt modelId="{FF179B8A-A6E7-4146-9A80-DA9F465E3101}" type="pres">
      <dgm:prSet presAssocID="{379D99AB-582D-4A58-87F0-9A9641C13C6F}" presName="iconBgRect" presStyleLbl="bgShp" presStyleIdx="4" presStyleCnt="8"/>
      <dgm:spPr/>
    </dgm:pt>
    <dgm:pt modelId="{205E8ED4-FEE8-43E5-BD57-17BFE07D13D4}" type="pres">
      <dgm:prSet presAssocID="{379D99AB-582D-4A58-87F0-9A9641C13C6F}"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Images"/>
        </a:ext>
      </dgm:extLst>
    </dgm:pt>
    <dgm:pt modelId="{AFE6328A-DBBA-43F8-8EE1-3D6423F30AB0}" type="pres">
      <dgm:prSet presAssocID="{379D99AB-582D-4A58-87F0-9A9641C13C6F}" presName="spaceRect" presStyleCnt="0"/>
      <dgm:spPr/>
    </dgm:pt>
    <dgm:pt modelId="{5365F161-7458-4731-BCCE-D9780BA47B16}" type="pres">
      <dgm:prSet presAssocID="{379D99AB-582D-4A58-87F0-9A9641C13C6F}" presName="textRect" presStyleLbl="revTx" presStyleIdx="4" presStyleCnt="8">
        <dgm:presLayoutVars>
          <dgm:chMax val="1"/>
          <dgm:chPref val="1"/>
        </dgm:presLayoutVars>
      </dgm:prSet>
      <dgm:spPr/>
    </dgm:pt>
    <dgm:pt modelId="{82E3BCF8-78F8-48D6-8A81-39ABC693FF63}" type="pres">
      <dgm:prSet presAssocID="{D42B102A-6512-4A5D-9345-4E7915B2C0D9}" presName="sibTrans" presStyleLbl="sibTrans2D1" presStyleIdx="0" presStyleCnt="0"/>
      <dgm:spPr/>
    </dgm:pt>
    <dgm:pt modelId="{08968ACE-4950-429D-B6E7-DF6E62E5EA7C}" type="pres">
      <dgm:prSet presAssocID="{979CB907-020C-4746-91AF-F8A4B676B976}" presName="compNode" presStyleCnt="0"/>
      <dgm:spPr/>
    </dgm:pt>
    <dgm:pt modelId="{241AF161-F826-4A18-85E8-2805D53A8D3A}" type="pres">
      <dgm:prSet presAssocID="{979CB907-020C-4746-91AF-F8A4B676B976}" presName="iconBgRect" presStyleLbl="bgShp" presStyleIdx="5" presStyleCnt="8"/>
      <dgm:spPr/>
    </dgm:pt>
    <dgm:pt modelId="{1488D925-A2A6-45E1-A418-352444856936}" type="pres">
      <dgm:prSet presAssocID="{979CB907-020C-4746-91AF-F8A4B676B976}"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tatistics"/>
        </a:ext>
      </dgm:extLst>
    </dgm:pt>
    <dgm:pt modelId="{0119899B-AEB7-4DD8-B4B6-729F09CDE46E}" type="pres">
      <dgm:prSet presAssocID="{979CB907-020C-4746-91AF-F8A4B676B976}" presName="spaceRect" presStyleCnt="0"/>
      <dgm:spPr/>
    </dgm:pt>
    <dgm:pt modelId="{33B2CE1F-BDE2-47E9-B622-F397C5A66A21}" type="pres">
      <dgm:prSet presAssocID="{979CB907-020C-4746-91AF-F8A4B676B976}" presName="textRect" presStyleLbl="revTx" presStyleIdx="5" presStyleCnt="8">
        <dgm:presLayoutVars>
          <dgm:chMax val="1"/>
          <dgm:chPref val="1"/>
        </dgm:presLayoutVars>
      </dgm:prSet>
      <dgm:spPr/>
    </dgm:pt>
    <dgm:pt modelId="{28864FAC-BDD4-40B8-80F6-7B1BEFC07454}" type="pres">
      <dgm:prSet presAssocID="{1EC5E0ED-56EF-435C-9E51-9E056DF12DF1}" presName="sibTrans" presStyleLbl="sibTrans2D1" presStyleIdx="0" presStyleCnt="0"/>
      <dgm:spPr/>
    </dgm:pt>
    <dgm:pt modelId="{A2226994-EFA3-4A7F-A8C4-A0FA3595351E}" type="pres">
      <dgm:prSet presAssocID="{2DE27936-55DC-4D1C-ABFB-ABEB24C3C169}" presName="compNode" presStyleCnt="0"/>
      <dgm:spPr/>
    </dgm:pt>
    <dgm:pt modelId="{8889269C-B0A1-4F46-9876-C126389C7F0A}" type="pres">
      <dgm:prSet presAssocID="{2DE27936-55DC-4D1C-ABFB-ABEB24C3C169}" presName="iconBgRect" presStyleLbl="bgShp" presStyleIdx="6" presStyleCnt="8"/>
      <dgm:spPr/>
    </dgm:pt>
    <dgm:pt modelId="{6DD6D7D9-14E0-4326-9BEA-97CDD50DAD5C}" type="pres">
      <dgm:prSet presAssocID="{2DE27936-55DC-4D1C-ABFB-ABEB24C3C169}"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Flowchart"/>
        </a:ext>
      </dgm:extLst>
    </dgm:pt>
    <dgm:pt modelId="{3B4AF104-E5E5-4DE9-97D7-152DD560879C}" type="pres">
      <dgm:prSet presAssocID="{2DE27936-55DC-4D1C-ABFB-ABEB24C3C169}" presName="spaceRect" presStyleCnt="0"/>
      <dgm:spPr/>
    </dgm:pt>
    <dgm:pt modelId="{DA4FD707-8A43-41F6-9F11-C7E2A7F1BD76}" type="pres">
      <dgm:prSet presAssocID="{2DE27936-55DC-4D1C-ABFB-ABEB24C3C169}" presName="textRect" presStyleLbl="revTx" presStyleIdx="6" presStyleCnt="8">
        <dgm:presLayoutVars>
          <dgm:chMax val="1"/>
          <dgm:chPref val="1"/>
        </dgm:presLayoutVars>
      </dgm:prSet>
      <dgm:spPr/>
    </dgm:pt>
    <dgm:pt modelId="{EF20976A-451A-4AA5-B5FE-E9D8240C0588}" type="pres">
      <dgm:prSet presAssocID="{13748E63-DAAE-43E3-9846-CB77BE2F9181}" presName="sibTrans" presStyleLbl="sibTrans2D1" presStyleIdx="0" presStyleCnt="0"/>
      <dgm:spPr/>
    </dgm:pt>
    <dgm:pt modelId="{01E1837A-61C4-4596-B696-74AA1BB4C180}" type="pres">
      <dgm:prSet presAssocID="{6A677154-C5AE-4E52-A7CA-AF425F156BCE}" presName="compNode" presStyleCnt="0"/>
      <dgm:spPr/>
    </dgm:pt>
    <dgm:pt modelId="{A1D2AF42-10C5-49D9-AFBE-F395398FEF53}" type="pres">
      <dgm:prSet presAssocID="{6A677154-C5AE-4E52-A7CA-AF425F156BCE}" presName="iconBgRect" presStyleLbl="bgShp" presStyleIdx="7" presStyleCnt="8"/>
      <dgm:spPr/>
    </dgm:pt>
    <dgm:pt modelId="{5964636E-022B-402F-B420-F5540FA93988}" type="pres">
      <dgm:prSet presAssocID="{6A677154-C5AE-4E52-A7CA-AF425F156BCE}"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Web Design"/>
        </a:ext>
      </dgm:extLst>
    </dgm:pt>
    <dgm:pt modelId="{883A69F2-DC11-41B7-ADF6-97DF4F34CEE0}" type="pres">
      <dgm:prSet presAssocID="{6A677154-C5AE-4E52-A7CA-AF425F156BCE}" presName="spaceRect" presStyleCnt="0"/>
      <dgm:spPr/>
    </dgm:pt>
    <dgm:pt modelId="{2C9D6AC8-0B7F-45AA-BCB8-6928C907923D}" type="pres">
      <dgm:prSet presAssocID="{6A677154-C5AE-4E52-A7CA-AF425F156BCE}" presName="textRect" presStyleLbl="revTx" presStyleIdx="7" presStyleCnt="8">
        <dgm:presLayoutVars>
          <dgm:chMax val="1"/>
          <dgm:chPref val="1"/>
        </dgm:presLayoutVars>
      </dgm:prSet>
      <dgm:spPr/>
    </dgm:pt>
  </dgm:ptLst>
  <dgm:cxnLst>
    <dgm:cxn modelId="{F67AD509-23C1-4AE3-B3C0-40BCAA47A737}" type="presOf" srcId="{6A677154-C5AE-4E52-A7CA-AF425F156BCE}" destId="{2C9D6AC8-0B7F-45AA-BCB8-6928C907923D}" srcOrd="0" destOrd="0" presId="urn:microsoft.com/office/officeart/2018/2/layout/IconCircleList"/>
    <dgm:cxn modelId="{5AFF5314-FB65-4F52-9B61-EAC413452FBD}" type="presOf" srcId="{F0DD79BF-C4A9-43B5-BB5F-1AC42E7E05B2}" destId="{C27E9D5E-667A-48BE-AC52-5C375314B4BD}" srcOrd="0" destOrd="0" presId="urn:microsoft.com/office/officeart/2018/2/layout/IconCircleList"/>
    <dgm:cxn modelId="{725DCE1B-FA5A-4765-BFA1-D8BD8F70E9BE}" srcId="{F0DD79BF-C4A9-43B5-BB5F-1AC42E7E05B2}" destId="{6A677154-C5AE-4E52-A7CA-AF425F156BCE}" srcOrd="7" destOrd="0" parTransId="{947E387E-D250-4A3E-A931-66FC9B6619A3}" sibTransId="{44996E03-1CEC-4303-B0F2-05632DAD3530}"/>
    <dgm:cxn modelId="{E402DC21-BF64-4D14-A1F4-B1D7DBC0EC7E}" type="presOf" srcId="{2DE27936-55DC-4D1C-ABFB-ABEB24C3C169}" destId="{DA4FD707-8A43-41F6-9F11-C7E2A7F1BD76}" srcOrd="0" destOrd="0" presId="urn:microsoft.com/office/officeart/2018/2/layout/IconCircleList"/>
    <dgm:cxn modelId="{F082DC21-5CFD-42AC-BEC9-FE92A76245DA}" type="presOf" srcId="{979CB907-020C-4746-91AF-F8A4B676B976}" destId="{33B2CE1F-BDE2-47E9-B622-F397C5A66A21}" srcOrd="0" destOrd="0" presId="urn:microsoft.com/office/officeart/2018/2/layout/IconCircleList"/>
    <dgm:cxn modelId="{07756D29-8AD0-4355-B458-3167CB628046}" srcId="{F0DD79BF-C4A9-43B5-BB5F-1AC42E7E05B2}" destId="{A01A6C2C-DE2E-451F-A708-2112886EDB82}" srcOrd="1" destOrd="0" parTransId="{8041ADE4-FB56-4061-9AE8-0966683E02A5}" sibTransId="{917CAEAF-0C05-4704-9F5A-1282E4C96A86}"/>
    <dgm:cxn modelId="{700BE831-3E39-4CC0-95A6-DA7AC00D75AE}" type="presOf" srcId="{917CAEAF-0C05-4704-9F5A-1282E4C96A86}" destId="{1AD0223B-83AD-4A47-945C-DE9E7DCB0A25}" srcOrd="0" destOrd="0" presId="urn:microsoft.com/office/officeart/2018/2/layout/IconCircleList"/>
    <dgm:cxn modelId="{40DD4862-D701-4FAD-8BDD-3BF102515636}" srcId="{F0DD79BF-C4A9-43B5-BB5F-1AC42E7E05B2}" destId="{979CB907-020C-4746-91AF-F8A4B676B976}" srcOrd="5" destOrd="0" parTransId="{C01CCC1E-DD80-4087-9DE3-84DE10BF07C0}" sibTransId="{1EC5E0ED-56EF-435C-9E51-9E056DF12DF1}"/>
    <dgm:cxn modelId="{35CBCF49-7B46-4BBC-82A0-52D5DCD0E954}" type="presOf" srcId="{1EC5E0ED-56EF-435C-9E51-9E056DF12DF1}" destId="{28864FAC-BDD4-40B8-80F6-7B1BEFC07454}" srcOrd="0" destOrd="0" presId="urn:microsoft.com/office/officeart/2018/2/layout/IconCircleList"/>
    <dgm:cxn modelId="{74E8B96B-103F-4085-B964-658312DB45DC}" srcId="{F0DD79BF-C4A9-43B5-BB5F-1AC42E7E05B2}" destId="{379D99AB-582D-4A58-87F0-9A9641C13C6F}" srcOrd="4" destOrd="0" parTransId="{D679E85E-C0E1-49D5-A0C2-191541D38CD5}" sibTransId="{D42B102A-6512-4A5D-9345-4E7915B2C0D9}"/>
    <dgm:cxn modelId="{79294A4C-D07D-415F-A814-08A5C5351565}" type="presOf" srcId="{379D99AB-582D-4A58-87F0-9A9641C13C6F}" destId="{5365F161-7458-4731-BCCE-D9780BA47B16}" srcOrd="0" destOrd="0" presId="urn:microsoft.com/office/officeart/2018/2/layout/IconCircleList"/>
    <dgm:cxn modelId="{224CED51-9E6D-470D-98C2-29FE4CE7AE62}" type="presOf" srcId="{13748E63-DAAE-43E3-9846-CB77BE2F9181}" destId="{EF20976A-451A-4AA5-B5FE-E9D8240C0588}" srcOrd="0" destOrd="0" presId="urn:microsoft.com/office/officeart/2018/2/layout/IconCircleList"/>
    <dgm:cxn modelId="{2A422575-C8F9-43C3-A370-1E7ED614E188}" type="presOf" srcId="{33361188-9891-4C6D-AFFA-D1C9D4D0E11D}" destId="{6DF433F1-302C-47DA-A06B-E09A03777A2A}" srcOrd="0" destOrd="0" presId="urn:microsoft.com/office/officeart/2018/2/layout/IconCircleList"/>
    <dgm:cxn modelId="{D1069358-545D-4E2D-9D08-5B0EDA45F1EC}" type="presOf" srcId="{A1E0B596-F958-4B6C-82ED-ED9C6CF09E0F}" destId="{1617207A-B43E-41AD-B937-806CC4568D4E}" srcOrd="0" destOrd="0" presId="urn:microsoft.com/office/officeart/2018/2/layout/IconCircleList"/>
    <dgm:cxn modelId="{F925287B-E9EC-4ADC-BA3D-9523661C8462}" srcId="{F0DD79BF-C4A9-43B5-BB5F-1AC42E7E05B2}" destId="{A1E0B596-F958-4B6C-82ED-ED9C6CF09E0F}" srcOrd="3" destOrd="0" parTransId="{B6BE3540-70CC-499E-98E3-BCB8DF0A364C}" sibTransId="{B2760D49-4A07-4308-B94B-2FCF8996BB92}"/>
    <dgm:cxn modelId="{ED6D4C93-7073-4834-A3B9-602507B130DE}" type="presOf" srcId="{1028CB16-54CC-4D5A-9362-389EDB3123D1}" destId="{5023DB4D-FE00-466F-B5BF-D891A175BFAA}" srcOrd="0" destOrd="0" presId="urn:microsoft.com/office/officeart/2018/2/layout/IconCircleList"/>
    <dgm:cxn modelId="{DEDB759F-9A33-4F9D-AB9A-F891E309E828}" type="presOf" srcId="{D42B102A-6512-4A5D-9345-4E7915B2C0D9}" destId="{82E3BCF8-78F8-48D6-8A81-39ABC693FF63}" srcOrd="0" destOrd="0" presId="urn:microsoft.com/office/officeart/2018/2/layout/IconCircleList"/>
    <dgm:cxn modelId="{FA5A18B1-AC7B-4AB2-AF31-29DC1EBEE864}" srcId="{F0DD79BF-C4A9-43B5-BB5F-1AC42E7E05B2}" destId="{2DE27936-55DC-4D1C-ABFB-ABEB24C3C169}" srcOrd="6" destOrd="0" parTransId="{637DFF04-88F4-4E8D-A568-EC81A00667F1}" sibTransId="{13748E63-DAAE-43E3-9846-CB77BE2F9181}"/>
    <dgm:cxn modelId="{1C5F09C1-1811-42FF-9C80-9C4B2ABBCBB4}" srcId="{F0DD79BF-C4A9-43B5-BB5F-1AC42E7E05B2}" destId="{1028CB16-54CC-4D5A-9362-389EDB3123D1}" srcOrd="0" destOrd="0" parTransId="{EDFE99C1-3B91-4EFE-8AED-8B29B3A4D411}" sibTransId="{188DBB9C-E0B7-4AE8-8E26-CDE2A988AF87}"/>
    <dgm:cxn modelId="{A7140BC5-4A95-4690-9ACC-1BD86A4BE506}" type="presOf" srcId="{A01A6C2C-DE2E-451F-A708-2112886EDB82}" destId="{E494BC7F-51C8-4D81-8F49-4DA1B019A96B}" srcOrd="0" destOrd="0" presId="urn:microsoft.com/office/officeart/2018/2/layout/IconCircleList"/>
    <dgm:cxn modelId="{025257D2-A387-44C8-87E2-03CDA1A341A5}" type="presOf" srcId="{1067C5B2-78DA-45AA-B6E8-E34E083F3289}" destId="{EB3F1D02-1DA7-410C-81A1-5920F79A5741}" srcOrd="0" destOrd="0" presId="urn:microsoft.com/office/officeart/2018/2/layout/IconCircleList"/>
    <dgm:cxn modelId="{48669FD2-C9DC-474D-88B2-85595CFE3B43}" srcId="{F0DD79BF-C4A9-43B5-BB5F-1AC42E7E05B2}" destId="{33361188-9891-4C6D-AFFA-D1C9D4D0E11D}" srcOrd="2" destOrd="0" parTransId="{E868104D-C091-4023-9B41-877E3C7D2245}" sibTransId="{1067C5B2-78DA-45AA-B6E8-E34E083F3289}"/>
    <dgm:cxn modelId="{A31C17D7-ADB5-4882-B2E1-30F3957F2B09}" type="presOf" srcId="{188DBB9C-E0B7-4AE8-8E26-CDE2A988AF87}" destId="{7D9E89C3-E82A-4D9F-8C63-C07CB25C0BBB}" srcOrd="0" destOrd="0" presId="urn:microsoft.com/office/officeart/2018/2/layout/IconCircleList"/>
    <dgm:cxn modelId="{14D606FD-04D5-429E-BCE5-BBAB6D5DCE95}" type="presOf" srcId="{B2760D49-4A07-4308-B94B-2FCF8996BB92}" destId="{74DE428D-CE1C-4DA8-94E6-66A5F914585F}" srcOrd="0" destOrd="0" presId="urn:microsoft.com/office/officeart/2018/2/layout/IconCircleList"/>
    <dgm:cxn modelId="{36C2D0F1-0B40-4C1B-8C68-819B3920EDB7}" type="presParOf" srcId="{C27E9D5E-667A-48BE-AC52-5C375314B4BD}" destId="{09D8A770-D7C8-47C7-89D4-38EDDF9DD2CA}" srcOrd="0" destOrd="0" presId="urn:microsoft.com/office/officeart/2018/2/layout/IconCircleList"/>
    <dgm:cxn modelId="{9B517C28-334E-488E-9D70-100046AE8F50}" type="presParOf" srcId="{09D8A770-D7C8-47C7-89D4-38EDDF9DD2CA}" destId="{0029691E-3A3B-4885-BAE8-A260A321B8B4}" srcOrd="0" destOrd="0" presId="urn:microsoft.com/office/officeart/2018/2/layout/IconCircleList"/>
    <dgm:cxn modelId="{425A4716-4841-40AE-9E6B-6308E27EC37D}" type="presParOf" srcId="{0029691E-3A3B-4885-BAE8-A260A321B8B4}" destId="{49E0FCCF-93E5-44D6-AA3E-3CD7FA7837A4}" srcOrd="0" destOrd="0" presId="urn:microsoft.com/office/officeart/2018/2/layout/IconCircleList"/>
    <dgm:cxn modelId="{8EA4AB4E-C699-44D5-8E40-0F48C5260EDD}" type="presParOf" srcId="{0029691E-3A3B-4885-BAE8-A260A321B8B4}" destId="{33CE1837-2299-470D-8363-F0B0E87F1C9E}" srcOrd="1" destOrd="0" presId="urn:microsoft.com/office/officeart/2018/2/layout/IconCircleList"/>
    <dgm:cxn modelId="{7CE3FED7-BF09-4A80-BE25-DB6BF1CCA526}" type="presParOf" srcId="{0029691E-3A3B-4885-BAE8-A260A321B8B4}" destId="{F1DE1C5F-59EA-401A-99F9-AFFBF78C19CF}" srcOrd="2" destOrd="0" presId="urn:microsoft.com/office/officeart/2018/2/layout/IconCircleList"/>
    <dgm:cxn modelId="{2295202A-DF6B-4E41-BC8A-56E13FB293A0}" type="presParOf" srcId="{0029691E-3A3B-4885-BAE8-A260A321B8B4}" destId="{5023DB4D-FE00-466F-B5BF-D891A175BFAA}" srcOrd="3" destOrd="0" presId="urn:microsoft.com/office/officeart/2018/2/layout/IconCircleList"/>
    <dgm:cxn modelId="{744E13A7-C6E4-4C38-AF88-4FA7BC02423B}" type="presParOf" srcId="{09D8A770-D7C8-47C7-89D4-38EDDF9DD2CA}" destId="{7D9E89C3-E82A-4D9F-8C63-C07CB25C0BBB}" srcOrd="1" destOrd="0" presId="urn:microsoft.com/office/officeart/2018/2/layout/IconCircleList"/>
    <dgm:cxn modelId="{79BBEAD8-6C43-4915-A074-71CFA27AC83F}" type="presParOf" srcId="{09D8A770-D7C8-47C7-89D4-38EDDF9DD2CA}" destId="{87810596-1B7E-4F1D-81D0-0F217552D6EB}" srcOrd="2" destOrd="0" presId="urn:microsoft.com/office/officeart/2018/2/layout/IconCircleList"/>
    <dgm:cxn modelId="{84F1E936-8B64-455B-B4B9-08DD076A1617}" type="presParOf" srcId="{87810596-1B7E-4F1D-81D0-0F217552D6EB}" destId="{7F4D5338-D7F8-48EE-B4D7-E0FEE3B7DC7D}" srcOrd="0" destOrd="0" presId="urn:microsoft.com/office/officeart/2018/2/layout/IconCircleList"/>
    <dgm:cxn modelId="{AEBEDC9A-7B38-432B-BC01-CA9563306D38}" type="presParOf" srcId="{87810596-1B7E-4F1D-81D0-0F217552D6EB}" destId="{93440D40-E50D-4C0D-B87C-994E39625A87}" srcOrd="1" destOrd="0" presId="urn:microsoft.com/office/officeart/2018/2/layout/IconCircleList"/>
    <dgm:cxn modelId="{2F904021-77AB-4A2E-8EF8-238C40BC05D9}" type="presParOf" srcId="{87810596-1B7E-4F1D-81D0-0F217552D6EB}" destId="{F85F304D-0420-46E6-8C95-F96BF496E8B3}" srcOrd="2" destOrd="0" presId="urn:microsoft.com/office/officeart/2018/2/layout/IconCircleList"/>
    <dgm:cxn modelId="{4598E148-643C-4A42-808B-BCD57264A19B}" type="presParOf" srcId="{87810596-1B7E-4F1D-81D0-0F217552D6EB}" destId="{E494BC7F-51C8-4D81-8F49-4DA1B019A96B}" srcOrd="3" destOrd="0" presId="urn:microsoft.com/office/officeart/2018/2/layout/IconCircleList"/>
    <dgm:cxn modelId="{FC1F4027-81D0-40DB-9ACF-0E708333D525}" type="presParOf" srcId="{09D8A770-D7C8-47C7-89D4-38EDDF9DD2CA}" destId="{1AD0223B-83AD-4A47-945C-DE9E7DCB0A25}" srcOrd="3" destOrd="0" presId="urn:microsoft.com/office/officeart/2018/2/layout/IconCircleList"/>
    <dgm:cxn modelId="{9FFFFB03-E4CE-460D-AF97-6F1CB7C251F4}" type="presParOf" srcId="{09D8A770-D7C8-47C7-89D4-38EDDF9DD2CA}" destId="{F78DE008-36A9-46D2-8BDC-AACACB55EAE9}" srcOrd="4" destOrd="0" presId="urn:microsoft.com/office/officeart/2018/2/layout/IconCircleList"/>
    <dgm:cxn modelId="{A3692ABE-D97A-417D-AFC3-4EC204DDE3A1}" type="presParOf" srcId="{F78DE008-36A9-46D2-8BDC-AACACB55EAE9}" destId="{43E7BAE0-4CD2-41DC-80E7-824AD10996AE}" srcOrd="0" destOrd="0" presId="urn:microsoft.com/office/officeart/2018/2/layout/IconCircleList"/>
    <dgm:cxn modelId="{CECD5925-D069-441E-89F4-E60D70B8D1A2}" type="presParOf" srcId="{F78DE008-36A9-46D2-8BDC-AACACB55EAE9}" destId="{86C40952-36D1-42A7-B3C4-32741018F93D}" srcOrd="1" destOrd="0" presId="urn:microsoft.com/office/officeart/2018/2/layout/IconCircleList"/>
    <dgm:cxn modelId="{00C34655-84F1-418F-AB01-923C52AD6505}" type="presParOf" srcId="{F78DE008-36A9-46D2-8BDC-AACACB55EAE9}" destId="{8B33B0AE-5D89-454A-BB42-10E4E6D27D22}" srcOrd="2" destOrd="0" presId="urn:microsoft.com/office/officeart/2018/2/layout/IconCircleList"/>
    <dgm:cxn modelId="{49CEE102-3850-4661-A73B-124427EFA506}" type="presParOf" srcId="{F78DE008-36A9-46D2-8BDC-AACACB55EAE9}" destId="{6DF433F1-302C-47DA-A06B-E09A03777A2A}" srcOrd="3" destOrd="0" presId="urn:microsoft.com/office/officeart/2018/2/layout/IconCircleList"/>
    <dgm:cxn modelId="{4151E483-78CF-4710-936E-33EF3F570AD0}" type="presParOf" srcId="{09D8A770-D7C8-47C7-89D4-38EDDF9DD2CA}" destId="{EB3F1D02-1DA7-410C-81A1-5920F79A5741}" srcOrd="5" destOrd="0" presId="urn:microsoft.com/office/officeart/2018/2/layout/IconCircleList"/>
    <dgm:cxn modelId="{AA554B7F-C0D2-4AC1-8629-16F96D95A370}" type="presParOf" srcId="{09D8A770-D7C8-47C7-89D4-38EDDF9DD2CA}" destId="{5F47C206-1386-48CA-B030-94BBA89F2908}" srcOrd="6" destOrd="0" presId="urn:microsoft.com/office/officeart/2018/2/layout/IconCircleList"/>
    <dgm:cxn modelId="{B6B47031-24C4-461E-AB27-FEB37DEB6B9B}" type="presParOf" srcId="{5F47C206-1386-48CA-B030-94BBA89F2908}" destId="{A82EA98D-5A09-40CB-9516-3419F6B4BE71}" srcOrd="0" destOrd="0" presId="urn:microsoft.com/office/officeart/2018/2/layout/IconCircleList"/>
    <dgm:cxn modelId="{F9CC66A5-3374-4A2D-9618-422E778F5536}" type="presParOf" srcId="{5F47C206-1386-48CA-B030-94BBA89F2908}" destId="{CCFDA82E-DC17-4E59-8189-F99E174DA596}" srcOrd="1" destOrd="0" presId="urn:microsoft.com/office/officeart/2018/2/layout/IconCircleList"/>
    <dgm:cxn modelId="{CC28CF4D-E70D-4653-A17E-60E463B6CF9B}" type="presParOf" srcId="{5F47C206-1386-48CA-B030-94BBA89F2908}" destId="{1955A02C-98FD-46E3-B982-F8DE034F5520}" srcOrd="2" destOrd="0" presId="urn:microsoft.com/office/officeart/2018/2/layout/IconCircleList"/>
    <dgm:cxn modelId="{739E2F69-F4B3-4CFC-83B5-CE0C5DE989A4}" type="presParOf" srcId="{5F47C206-1386-48CA-B030-94BBA89F2908}" destId="{1617207A-B43E-41AD-B937-806CC4568D4E}" srcOrd="3" destOrd="0" presId="urn:microsoft.com/office/officeart/2018/2/layout/IconCircleList"/>
    <dgm:cxn modelId="{219F5D7B-7DDB-4B0E-95BA-6450069E4DE3}" type="presParOf" srcId="{09D8A770-D7C8-47C7-89D4-38EDDF9DD2CA}" destId="{74DE428D-CE1C-4DA8-94E6-66A5F914585F}" srcOrd="7" destOrd="0" presId="urn:microsoft.com/office/officeart/2018/2/layout/IconCircleList"/>
    <dgm:cxn modelId="{AC3A00D3-79EB-40FC-ABAD-05D81CA1E825}" type="presParOf" srcId="{09D8A770-D7C8-47C7-89D4-38EDDF9DD2CA}" destId="{1CF59FD8-6BE9-45EB-B83C-D2FB5E92C983}" srcOrd="8" destOrd="0" presId="urn:microsoft.com/office/officeart/2018/2/layout/IconCircleList"/>
    <dgm:cxn modelId="{DF1E6BE8-8ABF-4994-A760-4EF32941FD4C}" type="presParOf" srcId="{1CF59FD8-6BE9-45EB-B83C-D2FB5E92C983}" destId="{FF179B8A-A6E7-4146-9A80-DA9F465E3101}" srcOrd="0" destOrd="0" presId="urn:microsoft.com/office/officeart/2018/2/layout/IconCircleList"/>
    <dgm:cxn modelId="{5C63DA79-5070-4B4A-9A6D-DC1517F2D051}" type="presParOf" srcId="{1CF59FD8-6BE9-45EB-B83C-D2FB5E92C983}" destId="{205E8ED4-FEE8-43E5-BD57-17BFE07D13D4}" srcOrd="1" destOrd="0" presId="urn:microsoft.com/office/officeart/2018/2/layout/IconCircleList"/>
    <dgm:cxn modelId="{19F80E07-49E8-4C8E-BF90-EF932F74E795}" type="presParOf" srcId="{1CF59FD8-6BE9-45EB-B83C-D2FB5E92C983}" destId="{AFE6328A-DBBA-43F8-8EE1-3D6423F30AB0}" srcOrd="2" destOrd="0" presId="urn:microsoft.com/office/officeart/2018/2/layout/IconCircleList"/>
    <dgm:cxn modelId="{0CB1803C-5B3B-4B5D-AB20-496DE13CF40D}" type="presParOf" srcId="{1CF59FD8-6BE9-45EB-B83C-D2FB5E92C983}" destId="{5365F161-7458-4731-BCCE-D9780BA47B16}" srcOrd="3" destOrd="0" presId="urn:microsoft.com/office/officeart/2018/2/layout/IconCircleList"/>
    <dgm:cxn modelId="{314984C0-26A9-443A-B21D-22777DB696C8}" type="presParOf" srcId="{09D8A770-D7C8-47C7-89D4-38EDDF9DD2CA}" destId="{82E3BCF8-78F8-48D6-8A81-39ABC693FF63}" srcOrd="9" destOrd="0" presId="urn:microsoft.com/office/officeart/2018/2/layout/IconCircleList"/>
    <dgm:cxn modelId="{53E311AA-566B-4660-9AFE-F11A348CAEDF}" type="presParOf" srcId="{09D8A770-D7C8-47C7-89D4-38EDDF9DD2CA}" destId="{08968ACE-4950-429D-B6E7-DF6E62E5EA7C}" srcOrd="10" destOrd="0" presId="urn:microsoft.com/office/officeart/2018/2/layout/IconCircleList"/>
    <dgm:cxn modelId="{F910233E-2F68-4B91-AAA4-6DFA964411E8}" type="presParOf" srcId="{08968ACE-4950-429D-B6E7-DF6E62E5EA7C}" destId="{241AF161-F826-4A18-85E8-2805D53A8D3A}" srcOrd="0" destOrd="0" presId="urn:microsoft.com/office/officeart/2018/2/layout/IconCircleList"/>
    <dgm:cxn modelId="{EFD19C23-7831-4DA2-9692-B42F2CF89ED9}" type="presParOf" srcId="{08968ACE-4950-429D-B6E7-DF6E62E5EA7C}" destId="{1488D925-A2A6-45E1-A418-352444856936}" srcOrd="1" destOrd="0" presId="urn:microsoft.com/office/officeart/2018/2/layout/IconCircleList"/>
    <dgm:cxn modelId="{F1B4ED04-E5E6-4CBA-A710-D790CC345B08}" type="presParOf" srcId="{08968ACE-4950-429D-B6E7-DF6E62E5EA7C}" destId="{0119899B-AEB7-4DD8-B4B6-729F09CDE46E}" srcOrd="2" destOrd="0" presId="urn:microsoft.com/office/officeart/2018/2/layout/IconCircleList"/>
    <dgm:cxn modelId="{D8A6E196-ACF8-4513-B112-4939F9996F3C}" type="presParOf" srcId="{08968ACE-4950-429D-B6E7-DF6E62E5EA7C}" destId="{33B2CE1F-BDE2-47E9-B622-F397C5A66A21}" srcOrd="3" destOrd="0" presId="urn:microsoft.com/office/officeart/2018/2/layout/IconCircleList"/>
    <dgm:cxn modelId="{913EAD33-05DA-4B46-B895-D081A276C400}" type="presParOf" srcId="{09D8A770-D7C8-47C7-89D4-38EDDF9DD2CA}" destId="{28864FAC-BDD4-40B8-80F6-7B1BEFC07454}" srcOrd="11" destOrd="0" presId="urn:microsoft.com/office/officeart/2018/2/layout/IconCircleList"/>
    <dgm:cxn modelId="{D9461BDD-74DC-47F3-8044-7CBC89AE57EA}" type="presParOf" srcId="{09D8A770-D7C8-47C7-89D4-38EDDF9DD2CA}" destId="{A2226994-EFA3-4A7F-A8C4-A0FA3595351E}" srcOrd="12" destOrd="0" presId="urn:microsoft.com/office/officeart/2018/2/layout/IconCircleList"/>
    <dgm:cxn modelId="{406C76B1-AF20-4433-9230-0EDD48355B8A}" type="presParOf" srcId="{A2226994-EFA3-4A7F-A8C4-A0FA3595351E}" destId="{8889269C-B0A1-4F46-9876-C126389C7F0A}" srcOrd="0" destOrd="0" presId="urn:microsoft.com/office/officeart/2018/2/layout/IconCircleList"/>
    <dgm:cxn modelId="{E7FADEB4-A3B9-4DF6-B345-F38CB731802B}" type="presParOf" srcId="{A2226994-EFA3-4A7F-A8C4-A0FA3595351E}" destId="{6DD6D7D9-14E0-4326-9BEA-97CDD50DAD5C}" srcOrd="1" destOrd="0" presId="urn:microsoft.com/office/officeart/2018/2/layout/IconCircleList"/>
    <dgm:cxn modelId="{1CC8E9A9-8503-49D0-A395-D2D0164B423F}" type="presParOf" srcId="{A2226994-EFA3-4A7F-A8C4-A0FA3595351E}" destId="{3B4AF104-E5E5-4DE9-97D7-152DD560879C}" srcOrd="2" destOrd="0" presId="urn:microsoft.com/office/officeart/2018/2/layout/IconCircleList"/>
    <dgm:cxn modelId="{05CE416B-FE46-47CB-AC54-C1CAF8430A8D}" type="presParOf" srcId="{A2226994-EFA3-4A7F-A8C4-A0FA3595351E}" destId="{DA4FD707-8A43-41F6-9F11-C7E2A7F1BD76}" srcOrd="3" destOrd="0" presId="urn:microsoft.com/office/officeart/2018/2/layout/IconCircleList"/>
    <dgm:cxn modelId="{2736C86A-9FDE-46FC-B1D7-3BFEB7C5F5E1}" type="presParOf" srcId="{09D8A770-D7C8-47C7-89D4-38EDDF9DD2CA}" destId="{EF20976A-451A-4AA5-B5FE-E9D8240C0588}" srcOrd="13" destOrd="0" presId="urn:microsoft.com/office/officeart/2018/2/layout/IconCircleList"/>
    <dgm:cxn modelId="{5AC24BEB-A05E-444C-8374-A7B7849955ED}" type="presParOf" srcId="{09D8A770-D7C8-47C7-89D4-38EDDF9DD2CA}" destId="{01E1837A-61C4-4596-B696-74AA1BB4C180}" srcOrd="14" destOrd="0" presId="urn:microsoft.com/office/officeart/2018/2/layout/IconCircleList"/>
    <dgm:cxn modelId="{095DF0DE-55BF-4951-BFDF-64DF619DD85E}" type="presParOf" srcId="{01E1837A-61C4-4596-B696-74AA1BB4C180}" destId="{A1D2AF42-10C5-49D9-AFBE-F395398FEF53}" srcOrd="0" destOrd="0" presId="urn:microsoft.com/office/officeart/2018/2/layout/IconCircleList"/>
    <dgm:cxn modelId="{4FDDD87C-F45F-45E0-8FDC-03862DAB481F}" type="presParOf" srcId="{01E1837A-61C4-4596-B696-74AA1BB4C180}" destId="{5964636E-022B-402F-B420-F5540FA93988}" srcOrd="1" destOrd="0" presId="urn:microsoft.com/office/officeart/2018/2/layout/IconCircleList"/>
    <dgm:cxn modelId="{DE0709B3-13CA-435F-9D65-E11F7C40D92E}" type="presParOf" srcId="{01E1837A-61C4-4596-B696-74AA1BB4C180}" destId="{883A69F2-DC11-41B7-ADF6-97DF4F34CEE0}" srcOrd="2" destOrd="0" presId="urn:microsoft.com/office/officeart/2018/2/layout/IconCircleList"/>
    <dgm:cxn modelId="{60D9EAA6-80A4-4716-9E9E-4282192A7E79}" type="presParOf" srcId="{01E1837A-61C4-4596-B696-74AA1BB4C180}" destId="{2C9D6AC8-0B7F-45AA-BCB8-6928C907923D}"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6123F1-4348-44B0-BB23-C60E0FD80C9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7AF93A5-0D51-4527-AD42-BDF3C0D4CC44}">
      <dgm:prSet/>
      <dgm:spPr/>
      <dgm:t>
        <a:bodyPr/>
        <a:lstStyle/>
        <a:p>
          <a:pPr>
            <a:lnSpc>
              <a:spcPct val="100000"/>
            </a:lnSpc>
          </a:pPr>
          <a:r>
            <a:rPr lang="en-US" b="0" i="0" baseline="0"/>
            <a:t>For each rank k, we reconstruct the image as Ak and compute the </a:t>
          </a:r>
          <a:r>
            <a:rPr lang="en-US" b="1" i="0" baseline="0"/>
            <a:t>relative reconstruction error</a:t>
          </a:r>
          <a:r>
            <a:rPr lang="en-US" b="0" i="0" baseline="0"/>
            <a:t>:</a:t>
          </a:r>
          <a:endParaRPr lang="en-US"/>
        </a:p>
      </dgm:t>
    </dgm:pt>
    <dgm:pt modelId="{1960A19B-3676-428B-9864-FB92AB3ECE15}" type="parTrans" cxnId="{3BF18012-B39C-4858-AA61-047BF00EF908}">
      <dgm:prSet/>
      <dgm:spPr/>
      <dgm:t>
        <a:bodyPr/>
        <a:lstStyle/>
        <a:p>
          <a:endParaRPr lang="en-US"/>
        </a:p>
      </dgm:t>
    </dgm:pt>
    <dgm:pt modelId="{C15AD3B1-15C6-4A12-93D4-AD308AFD1819}" type="sibTrans" cxnId="{3BF18012-B39C-4858-AA61-047BF00EF908}">
      <dgm:prSet/>
      <dgm:spPr/>
      <dgm:t>
        <a:bodyPr/>
        <a:lstStyle/>
        <a:p>
          <a:pPr>
            <a:lnSpc>
              <a:spcPct val="100000"/>
            </a:lnSpc>
          </a:pPr>
          <a:endParaRPr lang="en-US"/>
        </a:p>
      </dgm:t>
    </dgm:pt>
    <dgm:pt modelId="{529AF5D9-6D86-4EFC-85E4-A0548329753D}">
      <dgm:prSet/>
      <dgm:spPr/>
      <dgm:t>
        <a:bodyPr/>
        <a:lstStyle/>
        <a:p>
          <a:pPr>
            <a:lnSpc>
              <a:spcPct val="100000"/>
            </a:lnSpc>
          </a:pPr>
          <a:r>
            <a:rPr lang="en-US" b="0" i="0" baseline="0"/>
            <a:t>We plot </a:t>
          </a:r>
          <a:r>
            <a:rPr lang="en-US" b="1" i="0" baseline="0"/>
            <a:t>Error(k) on the y-axis</a:t>
          </a:r>
          <a:r>
            <a:rPr lang="en-US" b="0" i="0" baseline="0"/>
            <a:t> and </a:t>
          </a:r>
          <a:r>
            <a:rPr lang="en-US" b="1" i="0" baseline="0"/>
            <a:t>k on the x-axis</a:t>
          </a:r>
          <a:r>
            <a:rPr lang="en-US" b="0" i="0" baseline="0"/>
            <a:t> (for k = 5, 10, 15, …, 100).</a:t>
          </a:r>
          <a:endParaRPr lang="en-US"/>
        </a:p>
      </dgm:t>
    </dgm:pt>
    <dgm:pt modelId="{B9CEC4AC-435C-4D05-8222-F3593153E41E}" type="parTrans" cxnId="{B36E9E0E-FC31-4AD4-BCF7-E9D4A6738592}">
      <dgm:prSet/>
      <dgm:spPr/>
      <dgm:t>
        <a:bodyPr/>
        <a:lstStyle/>
        <a:p>
          <a:endParaRPr lang="en-US"/>
        </a:p>
      </dgm:t>
    </dgm:pt>
    <dgm:pt modelId="{B66B202A-D4AD-42A5-88EC-1FF2E4AA1EF4}" type="sibTrans" cxnId="{B36E9E0E-FC31-4AD4-BCF7-E9D4A6738592}">
      <dgm:prSet/>
      <dgm:spPr/>
      <dgm:t>
        <a:bodyPr/>
        <a:lstStyle/>
        <a:p>
          <a:pPr>
            <a:lnSpc>
              <a:spcPct val="100000"/>
            </a:lnSpc>
          </a:pPr>
          <a:endParaRPr lang="en-US"/>
        </a:p>
      </dgm:t>
    </dgm:pt>
    <dgm:pt modelId="{195F98F5-3795-454E-83E0-83332D05C0A5}">
      <dgm:prSet/>
      <dgm:spPr/>
      <dgm:t>
        <a:bodyPr/>
        <a:lstStyle/>
        <a:p>
          <a:pPr>
            <a:lnSpc>
              <a:spcPct val="100000"/>
            </a:lnSpc>
          </a:pPr>
          <a:r>
            <a:rPr lang="en-US" b="0" i="0" baseline="0" dirty="0"/>
            <a:t>The curve </a:t>
          </a:r>
          <a:r>
            <a:rPr lang="en-US" b="1" i="0" baseline="0" dirty="0"/>
            <a:t>decreases as k increases</a:t>
          </a:r>
          <a:r>
            <a:rPr lang="en-US" b="0" i="0" baseline="0" dirty="0"/>
            <a:t>, meaning higher rank gives a more accurate reconstruction.</a:t>
          </a:r>
          <a:endParaRPr lang="en-US" dirty="0"/>
        </a:p>
      </dgm:t>
    </dgm:pt>
    <dgm:pt modelId="{8581D20E-89A1-47F5-8147-73B533E8B399}" type="parTrans" cxnId="{8A129AB7-1DAF-4B15-9ABC-D0BC062CACAB}">
      <dgm:prSet/>
      <dgm:spPr/>
      <dgm:t>
        <a:bodyPr/>
        <a:lstStyle/>
        <a:p>
          <a:endParaRPr lang="en-US"/>
        </a:p>
      </dgm:t>
    </dgm:pt>
    <dgm:pt modelId="{4B68B0BD-F866-48EE-B50C-22AC6538750E}" type="sibTrans" cxnId="{8A129AB7-1DAF-4B15-9ABC-D0BC062CACAB}">
      <dgm:prSet/>
      <dgm:spPr/>
      <dgm:t>
        <a:bodyPr/>
        <a:lstStyle/>
        <a:p>
          <a:pPr>
            <a:lnSpc>
              <a:spcPct val="100000"/>
            </a:lnSpc>
          </a:pPr>
          <a:endParaRPr lang="en-US"/>
        </a:p>
      </dgm:t>
    </dgm:pt>
    <dgm:pt modelId="{DB8FD0DA-BB78-459F-BE62-D20D5770A285}">
      <dgm:prSet/>
      <dgm:spPr/>
      <dgm:t>
        <a:bodyPr/>
        <a:lstStyle/>
        <a:p>
          <a:pPr>
            <a:lnSpc>
              <a:spcPct val="100000"/>
            </a:lnSpc>
          </a:pPr>
          <a:r>
            <a:rPr lang="en-US" b="0" i="0" baseline="0" dirty="0"/>
            <a:t>Most of the error drops </a:t>
          </a:r>
          <a:r>
            <a:rPr lang="en-US" b="1" i="0" baseline="0" dirty="0"/>
            <a:t>quickly for small k</a:t>
          </a:r>
          <a:r>
            <a:rPr lang="en-US" b="0" i="0" baseline="0" dirty="0"/>
            <a:t>, and then the curve becomes flatter, showing </a:t>
          </a:r>
          <a:r>
            <a:rPr lang="en-US" b="1" i="0" baseline="0" dirty="0"/>
            <a:t>diminishing returns</a:t>
          </a:r>
          <a:r>
            <a:rPr lang="en-US" b="0" i="0" baseline="0" dirty="0"/>
            <a:t> (small improvement for large k).</a:t>
          </a:r>
          <a:endParaRPr lang="en-US" dirty="0"/>
        </a:p>
      </dgm:t>
    </dgm:pt>
    <dgm:pt modelId="{C027ED80-0F2D-4E1E-9FC5-D155D6C7420B}" type="parTrans" cxnId="{6E883917-1613-422B-8102-ABA39A84E31B}">
      <dgm:prSet/>
      <dgm:spPr/>
      <dgm:t>
        <a:bodyPr/>
        <a:lstStyle/>
        <a:p>
          <a:endParaRPr lang="en-US"/>
        </a:p>
      </dgm:t>
    </dgm:pt>
    <dgm:pt modelId="{0D0D1972-4A43-45B2-924E-E836C6A9A6A6}" type="sibTrans" cxnId="{6E883917-1613-422B-8102-ABA39A84E31B}">
      <dgm:prSet/>
      <dgm:spPr/>
      <dgm:t>
        <a:bodyPr/>
        <a:lstStyle/>
        <a:p>
          <a:pPr>
            <a:lnSpc>
              <a:spcPct val="100000"/>
            </a:lnSpc>
          </a:pPr>
          <a:endParaRPr lang="en-US"/>
        </a:p>
      </dgm:t>
    </dgm:pt>
    <dgm:pt modelId="{0D8EACD5-459F-4557-8429-3B55A10E3C8D}">
      <dgm:prSet/>
      <dgm:spPr/>
      <dgm:t>
        <a:bodyPr/>
        <a:lstStyle/>
        <a:p>
          <a:pPr>
            <a:lnSpc>
              <a:spcPct val="100000"/>
            </a:lnSpc>
          </a:pPr>
          <a:r>
            <a:rPr lang="en-US" b="0" i="0" baseline="0"/>
            <a:t>This shows that even relatively small k can already give </a:t>
          </a:r>
          <a:r>
            <a:rPr lang="en-US" b="1" i="0" baseline="0"/>
            <a:t>good quality</a:t>
          </a:r>
          <a:r>
            <a:rPr lang="en-US" b="0" i="0" baseline="0"/>
            <a:t>, and very large k is only needed for small extra gains.</a:t>
          </a:r>
          <a:endParaRPr lang="en-US"/>
        </a:p>
      </dgm:t>
    </dgm:pt>
    <dgm:pt modelId="{ACEE02F5-AB36-4E43-A1B9-25C64001EC18}" type="parTrans" cxnId="{A31B7F34-9AC6-4DC5-97B5-8B240639CE48}">
      <dgm:prSet/>
      <dgm:spPr/>
      <dgm:t>
        <a:bodyPr/>
        <a:lstStyle/>
        <a:p>
          <a:endParaRPr lang="en-US"/>
        </a:p>
      </dgm:t>
    </dgm:pt>
    <dgm:pt modelId="{0806F327-9C80-4A27-AC58-BFF8558BE998}" type="sibTrans" cxnId="{A31B7F34-9AC6-4DC5-97B5-8B240639CE48}">
      <dgm:prSet/>
      <dgm:spPr/>
      <dgm:t>
        <a:bodyPr/>
        <a:lstStyle/>
        <a:p>
          <a:pPr>
            <a:lnSpc>
              <a:spcPct val="100000"/>
            </a:lnSpc>
          </a:pPr>
          <a:endParaRPr lang="en-US"/>
        </a:p>
      </dgm:t>
    </dgm:pt>
    <dgm:pt modelId="{276B2D27-CE49-42D8-B3AE-D3F2412C98AF}">
      <dgm:prSet/>
      <dgm:spPr/>
      <dgm:t>
        <a:bodyPr/>
        <a:lstStyle/>
        <a:p>
          <a:pPr>
            <a:lnSpc>
              <a:spcPct val="100000"/>
            </a:lnSpc>
          </a:pPr>
          <a:r>
            <a:rPr lang="en-US" b="0" i="0" baseline="0"/>
            <a:t>Overall, the plot illustrates that </a:t>
          </a:r>
          <a:r>
            <a:rPr lang="en-US" b="1" i="0" baseline="0"/>
            <a:t>image quality improves</a:t>
          </a:r>
          <a:r>
            <a:rPr lang="en-US" b="0" i="0" baseline="0"/>
            <a:t> as we keep more singular values, which matches our visual results.</a:t>
          </a:r>
          <a:endParaRPr lang="en-US"/>
        </a:p>
      </dgm:t>
    </dgm:pt>
    <dgm:pt modelId="{A3FECFDF-CA03-4186-8ACE-9273B55EB356}" type="parTrans" cxnId="{7C4EC126-FF29-4028-917F-F9A7DD86CB47}">
      <dgm:prSet/>
      <dgm:spPr/>
      <dgm:t>
        <a:bodyPr/>
        <a:lstStyle/>
        <a:p>
          <a:endParaRPr lang="en-US"/>
        </a:p>
      </dgm:t>
    </dgm:pt>
    <dgm:pt modelId="{C4819A64-AFB7-40A7-A0F0-206C22EB0D4B}" type="sibTrans" cxnId="{7C4EC126-FF29-4028-917F-F9A7DD86CB47}">
      <dgm:prSet/>
      <dgm:spPr/>
      <dgm:t>
        <a:bodyPr/>
        <a:lstStyle/>
        <a:p>
          <a:endParaRPr lang="en-US"/>
        </a:p>
      </dgm:t>
    </dgm:pt>
    <dgm:pt modelId="{B2E39D9B-20F1-4168-B6F9-EF7B9159A3C1}" type="pres">
      <dgm:prSet presAssocID="{176123F1-4348-44B0-BB23-C60E0FD80C96}" presName="root" presStyleCnt="0">
        <dgm:presLayoutVars>
          <dgm:dir/>
          <dgm:resizeHandles val="exact"/>
        </dgm:presLayoutVars>
      </dgm:prSet>
      <dgm:spPr/>
    </dgm:pt>
    <dgm:pt modelId="{FAD1F366-21F2-4C38-9B2F-1E429907B9C3}" type="pres">
      <dgm:prSet presAssocID="{176123F1-4348-44B0-BB23-C60E0FD80C96}" presName="container" presStyleCnt="0">
        <dgm:presLayoutVars>
          <dgm:dir/>
          <dgm:resizeHandles val="exact"/>
        </dgm:presLayoutVars>
      </dgm:prSet>
      <dgm:spPr/>
    </dgm:pt>
    <dgm:pt modelId="{8A33A32C-E4D3-4131-B856-53C346E75486}" type="pres">
      <dgm:prSet presAssocID="{A7AF93A5-0D51-4527-AD42-BDF3C0D4CC44}" presName="compNode" presStyleCnt="0"/>
      <dgm:spPr/>
    </dgm:pt>
    <dgm:pt modelId="{ABBF49ED-F198-42F4-ABAF-A91D6DA7FE7A}" type="pres">
      <dgm:prSet presAssocID="{A7AF93A5-0D51-4527-AD42-BDF3C0D4CC44}" presName="iconBgRect" presStyleLbl="bgShp" presStyleIdx="0" presStyleCnt="6"/>
      <dgm:spPr/>
    </dgm:pt>
    <dgm:pt modelId="{EE4FA236-49D1-417E-811A-1583E22CD5AF}" type="pres">
      <dgm:prSet presAssocID="{A7AF93A5-0D51-4527-AD42-BDF3C0D4CC4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culator"/>
        </a:ext>
      </dgm:extLst>
    </dgm:pt>
    <dgm:pt modelId="{B106A518-0B52-4833-8AA3-391BB8A48F8F}" type="pres">
      <dgm:prSet presAssocID="{A7AF93A5-0D51-4527-AD42-BDF3C0D4CC44}" presName="spaceRect" presStyleCnt="0"/>
      <dgm:spPr/>
    </dgm:pt>
    <dgm:pt modelId="{4823972C-2E7F-4572-B6AB-4B645328A41F}" type="pres">
      <dgm:prSet presAssocID="{A7AF93A5-0D51-4527-AD42-BDF3C0D4CC44}" presName="textRect" presStyleLbl="revTx" presStyleIdx="0" presStyleCnt="6">
        <dgm:presLayoutVars>
          <dgm:chMax val="1"/>
          <dgm:chPref val="1"/>
        </dgm:presLayoutVars>
      </dgm:prSet>
      <dgm:spPr/>
    </dgm:pt>
    <dgm:pt modelId="{2DACA6EA-A0A0-4AB8-86FC-B3149A794C85}" type="pres">
      <dgm:prSet presAssocID="{C15AD3B1-15C6-4A12-93D4-AD308AFD1819}" presName="sibTrans" presStyleLbl="sibTrans2D1" presStyleIdx="0" presStyleCnt="0"/>
      <dgm:spPr/>
    </dgm:pt>
    <dgm:pt modelId="{60528930-625C-4141-964F-4FDFFEB1FAC4}" type="pres">
      <dgm:prSet presAssocID="{529AF5D9-6D86-4EFC-85E4-A0548329753D}" presName="compNode" presStyleCnt="0"/>
      <dgm:spPr/>
    </dgm:pt>
    <dgm:pt modelId="{77DC4286-1E6B-492A-9C40-37977F7562F3}" type="pres">
      <dgm:prSet presAssocID="{529AF5D9-6D86-4EFC-85E4-A0548329753D}" presName="iconBgRect" presStyleLbl="bgShp" presStyleIdx="1" presStyleCnt="6"/>
      <dgm:spPr/>
    </dgm:pt>
    <dgm:pt modelId="{49D8CB7F-B48C-4218-BD49-D501F55D37D0}" type="pres">
      <dgm:prSet presAssocID="{529AF5D9-6D86-4EFC-85E4-A0548329753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enn Diagram"/>
        </a:ext>
      </dgm:extLst>
    </dgm:pt>
    <dgm:pt modelId="{0C60D340-F9FD-4640-B554-2AA3A79704A9}" type="pres">
      <dgm:prSet presAssocID="{529AF5D9-6D86-4EFC-85E4-A0548329753D}" presName="spaceRect" presStyleCnt="0"/>
      <dgm:spPr/>
    </dgm:pt>
    <dgm:pt modelId="{5BFC2DC5-7C38-401B-8ADA-74E8B2F9A471}" type="pres">
      <dgm:prSet presAssocID="{529AF5D9-6D86-4EFC-85E4-A0548329753D}" presName="textRect" presStyleLbl="revTx" presStyleIdx="1" presStyleCnt="6">
        <dgm:presLayoutVars>
          <dgm:chMax val="1"/>
          <dgm:chPref val="1"/>
        </dgm:presLayoutVars>
      </dgm:prSet>
      <dgm:spPr/>
    </dgm:pt>
    <dgm:pt modelId="{4BA522B4-9EAA-4E21-91A1-19680AED649A}" type="pres">
      <dgm:prSet presAssocID="{B66B202A-D4AD-42A5-88EC-1FF2E4AA1EF4}" presName="sibTrans" presStyleLbl="sibTrans2D1" presStyleIdx="0" presStyleCnt="0"/>
      <dgm:spPr/>
    </dgm:pt>
    <dgm:pt modelId="{C23EA860-87A8-429A-A98F-8A2CA38D1BCC}" type="pres">
      <dgm:prSet presAssocID="{195F98F5-3795-454E-83E0-83332D05C0A5}" presName="compNode" presStyleCnt="0"/>
      <dgm:spPr/>
    </dgm:pt>
    <dgm:pt modelId="{E00D8DA6-93B2-4504-AC1B-01B01E55041F}" type="pres">
      <dgm:prSet presAssocID="{195F98F5-3795-454E-83E0-83332D05C0A5}" presName="iconBgRect" presStyleLbl="bgShp" presStyleIdx="2" presStyleCnt="6"/>
      <dgm:spPr/>
    </dgm:pt>
    <dgm:pt modelId="{552B1DAB-F8F4-430A-B676-359DA4C38563}" type="pres">
      <dgm:prSet presAssocID="{195F98F5-3795-454E-83E0-83332D05C0A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Graph with Upward Trend"/>
        </a:ext>
      </dgm:extLst>
    </dgm:pt>
    <dgm:pt modelId="{542A1B7B-EBFE-41F5-90EE-8FEB77C4AD20}" type="pres">
      <dgm:prSet presAssocID="{195F98F5-3795-454E-83E0-83332D05C0A5}" presName="spaceRect" presStyleCnt="0"/>
      <dgm:spPr/>
    </dgm:pt>
    <dgm:pt modelId="{3D0A5192-5E28-47F8-887D-968A9C26FF99}" type="pres">
      <dgm:prSet presAssocID="{195F98F5-3795-454E-83E0-83332D05C0A5}" presName="textRect" presStyleLbl="revTx" presStyleIdx="2" presStyleCnt="6">
        <dgm:presLayoutVars>
          <dgm:chMax val="1"/>
          <dgm:chPref val="1"/>
        </dgm:presLayoutVars>
      </dgm:prSet>
      <dgm:spPr/>
    </dgm:pt>
    <dgm:pt modelId="{3BACD41A-7C1C-40F2-8B06-671D3358F68E}" type="pres">
      <dgm:prSet presAssocID="{4B68B0BD-F866-48EE-B50C-22AC6538750E}" presName="sibTrans" presStyleLbl="sibTrans2D1" presStyleIdx="0" presStyleCnt="0"/>
      <dgm:spPr/>
    </dgm:pt>
    <dgm:pt modelId="{93E108C2-722E-48EF-972B-05732EED2517}" type="pres">
      <dgm:prSet presAssocID="{DB8FD0DA-BB78-459F-BE62-D20D5770A285}" presName="compNode" presStyleCnt="0"/>
      <dgm:spPr/>
    </dgm:pt>
    <dgm:pt modelId="{2DEE4586-69CC-476B-A7A9-E8EB95BF6DB2}" type="pres">
      <dgm:prSet presAssocID="{DB8FD0DA-BB78-459F-BE62-D20D5770A285}" presName="iconBgRect" presStyleLbl="bgShp" presStyleIdx="3" presStyleCnt="6"/>
      <dgm:spPr/>
    </dgm:pt>
    <dgm:pt modelId="{C062B3B8-608D-407C-B94D-94DED60B680E}" type="pres">
      <dgm:prSet presAssocID="{DB8FD0DA-BB78-459F-BE62-D20D5770A28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Graph with Downward Trend"/>
        </a:ext>
      </dgm:extLst>
    </dgm:pt>
    <dgm:pt modelId="{54BC493E-4D03-417A-B57C-CD70F855D132}" type="pres">
      <dgm:prSet presAssocID="{DB8FD0DA-BB78-459F-BE62-D20D5770A285}" presName="spaceRect" presStyleCnt="0"/>
      <dgm:spPr/>
    </dgm:pt>
    <dgm:pt modelId="{66382EFF-2A1C-4643-9009-3147814EE2DE}" type="pres">
      <dgm:prSet presAssocID="{DB8FD0DA-BB78-459F-BE62-D20D5770A285}" presName="textRect" presStyleLbl="revTx" presStyleIdx="3" presStyleCnt="6">
        <dgm:presLayoutVars>
          <dgm:chMax val="1"/>
          <dgm:chPref val="1"/>
        </dgm:presLayoutVars>
      </dgm:prSet>
      <dgm:spPr/>
    </dgm:pt>
    <dgm:pt modelId="{6F73B8DF-C18E-4B3A-8E97-EF7A941882CD}" type="pres">
      <dgm:prSet presAssocID="{0D0D1972-4A43-45B2-924E-E836C6A9A6A6}" presName="sibTrans" presStyleLbl="sibTrans2D1" presStyleIdx="0" presStyleCnt="0"/>
      <dgm:spPr/>
    </dgm:pt>
    <dgm:pt modelId="{A5A21EC7-B828-4EC4-9477-8136F1264AE6}" type="pres">
      <dgm:prSet presAssocID="{0D8EACD5-459F-4557-8429-3B55A10E3C8D}" presName="compNode" presStyleCnt="0"/>
      <dgm:spPr/>
    </dgm:pt>
    <dgm:pt modelId="{973BA2ED-D650-46FE-ACBE-81A0C6884B9F}" type="pres">
      <dgm:prSet presAssocID="{0D8EACD5-459F-4557-8429-3B55A10E3C8D}" presName="iconBgRect" presStyleLbl="bgShp" presStyleIdx="4" presStyleCnt="6"/>
      <dgm:spPr/>
    </dgm:pt>
    <dgm:pt modelId="{9BEBDA8A-00CB-46CB-91A7-ECD04381C509}" type="pres">
      <dgm:prSet presAssocID="{0D8EACD5-459F-4557-8429-3B55A10E3C8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oading"/>
        </a:ext>
      </dgm:extLst>
    </dgm:pt>
    <dgm:pt modelId="{6037E4E9-F601-4108-9FFB-F15284845E65}" type="pres">
      <dgm:prSet presAssocID="{0D8EACD5-459F-4557-8429-3B55A10E3C8D}" presName="spaceRect" presStyleCnt="0"/>
      <dgm:spPr/>
    </dgm:pt>
    <dgm:pt modelId="{5B71E5E8-659D-4F46-9F1D-61DFD794968D}" type="pres">
      <dgm:prSet presAssocID="{0D8EACD5-459F-4557-8429-3B55A10E3C8D}" presName="textRect" presStyleLbl="revTx" presStyleIdx="4" presStyleCnt="6">
        <dgm:presLayoutVars>
          <dgm:chMax val="1"/>
          <dgm:chPref val="1"/>
        </dgm:presLayoutVars>
      </dgm:prSet>
      <dgm:spPr/>
    </dgm:pt>
    <dgm:pt modelId="{5AE08083-E934-47DF-B619-45DAC1B85657}" type="pres">
      <dgm:prSet presAssocID="{0806F327-9C80-4A27-AC58-BFF8558BE998}" presName="sibTrans" presStyleLbl="sibTrans2D1" presStyleIdx="0" presStyleCnt="0"/>
      <dgm:spPr/>
    </dgm:pt>
    <dgm:pt modelId="{D3E3CE74-47D2-4DCA-AC33-7D2659AD115F}" type="pres">
      <dgm:prSet presAssocID="{276B2D27-CE49-42D8-B3AE-D3F2412C98AF}" presName="compNode" presStyleCnt="0"/>
      <dgm:spPr/>
    </dgm:pt>
    <dgm:pt modelId="{FAD76827-E513-4DCC-91B1-727AC8C642BF}" type="pres">
      <dgm:prSet presAssocID="{276B2D27-CE49-42D8-B3AE-D3F2412C98AF}" presName="iconBgRect" presStyleLbl="bgShp" presStyleIdx="5" presStyleCnt="6"/>
      <dgm:spPr/>
    </dgm:pt>
    <dgm:pt modelId="{3A9082DC-4795-47BD-BE0B-76DC367193CF}" type="pres">
      <dgm:prSet presAssocID="{276B2D27-CE49-42D8-B3AE-D3F2412C98A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laybook"/>
        </a:ext>
      </dgm:extLst>
    </dgm:pt>
    <dgm:pt modelId="{B12D6D78-8D99-4252-9327-319B9B27F87C}" type="pres">
      <dgm:prSet presAssocID="{276B2D27-CE49-42D8-B3AE-D3F2412C98AF}" presName="spaceRect" presStyleCnt="0"/>
      <dgm:spPr/>
    </dgm:pt>
    <dgm:pt modelId="{B38548B4-3B63-4112-8A6C-A909A2725C55}" type="pres">
      <dgm:prSet presAssocID="{276B2D27-CE49-42D8-B3AE-D3F2412C98AF}" presName="textRect" presStyleLbl="revTx" presStyleIdx="5" presStyleCnt="6">
        <dgm:presLayoutVars>
          <dgm:chMax val="1"/>
          <dgm:chPref val="1"/>
        </dgm:presLayoutVars>
      </dgm:prSet>
      <dgm:spPr/>
    </dgm:pt>
  </dgm:ptLst>
  <dgm:cxnLst>
    <dgm:cxn modelId="{B36E9E0E-FC31-4AD4-BCF7-E9D4A6738592}" srcId="{176123F1-4348-44B0-BB23-C60E0FD80C96}" destId="{529AF5D9-6D86-4EFC-85E4-A0548329753D}" srcOrd="1" destOrd="0" parTransId="{B9CEC4AC-435C-4D05-8222-F3593153E41E}" sibTransId="{B66B202A-D4AD-42A5-88EC-1FF2E4AA1EF4}"/>
    <dgm:cxn modelId="{3BF18012-B39C-4858-AA61-047BF00EF908}" srcId="{176123F1-4348-44B0-BB23-C60E0FD80C96}" destId="{A7AF93A5-0D51-4527-AD42-BDF3C0D4CC44}" srcOrd="0" destOrd="0" parTransId="{1960A19B-3676-428B-9864-FB92AB3ECE15}" sibTransId="{C15AD3B1-15C6-4A12-93D4-AD308AFD1819}"/>
    <dgm:cxn modelId="{6E883917-1613-422B-8102-ABA39A84E31B}" srcId="{176123F1-4348-44B0-BB23-C60E0FD80C96}" destId="{DB8FD0DA-BB78-459F-BE62-D20D5770A285}" srcOrd="3" destOrd="0" parTransId="{C027ED80-0F2D-4E1E-9FC5-D155D6C7420B}" sibTransId="{0D0D1972-4A43-45B2-924E-E836C6A9A6A6}"/>
    <dgm:cxn modelId="{7C4EC126-FF29-4028-917F-F9A7DD86CB47}" srcId="{176123F1-4348-44B0-BB23-C60E0FD80C96}" destId="{276B2D27-CE49-42D8-B3AE-D3F2412C98AF}" srcOrd="5" destOrd="0" parTransId="{A3FECFDF-CA03-4186-8ACE-9273B55EB356}" sibTransId="{C4819A64-AFB7-40A7-A0F0-206C22EB0D4B}"/>
    <dgm:cxn modelId="{A31B7F34-9AC6-4DC5-97B5-8B240639CE48}" srcId="{176123F1-4348-44B0-BB23-C60E0FD80C96}" destId="{0D8EACD5-459F-4557-8429-3B55A10E3C8D}" srcOrd="4" destOrd="0" parTransId="{ACEE02F5-AB36-4E43-A1B9-25C64001EC18}" sibTransId="{0806F327-9C80-4A27-AC58-BFF8558BE998}"/>
    <dgm:cxn modelId="{76BBE66A-92C8-46D8-BB64-E4B30EF53404}" type="presOf" srcId="{176123F1-4348-44B0-BB23-C60E0FD80C96}" destId="{B2E39D9B-20F1-4168-B6F9-EF7B9159A3C1}" srcOrd="0" destOrd="0" presId="urn:microsoft.com/office/officeart/2018/2/layout/IconCircleList"/>
    <dgm:cxn modelId="{A955916B-4FCC-4EF3-BA04-6B5C8949DE09}" type="presOf" srcId="{529AF5D9-6D86-4EFC-85E4-A0548329753D}" destId="{5BFC2DC5-7C38-401B-8ADA-74E8B2F9A471}" srcOrd="0" destOrd="0" presId="urn:microsoft.com/office/officeart/2018/2/layout/IconCircleList"/>
    <dgm:cxn modelId="{B21C6250-EEA2-48F3-A8E5-09A74B98A41D}" type="presOf" srcId="{0D8EACD5-459F-4557-8429-3B55A10E3C8D}" destId="{5B71E5E8-659D-4F46-9F1D-61DFD794968D}" srcOrd="0" destOrd="0" presId="urn:microsoft.com/office/officeart/2018/2/layout/IconCircleList"/>
    <dgm:cxn modelId="{7EB02B55-8286-4BEE-A163-FDD436D6F9E1}" type="presOf" srcId="{0806F327-9C80-4A27-AC58-BFF8558BE998}" destId="{5AE08083-E934-47DF-B619-45DAC1B85657}" srcOrd="0" destOrd="0" presId="urn:microsoft.com/office/officeart/2018/2/layout/IconCircleList"/>
    <dgm:cxn modelId="{EFE58A75-7A41-4A5C-8343-5AFB68FF4018}" type="presOf" srcId="{0D0D1972-4A43-45B2-924E-E836C6A9A6A6}" destId="{6F73B8DF-C18E-4B3A-8E97-EF7A941882CD}" srcOrd="0" destOrd="0" presId="urn:microsoft.com/office/officeart/2018/2/layout/IconCircleList"/>
    <dgm:cxn modelId="{8A129AB7-1DAF-4B15-9ABC-D0BC062CACAB}" srcId="{176123F1-4348-44B0-BB23-C60E0FD80C96}" destId="{195F98F5-3795-454E-83E0-83332D05C0A5}" srcOrd="2" destOrd="0" parTransId="{8581D20E-89A1-47F5-8147-73B533E8B399}" sibTransId="{4B68B0BD-F866-48EE-B50C-22AC6538750E}"/>
    <dgm:cxn modelId="{B9652ABA-DE80-419B-91C8-76F5229B51B7}" type="presOf" srcId="{276B2D27-CE49-42D8-B3AE-D3F2412C98AF}" destId="{B38548B4-3B63-4112-8A6C-A909A2725C55}" srcOrd="0" destOrd="0" presId="urn:microsoft.com/office/officeart/2018/2/layout/IconCircleList"/>
    <dgm:cxn modelId="{2D195AC9-5F3D-4CAA-BE20-4B6E16A8546F}" type="presOf" srcId="{C15AD3B1-15C6-4A12-93D4-AD308AFD1819}" destId="{2DACA6EA-A0A0-4AB8-86FC-B3149A794C85}" srcOrd="0" destOrd="0" presId="urn:microsoft.com/office/officeart/2018/2/layout/IconCircleList"/>
    <dgm:cxn modelId="{AF8F43D1-D05D-4D50-9C26-4F8BE42E6F21}" type="presOf" srcId="{B66B202A-D4AD-42A5-88EC-1FF2E4AA1EF4}" destId="{4BA522B4-9EAA-4E21-91A1-19680AED649A}" srcOrd="0" destOrd="0" presId="urn:microsoft.com/office/officeart/2018/2/layout/IconCircleList"/>
    <dgm:cxn modelId="{F36074D1-6053-4FCC-AB01-F6350DF1D3D3}" type="presOf" srcId="{DB8FD0DA-BB78-459F-BE62-D20D5770A285}" destId="{66382EFF-2A1C-4643-9009-3147814EE2DE}" srcOrd="0" destOrd="0" presId="urn:microsoft.com/office/officeart/2018/2/layout/IconCircleList"/>
    <dgm:cxn modelId="{5DC56DF8-0769-42E0-8409-B07A840667B2}" type="presOf" srcId="{A7AF93A5-0D51-4527-AD42-BDF3C0D4CC44}" destId="{4823972C-2E7F-4572-B6AB-4B645328A41F}" srcOrd="0" destOrd="0" presId="urn:microsoft.com/office/officeart/2018/2/layout/IconCircleList"/>
    <dgm:cxn modelId="{127905FC-8899-4457-A2D9-D5944CD313F5}" type="presOf" srcId="{4B68B0BD-F866-48EE-B50C-22AC6538750E}" destId="{3BACD41A-7C1C-40F2-8B06-671D3358F68E}" srcOrd="0" destOrd="0" presId="urn:microsoft.com/office/officeart/2018/2/layout/IconCircleList"/>
    <dgm:cxn modelId="{447D4EFD-D47D-4E8C-ACD7-DE2BCCF1ECC1}" type="presOf" srcId="{195F98F5-3795-454E-83E0-83332D05C0A5}" destId="{3D0A5192-5E28-47F8-887D-968A9C26FF99}" srcOrd="0" destOrd="0" presId="urn:microsoft.com/office/officeart/2018/2/layout/IconCircleList"/>
    <dgm:cxn modelId="{2A336179-1FD4-48CE-95B0-D2784F372D02}" type="presParOf" srcId="{B2E39D9B-20F1-4168-B6F9-EF7B9159A3C1}" destId="{FAD1F366-21F2-4C38-9B2F-1E429907B9C3}" srcOrd="0" destOrd="0" presId="urn:microsoft.com/office/officeart/2018/2/layout/IconCircleList"/>
    <dgm:cxn modelId="{0F77CAC5-2D7E-493A-9C5C-920FBE23D0E8}" type="presParOf" srcId="{FAD1F366-21F2-4C38-9B2F-1E429907B9C3}" destId="{8A33A32C-E4D3-4131-B856-53C346E75486}" srcOrd="0" destOrd="0" presId="urn:microsoft.com/office/officeart/2018/2/layout/IconCircleList"/>
    <dgm:cxn modelId="{6F86F88F-2823-4C78-AC0C-D9F9D3569B62}" type="presParOf" srcId="{8A33A32C-E4D3-4131-B856-53C346E75486}" destId="{ABBF49ED-F198-42F4-ABAF-A91D6DA7FE7A}" srcOrd="0" destOrd="0" presId="urn:microsoft.com/office/officeart/2018/2/layout/IconCircleList"/>
    <dgm:cxn modelId="{FE2DCB44-68ED-47FA-B06F-90A8ACA78F46}" type="presParOf" srcId="{8A33A32C-E4D3-4131-B856-53C346E75486}" destId="{EE4FA236-49D1-417E-811A-1583E22CD5AF}" srcOrd="1" destOrd="0" presId="urn:microsoft.com/office/officeart/2018/2/layout/IconCircleList"/>
    <dgm:cxn modelId="{43630D0C-6F49-47E1-AB19-0B1A66C95720}" type="presParOf" srcId="{8A33A32C-E4D3-4131-B856-53C346E75486}" destId="{B106A518-0B52-4833-8AA3-391BB8A48F8F}" srcOrd="2" destOrd="0" presId="urn:microsoft.com/office/officeart/2018/2/layout/IconCircleList"/>
    <dgm:cxn modelId="{43A77D42-40B6-452D-8666-1955616AFF75}" type="presParOf" srcId="{8A33A32C-E4D3-4131-B856-53C346E75486}" destId="{4823972C-2E7F-4572-B6AB-4B645328A41F}" srcOrd="3" destOrd="0" presId="urn:microsoft.com/office/officeart/2018/2/layout/IconCircleList"/>
    <dgm:cxn modelId="{EF027D38-46ED-46CA-8D42-49E31AB5300B}" type="presParOf" srcId="{FAD1F366-21F2-4C38-9B2F-1E429907B9C3}" destId="{2DACA6EA-A0A0-4AB8-86FC-B3149A794C85}" srcOrd="1" destOrd="0" presId="urn:microsoft.com/office/officeart/2018/2/layout/IconCircleList"/>
    <dgm:cxn modelId="{AA16C47F-F405-4990-BFE6-98D62D1BEE3A}" type="presParOf" srcId="{FAD1F366-21F2-4C38-9B2F-1E429907B9C3}" destId="{60528930-625C-4141-964F-4FDFFEB1FAC4}" srcOrd="2" destOrd="0" presId="urn:microsoft.com/office/officeart/2018/2/layout/IconCircleList"/>
    <dgm:cxn modelId="{9B0439D2-06B3-4444-9F81-E0787CD0D2C9}" type="presParOf" srcId="{60528930-625C-4141-964F-4FDFFEB1FAC4}" destId="{77DC4286-1E6B-492A-9C40-37977F7562F3}" srcOrd="0" destOrd="0" presId="urn:microsoft.com/office/officeart/2018/2/layout/IconCircleList"/>
    <dgm:cxn modelId="{BAB68D58-5569-4998-878B-6E46042A9518}" type="presParOf" srcId="{60528930-625C-4141-964F-4FDFFEB1FAC4}" destId="{49D8CB7F-B48C-4218-BD49-D501F55D37D0}" srcOrd="1" destOrd="0" presId="urn:microsoft.com/office/officeart/2018/2/layout/IconCircleList"/>
    <dgm:cxn modelId="{96DE5732-B136-4C3F-982D-66994D3F3776}" type="presParOf" srcId="{60528930-625C-4141-964F-4FDFFEB1FAC4}" destId="{0C60D340-F9FD-4640-B554-2AA3A79704A9}" srcOrd="2" destOrd="0" presId="urn:microsoft.com/office/officeart/2018/2/layout/IconCircleList"/>
    <dgm:cxn modelId="{A69AFAAE-BD39-467A-8E5F-C26618EE559A}" type="presParOf" srcId="{60528930-625C-4141-964F-4FDFFEB1FAC4}" destId="{5BFC2DC5-7C38-401B-8ADA-74E8B2F9A471}" srcOrd="3" destOrd="0" presId="urn:microsoft.com/office/officeart/2018/2/layout/IconCircleList"/>
    <dgm:cxn modelId="{57B9AFFC-EF74-437B-A6BF-1F8CCCAB88BF}" type="presParOf" srcId="{FAD1F366-21F2-4C38-9B2F-1E429907B9C3}" destId="{4BA522B4-9EAA-4E21-91A1-19680AED649A}" srcOrd="3" destOrd="0" presId="urn:microsoft.com/office/officeart/2018/2/layout/IconCircleList"/>
    <dgm:cxn modelId="{1443DE06-BF18-417D-BBE8-9567C6011A17}" type="presParOf" srcId="{FAD1F366-21F2-4C38-9B2F-1E429907B9C3}" destId="{C23EA860-87A8-429A-A98F-8A2CA38D1BCC}" srcOrd="4" destOrd="0" presId="urn:microsoft.com/office/officeart/2018/2/layout/IconCircleList"/>
    <dgm:cxn modelId="{B9169DC0-82A0-47DC-87F2-51541428DDE0}" type="presParOf" srcId="{C23EA860-87A8-429A-A98F-8A2CA38D1BCC}" destId="{E00D8DA6-93B2-4504-AC1B-01B01E55041F}" srcOrd="0" destOrd="0" presId="urn:microsoft.com/office/officeart/2018/2/layout/IconCircleList"/>
    <dgm:cxn modelId="{EBBA7D01-6C7A-493D-A7F8-E061F99F19EA}" type="presParOf" srcId="{C23EA860-87A8-429A-A98F-8A2CA38D1BCC}" destId="{552B1DAB-F8F4-430A-B676-359DA4C38563}" srcOrd="1" destOrd="0" presId="urn:microsoft.com/office/officeart/2018/2/layout/IconCircleList"/>
    <dgm:cxn modelId="{51224881-FD3A-4006-8CDC-72CF14FDF564}" type="presParOf" srcId="{C23EA860-87A8-429A-A98F-8A2CA38D1BCC}" destId="{542A1B7B-EBFE-41F5-90EE-8FEB77C4AD20}" srcOrd="2" destOrd="0" presId="urn:microsoft.com/office/officeart/2018/2/layout/IconCircleList"/>
    <dgm:cxn modelId="{F869BE2C-F7CD-4332-B43E-DED15A1AC28A}" type="presParOf" srcId="{C23EA860-87A8-429A-A98F-8A2CA38D1BCC}" destId="{3D0A5192-5E28-47F8-887D-968A9C26FF99}" srcOrd="3" destOrd="0" presId="urn:microsoft.com/office/officeart/2018/2/layout/IconCircleList"/>
    <dgm:cxn modelId="{F5671F7D-3661-4744-87B6-2A9E9272DCB9}" type="presParOf" srcId="{FAD1F366-21F2-4C38-9B2F-1E429907B9C3}" destId="{3BACD41A-7C1C-40F2-8B06-671D3358F68E}" srcOrd="5" destOrd="0" presId="urn:microsoft.com/office/officeart/2018/2/layout/IconCircleList"/>
    <dgm:cxn modelId="{FAD06FB3-CE30-495C-A6B1-E4415B084971}" type="presParOf" srcId="{FAD1F366-21F2-4C38-9B2F-1E429907B9C3}" destId="{93E108C2-722E-48EF-972B-05732EED2517}" srcOrd="6" destOrd="0" presId="urn:microsoft.com/office/officeart/2018/2/layout/IconCircleList"/>
    <dgm:cxn modelId="{348762D9-855A-468D-9CF2-9414AD0A6B46}" type="presParOf" srcId="{93E108C2-722E-48EF-972B-05732EED2517}" destId="{2DEE4586-69CC-476B-A7A9-E8EB95BF6DB2}" srcOrd="0" destOrd="0" presId="urn:microsoft.com/office/officeart/2018/2/layout/IconCircleList"/>
    <dgm:cxn modelId="{B6DDB296-8D17-44B4-96C3-D7821A99C29C}" type="presParOf" srcId="{93E108C2-722E-48EF-972B-05732EED2517}" destId="{C062B3B8-608D-407C-B94D-94DED60B680E}" srcOrd="1" destOrd="0" presId="urn:microsoft.com/office/officeart/2018/2/layout/IconCircleList"/>
    <dgm:cxn modelId="{BB5B578D-AF03-43FE-8D20-985233008A3C}" type="presParOf" srcId="{93E108C2-722E-48EF-972B-05732EED2517}" destId="{54BC493E-4D03-417A-B57C-CD70F855D132}" srcOrd="2" destOrd="0" presId="urn:microsoft.com/office/officeart/2018/2/layout/IconCircleList"/>
    <dgm:cxn modelId="{7511610A-4E5D-471F-B3F1-42C91AA9391C}" type="presParOf" srcId="{93E108C2-722E-48EF-972B-05732EED2517}" destId="{66382EFF-2A1C-4643-9009-3147814EE2DE}" srcOrd="3" destOrd="0" presId="urn:microsoft.com/office/officeart/2018/2/layout/IconCircleList"/>
    <dgm:cxn modelId="{BC888DE8-5293-41A7-A7B2-D0FCF9E745D7}" type="presParOf" srcId="{FAD1F366-21F2-4C38-9B2F-1E429907B9C3}" destId="{6F73B8DF-C18E-4B3A-8E97-EF7A941882CD}" srcOrd="7" destOrd="0" presId="urn:microsoft.com/office/officeart/2018/2/layout/IconCircleList"/>
    <dgm:cxn modelId="{35D94E60-3D26-475D-B835-32BD7BBE479C}" type="presParOf" srcId="{FAD1F366-21F2-4C38-9B2F-1E429907B9C3}" destId="{A5A21EC7-B828-4EC4-9477-8136F1264AE6}" srcOrd="8" destOrd="0" presId="urn:microsoft.com/office/officeart/2018/2/layout/IconCircleList"/>
    <dgm:cxn modelId="{3B959522-70B0-4422-9201-26275500C1BF}" type="presParOf" srcId="{A5A21EC7-B828-4EC4-9477-8136F1264AE6}" destId="{973BA2ED-D650-46FE-ACBE-81A0C6884B9F}" srcOrd="0" destOrd="0" presId="urn:microsoft.com/office/officeart/2018/2/layout/IconCircleList"/>
    <dgm:cxn modelId="{657DF699-621F-4921-BA13-5DD9D1C8C3F9}" type="presParOf" srcId="{A5A21EC7-B828-4EC4-9477-8136F1264AE6}" destId="{9BEBDA8A-00CB-46CB-91A7-ECD04381C509}" srcOrd="1" destOrd="0" presId="urn:microsoft.com/office/officeart/2018/2/layout/IconCircleList"/>
    <dgm:cxn modelId="{7F6CA5E6-365A-4EF1-B5F8-7633816899E2}" type="presParOf" srcId="{A5A21EC7-B828-4EC4-9477-8136F1264AE6}" destId="{6037E4E9-F601-4108-9FFB-F15284845E65}" srcOrd="2" destOrd="0" presId="urn:microsoft.com/office/officeart/2018/2/layout/IconCircleList"/>
    <dgm:cxn modelId="{FE3046C5-4173-48B4-9658-C9A1A53B6EAB}" type="presParOf" srcId="{A5A21EC7-B828-4EC4-9477-8136F1264AE6}" destId="{5B71E5E8-659D-4F46-9F1D-61DFD794968D}" srcOrd="3" destOrd="0" presId="urn:microsoft.com/office/officeart/2018/2/layout/IconCircleList"/>
    <dgm:cxn modelId="{52A50EFB-7356-4A70-BD03-8264A81D68CD}" type="presParOf" srcId="{FAD1F366-21F2-4C38-9B2F-1E429907B9C3}" destId="{5AE08083-E934-47DF-B619-45DAC1B85657}" srcOrd="9" destOrd="0" presId="urn:microsoft.com/office/officeart/2018/2/layout/IconCircleList"/>
    <dgm:cxn modelId="{469C5FB6-5578-421A-BBFD-23FDE75F035F}" type="presParOf" srcId="{FAD1F366-21F2-4C38-9B2F-1E429907B9C3}" destId="{D3E3CE74-47D2-4DCA-AC33-7D2659AD115F}" srcOrd="10" destOrd="0" presId="urn:microsoft.com/office/officeart/2018/2/layout/IconCircleList"/>
    <dgm:cxn modelId="{192937EF-2555-4D6B-A51A-EC39D6413519}" type="presParOf" srcId="{D3E3CE74-47D2-4DCA-AC33-7D2659AD115F}" destId="{FAD76827-E513-4DCC-91B1-727AC8C642BF}" srcOrd="0" destOrd="0" presId="urn:microsoft.com/office/officeart/2018/2/layout/IconCircleList"/>
    <dgm:cxn modelId="{9178E0F1-8909-42E0-B608-1EBED7BE1B5B}" type="presParOf" srcId="{D3E3CE74-47D2-4DCA-AC33-7D2659AD115F}" destId="{3A9082DC-4795-47BD-BE0B-76DC367193CF}" srcOrd="1" destOrd="0" presId="urn:microsoft.com/office/officeart/2018/2/layout/IconCircleList"/>
    <dgm:cxn modelId="{4A950AF2-3060-450A-AA12-EED026F1AE1B}" type="presParOf" srcId="{D3E3CE74-47D2-4DCA-AC33-7D2659AD115F}" destId="{B12D6D78-8D99-4252-9327-319B9B27F87C}" srcOrd="2" destOrd="0" presId="urn:microsoft.com/office/officeart/2018/2/layout/IconCircleList"/>
    <dgm:cxn modelId="{2B5E6AD5-854D-42ED-BB66-F6332EF38A38}" type="presParOf" srcId="{D3E3CE74-47D2-4DCA-AC33-7D2659AD115F}" destId="{B38548B4-3B63-4112-8A6C-A909A2725C5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0FCE6-5104-4712-8A05-6E88E96ED1F2}">
      <dsp:nvSpPr>
        <dsp:cNvPr id="0" name=""/>
        <dsp:cNvSpPr/>
      </dsp:nvSpPr>
      <dsp:spPr>
        <a:xfrm>
          <a:off x="978323" y="24085"/>
          <a:ext cx="647050" cy="6470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E40840-56F0-467B-AB4D-FFC11BF5BBA4}">
      <dsp:nvSpPr>
        <dsp:cNvPr id="0" name=""/>
        <dsp:cNvSpPr/>
      </dsp:nvSpPr>
      <dsp:spPr>
        <a:xfrm>
          <a:off x="582903" y="1028020"/>
          <a:ext cx="1437890" cy="1374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i="0" kern="1200" baseline="0" dirty="0"/>
            <a:t>Digital images, especially large and high-resolution ones, take a lot of storage space and are expensive to store and transmit.</a:t>
          </a:r>
          <a:endParaRPr lang="en-US" sz="1400" kern="1200" dirty="0"/>
        </a:p>
      </dsp:txBody>
      <dsp:txXfrm>
        <a:off x="582903" y="1028020"/>
        <a:ext cx="1437890" cy="1374982"/>
      </dsp:txXfrm>
    </dsp:sp>
    <dsp:sp modelId="{24633204-B90A-4079-87C6-646F73598EFA}">
      <dsp:nvSpPr>
        <dsp:cNvPr id="0" name=""/>
        <dsp:cNvSpPr/>
      </dsp:nvSpPr>
      <dsp:spPr>
        <a:xfrm>
          <a:off x="2667844" y="24085"/>
          <a:ext cx="647050" cy="6470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EDEC8C-54BF-44D0-867B-565058BA9756}">
      <dsp:nvSpPr>
        <dsp:cNvPr id="0" name=""/>
        <dsp:cNvSpPr/>
      </dsp:nvSpPr>
      <dsp:spPr>
        <a:xfrm>
          <a:off x="2272424" y="1028020"/>
          <a:ext cx="1437890" cy="1374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i="0" kern="1200" baseline="0" dirty="0"/>
            <a:t>Many images contain redundant pixel information, so they don’t actually need all their original data to look good to the human eye.</a:t>
          </a:r>
          <a:endParaRPr lang="en-US" sz="1400" kern="1200" dirty="0"/>
        </a:p>
      </dsp:txBody>
      <dsp:txXfrm>
        <a:off x="2272424" y="1028020"/>
        <a:ext cx="1437890" cy="1374982"/>
      </dsp:txXfrm>
    </dsp:sp>
    <dsp:sp modelId="{9C1E6B61-F657-487A-96F1-78AAC2A4DD91}">
      <dsp:nvSpPr>
        <dsp:cNvPr id="0" name=""/>
        <dsp:cNvSpPr/>
      </dsp:nvSpPr>
      <dsp:spPr>
        <a:xfrm>
          <a:off x="1823084" y="2762476"/>
          <a:ext cx="647050" cy="6470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3DE448-E4EE-4A29-B7E1-7257A1BF4682}">
      <dsp:nvSpPr>
        <dsp:cNvPr id="0" name=""/>
        <dsp:cNvSpPr/>
      </dsp:nvSpPr>
      <dsp:spPr>
        <a:xfrm>
          <a:off x="1478637" y="3389734"/>
          <a:ext cx="1335944" cy="2128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i="0" kern="1200" baseline="0" dirty="0"/>
            <a:t>In this project, we want to see how much we can compress an image by using a mathematical method called Singular Value Decomposition (SVD), while still it keeping the image visually acceptable.</a:t>
          </a:r>
          <a:endParaRPr lang="en-US" sz="1200" kern="1200" dirty="0"/>
        </a:p>
      </dsp:txBody>
      <dsp:txXfrm>
        <a:off x="1478637" y="3389734"/>
        <a:ext cx="1335944" cy="2128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0FCCF-93E5-44D6-AA3E-3CD7FA7837A4}">
      <dsp:nvSpPr>
        <dsp:cNvPr id="0" name=""/>
        <dsp:cNvSpPr/>
      </dsp:nvSpPr>
      <dsp:spPr>
        <a:xfrm>
          <a:off x="258809" y="459373"/>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CE1837-2299-470D-8363-F0B0E87F1C9E}">
      <dsp:nvSpPr>
        <dsp:cNvPr id="0" name=""/>
        <dsp:cNvSpPr/>
      </dsp:nvSpPr>
      <dsp:spPr>
        <a:xfrm>
          <a:off x="451574" y="652139"/>
          <a:ext cx="532400" cy="5324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23DB4D-FE00-466F-B5BF-D891A175BFAA}">
      <dsp:nvSpPr>
        <dsp:cNvPr id="0" name=""/>
        <dsp:cNvSpPr/>
      </dsp:nvSpPr>
      <dsp:spPr>
        <a:xfrm>
          <a:off x="1373440" y="459373"/>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dataset used is “Landscape Pictures” from Kaggle.</a:t>
          </a:r>
        </a:p>
      </dsp:txBody>
      <dsp:txXfrm>
        <a:off x="1373440" y="459373"/>
        <a:ext cx="2163695" cy="917931"/>
      </dsp:txXfrm>
    </dsp:sp>
    <dsp:sp modelId="{7F4D5338-D7F8-48EE-B4D7-E0FEE3B7DC7D}">
      <dsp:nvSpPr>
        <dsp:cNvPr id="0" name=""/>
        <dsp:cNvSpPr/>
      </dsp:nvSpPr>
      <dsp:spPr>
        <a:xfrm>
          <a:off x="3914143" y="459373"/>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40D40-E50D-4C0D-B87C-994E39625A87}">
      <dsp:nvSpPr>
        <dsp:cNvPr id="0" name=""/>
        <dsp:cNvSpPr/>
      </dsp:nvSpPr>
      <dsp:spPr>
        <a:xfrm>
          <a:off x="4106909" y="652139"/>
          <a:ext cx="532400" cy="5324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4BC7F-51C8-4D81-8F49-4DA1B019A96B}">
      <dsp:nvSpPr>
        <dsp:cNvPr id="0" name=""/>
        <dsp:cNvSpPr/>
      </dsp:nvSpPr>
      <dsp:spPr>
        <a:xfrm>
          <a:off x="5028774" y="459373"/>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It contains about 4319 landscape images, with a total size of roughly 650 MB. </a:t>
          </a:r>
        </a:p>
      </dsp:txBody>
      <dsp:txXfrm>
        <a:off x="5028774" y="459373"/>
        <a:ext cx="2163695" cy="917931"/>
      </dsp:txXfrm>
    </dsp:sp>
    <dsp:sp modelId="{43E7BAE0-4CD2-41DC-80E7-824AD10996AE}">
      <dsp:nvSpPr>
        <dsp:cNvPr id="0" name=""/>
        <dsp:cNvSpPr/>
      </dsp:nvSpPr>
      <dsp:spPr>
        <a:xfrm>
          <a:off x="7569477" y="459373"/>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C40952-36D1-42A7-B3C4-32741018F93D}">
      <dsp:nvSpPr>
        <dsp:cNvPr id="0" name=""/>
        <dsp:cNvSpPr/>
      </dsp:nvSpPr>
      <dsp:spPr>
        <a:xfrm>
          <a:off x="7762243" y="652139"/>
          <a:ext cx="532400" cy="5324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F433F1-302C-47DA-A06B-E09A03777A2A}">
      <dsp:nvSpPr>
        <dsp:cNvPr id="0" name=""/>
        <dsp:cNvSpPr/>
      </dsp:nvSpPr>
      <dsp:spPr>
        <a:xfrm>
          <a:off x="8684109" y="459373"/>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Images show natural outdoor scenes such as mountains, sea, beaches, islands, deserts, and general landscapes. </a:t>
          </a:r>
        </a:p>
      </dsp:txBody>
      <dsp:txXfrm>
        <a:off x="8684109" y="459373"/>
        <a:ext cx="2163695" cy="917931"/>
      </dsp:txXfrm>
    </dsp:sp>
    <dsp:sp modelId="{A82EA98D-5A09-40CB-9516-3419F6B4BE71}">
      <dsp:nvSpPr>
        <dsp:cNvPr id="0" name=""/>
        <dsp:cNvSpPr/>
      </dsp:nvSpPr>
      <dsp:spPr>
        <a:xfrm>
          <a:off x="258809" y="2323262"/>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FDA82E-DC17-4E59-8189-F99E174DA596}">
      <dsp:nvSpPr>
        <dsp:cNvPr id="0" name=""/>
        <dsp:cNvSpPr/>
      </dsp:nvSpPr>
      <dsp:spPr>
        <a:xfrm>
          <a:off x="451574" y="2516028"/>
          <a:ext cx="532400" cy="5324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17207A-B43E-41AD-B937-806CC4568D4E}">
      <dsp:nvSpPr>
        <dsp:cNvPr id="0" name=""/>
        <dsp:cNvSpPr/>
      </dsp:nvSpPr>
      <dsp:spPr>
        <a:xfrm>
          <a:off x="1373440" y="2323262"/>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original Flickr-based dataset is grouped into 7 landscape categories:</a:t>
          </a:r>
        </a:p>
      </dsp:txBody>
      <dsp:txXfrm>
        <a:off x="1373440" y="2323262"/>
        <a:ext cx="2163695" cy="917931"/>
      </dsp:txXfrm>
    </dsp:sp>
    <dsp:sp modelId="{FF179B8A-A6E7-4146-9A80-DA9F465E3101}">
      <dsp:nvSpPr>
        <dsp:cNvPr id="0" name=""/>
        <dsp:cNvSpPr/>
      </dsp:nvSpPr>
      <dsp:spPr>
        <a:xfrm>
          <a:off x="3914143" y="2323262"/>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E8ED4-FEE8-43E5-BD57-17BFE07D13D4}">
      <dsp:nvSpPr>
        <dsp:cNvPr id="0" name=""/>
        <dsp:cNvSpPr/>
      </dsp:nvSpPr>
      <dsp:spPr>
        <a:xfrm>
          <a:off x="4106909" y="2516028"/>
          <a:ext cx="532400" cy="5324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65F161-7458-4731-BCCE-D9780BA47B16}">
      <dsp:nvSpPr>
        <dsp:cNvPr id="0" name=""/>
        <dsp:cNvSpPr/>
      </dsp:nvSpPr>
      <dsp:spPr>
        <a:xfrm>
          <a:off x="5028774" y="2323262"/>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pictures are provided as color JPG files with different original resolutions. </a:t>
          </a:r>
        </a:p>
      </dsp:txBody>
      <dsp:txXfrm>
        <a:off x="5028774" y="2323262"/>
        <a:ext cx="2163695" cy="917931"/>
      </dsp:txXfrm>
    </dsp:sp>
    <dsp:sp modelId="{241AF161-F826-4A18-85E8-2805D53A8D3A}">
      <dsp:nvSpPr>
        <dsp:cNvPr id="0" name=""/>
        <dsp:cNvSpPr/>
      </dsp:nvSpPr>
      <dsp:spPr>
        <a:xfrm>
          <a:off x="7569477" y="2323262"/>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8D925-A2A6-45E1-A418-352444856936}">
      <dsp:nvSpPr>
        <dsp:cNvPr id="0" name=""/>
        <dsp:cNvSpPr/>
      </dsp:nvSpPr>
      <dsp:spPr>
        <a:xfrm>
          <a:off x="7762243" y="2516028"/>
          <a:ext cx="532400" cy="5324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B2CE1F-BDE2-47E9-B622-F397C5A66A21}">
      <dsp:nvSpPr>
        <dsp:cNvPr id="0" name=""/>
        <dsp:cNvSpPr/>
      </dsp:nvSpPr>
      <dsp:spPr>
        <a:xfrm>
          <a:off x="8684109" y="2323262"/>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dataset is commonly used for computer vision tasks like image generation, style transfer, and segmentation, making it suitable for SVD-based image experiments. In this project, the dataset is downloaded as a zip file (e.g., archive (15).zip) from Kaggle and extracted into a local folder for processing</a:t>
          </a:r>
          <a:r>
            <a:rPr lang="en-US" sz="1100" kern="1200" dirty="0"/>
            <a:t>. </a:t>
          </a:r>
        </a:p>
      </dsp:txBody>
      <dsp:txXfrm>
        <a:off x="8684109" y="2323262"/>
        <a:ext cx="2163695" cy="917931"/>
      </dsp:txXfrm>
    </dsp:sp>
    <dsp:sp modelId="{8889269C-B0A1-4F46-9876-C126389C7F0A}">
      <dsp:nvSpPr>
        <dsp:cNvPr id="0" name=""/>
        <dsp:cNvSpPr/>
      </dsp:nvSpPr>
      <dsp:spPr>
        <a:xfrm>
          <a:off x="258809" y="4187151"/>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D6D7D9-14E0-4326-9BEA-97CDD50DAD5C}">
      <dsp:nvSpPr>
        <dsp:cNvPr id="0" name=""/>
        <dsp:cNvSpPr/>
      </dsp:nvSpPr>
      <dsp:spPr>
        <a:xfrm>
          <a:off x="451574" y="4379917"/>
          <a:ext cx="532400" cy="53240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4FD707-8A43-41F6-9F11-C7E2A7F1BD76}">
      <dsp:nvSpPr>
        <dsp:cNvPr id="0" name=""/>
        <dsp:cNvSpPr/>
      </dsp:nvSpPr>
      <dsp:spPr>
        <a:xfrm>
          <a:off x="1373440" y="4187151"/>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From all available images, only a small subset (head) is selected for experiments to make computations faster and easier to analyze.</a:t>
          </a:r>
        </a:p>
      </dsp:txBody>
      <dsp:txXfrm>
        <a:off x="1373440" y="4187151"/>
        <a:ext cx="2163695" cy="917931"/>
      </dsp:txXfrm>
    </dsp:sp>
    <dsp:sp modelId="{A1D2AF42-10C5-49D9-AFBE-F395398FEF53}">
      <dsp:nvSpPr>
        <dsp:cNvPr id="0" name=""/>
        <dsp:cNvSpPr/>
      </dsp:nvSpPr>
      <dsp:spPr>
        <a:xfrm>
          <a:off x="3914143" y="4187151"/>
          <a:ext cx="917931" cy="91793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64636E-022B-402F-B420-F5540FA93988}">
      <dsp:nvSpPr>
        <dsp:cNvPr id="0" name=""/>
        <dsp:cNvSpPr/>
      </dsp:nvSpPr>
      <dsp:spPr>
        <a:xfrm>
          <a:off x="4106909" y="4379917"/>
          <a:ext cx="532400" cy="53240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9D6AC8-0B7F-45AA-BCB8-6928C907923D}">
      <dsp:nvSpPr>
        <dsp:cNvPr id="0" name=""/>
        <dsp:cNvSpPr/>
      </dsp:nvSpPr>
      <dsp:spPr>
        <a:xfrm>
          <a:off x="5028774" y="4187151"/>
          <a:ext cx="2163695" cy="917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These selected images are later resized to 256 × 256 and converted to grayscale, so they can be treated as matrices for SVD.</a:t>
          </a:r>
        </a:p>
      </dsp:txBody>
      <dsp:txXfrm>
        <a:off x="5028774" y="4187151"/>
        <a:ext cx="2163695" cy="917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F49ED-F198-42F4-ABAF-A91D6DA7FE7A}">
      <dsp:nvSpPr>
        <dsp:cNvPr id="0" name=""/>
        <dsp:cNvSpPr/>
      </dsp:nvSpPr>
      <dsp:spPr>
        <a:xfrm>
          <a:off x="858785" y="42599"/>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4FA236-49D1-417E-811A-1583E22CD5AF}">
      <dsp:nvSpPr>
        <dsp:cNvPr id="0" name=""/>
        <dsp:cNvSpPr/>
      </dsp:nvSpPr>
      <dsp:spPr>
        <a:xfrm>
          <a:off x="1061175" y="244989"/>
          <a:ext cx="558984" cy="5589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23972C-2E7F-4572-B6AB-4B645328A41F}">
      <dsp:nvSpPr>
        <dsp:cNvPr id="0" name=""/>
        <dsp:cNvSpPr/>
      </dsp:nvSpPr>
      <dsp:spPr>
        <a:xfrm>
          <a:off x="2029072" y="42599"/>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a:t>For each rank k, we reconstruct the image as Ak and compute the </a:t>
          </a:r>
          <a:r>
            <a:rPr lang="en-US" sz="1200" b="1" i="0" kern="1200" baseline="0"/>
            <a:t>relative reconstruction error</a:t>
          </a:r>
          <a:r>
            <a:rPr lang="en-US" sz="1200" b="0" i="0" kern="1200" baseline="0"/>
            <a:t>:</a:t>
          </a:r>
          <a:endParaRPr lang="en-US" sz="1200" kern="1200"/>
        </a:p>
      </dsp:txBody>
      <dsp:txXfrm>
        <a:off x="2029072" y="42599"/>
        <a:ext cx="2271733" cy="963765"/>
      </dsp:txXfrm>
    </dsp:sp>
    <dsp:sp modelId="{77DC4286-1E6B-492A-9C40-37977F7562F3}">
      <dsp:nvSpPr>
        <dsp:cNvPr id="0" name=""/>
        <dsp:cNvSpPr/>
      </dsp:nvSpPr>
      <dsp:spPr>
        <a:xfrm>
          <a:off x="4696638" y="42599"/>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D8CB7F-B48C-4218-BD49-D501F55D37D0}">
      <dsp:nvSpPr>
        <dsp:cNvPr id="0" name=""/>
        <dsp:cNvSpPr/>
      </dsp:nvSpPr>
      <dsp:spPr>
        <a:xfrm>
          <a:off x="4899029" y="244989"/>
          <a:ext cx="558984" cy="5589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C2DC5-7C38-401B-8ADA-74E8B2F9A471}">
      <dsp:nvSpPr>
        <dsp:cNvPr id="0" name=""/>
        <dsp:cNvSpPr/>
      </dsp:nvSpPr>
      <dsp:spPr>
        <a:xfrm>
          <a:off x="5866925" y="42599"/>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a:t>We plot </a:t>
          </a:r>
          <a:r>
            <a:rPr lang="en-US" sz="1200" b="1" i="0" kern="1200" baseline="0"/>
            <a:t>Error(k) on the y-axis</a:t>
          </a:r>
          <a:r>
            <a:rPr lang="en-US" sz="1200" b="0" i="0" kern="1200" baseline="0"/>
            <a:t> and </a:t>
          </a:r>
          <a:r>
            <a:rPr lang="en-US" sz="1200" b="1" i="0" kern="1200" baseline="0"/>
            <a:t>k on the x-axis</a:t>
          </a:r>
          <a:r>
            <a:rPr lang="en-US" sz="1200" b="0" i="0" kern="1200" baseline="0"/>
            <a:t> (for k = 5, 10, 15, …, 100).</a:t>
          </a:r>
          <a:endParaRPr lang="en-US" sz="1200" kern="1200"/>
        </a:p>
      </dsp:txBody>
      <dsp:txXfrm>
        <a:off x="5866925" y="42599"/>
        <a:ext cx="2271733" cy="963765"/>
      </dsp:txXfrm>
    </dsp:sp>
    <dsp:sp modelId="{E00D8DA6-93B2-4504-AC1B-01B01E55041F}">
      <dsp:nvSpPr>
        <dsp:cNvPr id="0" name=""/>
        <dsp:cNvSpPr/>
      </dsp:nvSpPr>
      <dsp:spPr>
        <a:xfrm>
          <a:off x="858785" y="1773038"/>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2B1DAB-F8F4-430A-B676-359DA4C38563}">
      <dsp:nvSpPr>
        <dsp:cNvPr id="0" name=""/>
        <dsp:cNvSpPr/>
      </dsp:nvSpPr>
      <dsp:spPr>
        <a:xfrm>
          <a:off x="1061175" y="1975428"/>
          <a:ext cx="558984" cy="5589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0A5192-5E28-47F8-887D-968A9C26FF99}">
      <dsp:nvSpPr>
        <dsp:cNvPr id="0" name=""/>
        <dsp:cNvSpPr/>
      </dsp:nvSpPr>
      <dsp:spPr>
        <a:xfrm>
          <a:off x="2029072" y="1773038"/>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dirty="0"/>
            <a:t>The curve </a:t>
          </a:r>
          <a:r>
            <a:rPr lang="en-US" sz="1200" b="1" i="0" kern="1200" baseline="0" dirty="0"/>
            <a:t>decreases as k increases</a:t>
          </a:r>
          <a:r>
            <a:rPr lang="en-US" sz="1200" b="0" i="0" kern="1200" baseline="0" dirty="0"/>
            <a:t>, meaning higher rank gives a more accurate reconstruction.</a:t>
          </a:r>
          <a:endParaRPr lang="en-US" sz="1200" kern="1200" dirty="0"/>
        </a:p>
      </dsp:txBody>
      <dsp:txXfrm>
        <a:off x="2029072" y="1773038"/>
        <a:ext cx="2271733" cy="963765"/>
      </dsp:txXfrm>
    </dsp:sp>
    <dsp:sp modelId="{2DEE4586-69CC-476B-A7A9-E8EB95BF6DB2}">
      <dsp:nvSpPr>
        <dsp:cNvPr id="0" name=""/>
        <dsp:cNvSpPr/>
      </dsp:nvSpPr>
      <dsp:spPr>
        <a:xfrm>
          <a:off x="4696638" y="1773038"/>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62B3B8-608D-407C-B94D-94DED60B680E}">
      <dsp:nvSpPr>
        <dsp:cNvPr id="0" name=""/>
        <dsp:cNvSpPr/>
      </dsp:nvSpPr>
      <dsp:spPr>
        <a:xfrm>
          <a:off x="4899029" y="1975428"/>
          <a:ext cx="558984" cy="55898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382EFF-2A1C-4643-9009-3147814EE2DE}">
      <dsp:nvSpPr>
        <dsp:cNvPr id="0" name=""/>
        <dsp:cNvSpPr/>
      </dsp:nvSpPr>
      <dsp:spPr>
        <a:xfrm>
          <a:off x="5866925" y="1773038"/>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dirty="0"/>
            <a:t>Most of the error drops </a:t>
          </a:r>
          <a:r>
            <a:rPr lang="en-US" sz="1200" b="1" i="0" kern="1200" baseline="0" dirty="0"/>
            <a:t>quickly for small k</a:t>
          </a:r>
          <a:r>
            <a:rPr lang="en-US" sz="1200" b="0" i="0" kern="1200" baseline="0" dirty="0"/>
            <a:t>, and then the curve becomes flatter, showing </a:t>
          </a:r>
          <a:r>
            <a:rPr lang="en-US" sz="1200" b="1" i="0" kern="1200" baseline="0" dirty="0"/>
            <a:t>diminishing returns</a:t>
          </a:r>
          <a:r>
            <a:rPr lang="en-US" sz="1200" b="0" i="0" kern="1200" baseline="0" dirty="0"/>
            <a:t> (small improvement for large k).</a:t>
          </a:r>
          <a:endParaRPr lang="en-US" sz="1200" kern="1200" dirty="0"/>
        </a:p>
      </dsp:txBody>
      <dsp:txXfrm>
        <a:off x="5866925" y="1773038"/>
        <a:ext cx="2271733" cy="963765"/>
      </dsp:txXfrm>
    </dsp:sp>
    <dsp:sp modelId="{973BA2ED-D650-46FE-ACBE-81A0C6884B9F}">
      <dsp:nvSpPr>
        <dsp:cNvPr id="0" name=""/>
        <dsp:cNvSpPr/>
      </dsp:nvSpPr>
      <dsp:spPr>
        <a:xfrm>
          <a:off x="858785" y="3503477"/>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EBDA8A-00CB-46CB-91A7-ECD04381C509}">
      <dsp:nvSpPr>
        <dsp:cNvPr id="0" name=""/>
        <dsp:cNvSpPr/>
      </dsp:nvSpPr>
      <dsp:spPr>
        <a:xfrm>
          <a:off x="1061175" y="3705867"/>
          <a:ext cx="558984" cy="55898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71E5E8-659D-4F46-9F1D-61DFD794968D}">
      <dsp:nvSpPr>
        <dsp:cNvPr id="0" name=""/>
        <dsp:cNvSpPr/>
      </dsp:nvSpPr>
      <dsp:spPr>
        <a:xfrm>
          <a:off x="2029072" y="3503477"/>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a:t>This shows that even relatively small k can already give </a:t>
          </a:r>
          <a:r>
            <a:rPr lang="en-US" sz="1200" b="1" i="0" kern="1200" baseline="0"/>
            <a:t>good quality</a:t>
          </a:r>
          <a:r>
            <a:rPr lang="en-US" sz="1200" b="0" i="0" kern="1200" baseline="0"/>
            <a:t>, and very large k is only needed for small extra gains.</a:t>
          </a:r>
          <a:endParaRPr lang="en-US" sz="1200" kern="1200"/>
        </a:p>
      </dsp:txBody>
      <dsp:txXfrm>
        <a:off x="2029072" y="3503477"/>
        <a:ext cx="2271733" cy="963765"/>
      </dsp:txXfrm>
    </dsp:sp>
    <dsp:sp modelId="{FAD76827-E513-4DCC-91B1-727AC8C642BF}">
      <dsp:nvSpPr>
        <dsp:cNvPr id="0" name=""/>
        <dsp:cNvSpPr/>
      </dsp:nvSpPr>
      <dsp:spPr>
        <a:xfrm>
          <a:off x="4696638" y="3503477"/>
          <a:ext cx="963765" cy="96376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9082DC-4795-47BD-BE0B-76DC367193CF}">
      <dsp:nvSpPr>
        <dsp:cNvPr id="0" name=""/>
        <dsp:cNvSpPr/>
      </dsp:nvSpPr>
      <dsp:spPr>
        <a:xfrm>
          <a:off x="4899029" y="3705867"/>
          <a:ext cx="558984" cy="55898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8548B4-3B63-4112-8A6C-A909A2725C55}">
      <dsp:nvSpPr>
        <dsp:cNvPr id="0" name=""/>
        <dsp:cNvSpPr/>
      </dsp:nvSpPr>
      <dsp:spPr>
        <a:xfrm>
          <a:off x="5866925" y="3503477"/>
          <a:ext cx="2271733" cy="963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baseline="0"/>
            <a:t>Overall, the plot illustrates that </a:t>
          </a:r>
          <a:r>
            <a:rPr lang="en-US" sz="1200" b="1" i="0" kern="1200" baseline="0"/>
            <a:t>image quality improves</a:t>
          </a:r>
          <a:r>
            <a:rPr lang="en-US" sz="1200" b="0" i="0" kern="1200" baseline="0"/>
            <a:t> as we keep more singular values, which matches our visual results.</a:t>
          </a:r>
          <a:endParaRPr lang="en-US" sz="1200" kern="1200"/>
        </a:p>
      </dsp:txBody>
      <dsp:txXfrm>
        <a:off x="5866925" y="3503477"/>
        <a:ext cx="2271733" cy="96376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85CA2-CC6D-43A3-9FC1-09EA9D196FDC}"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9C2C9-31F0-4B9C-96D6-90B90D74996B}" type="slidenum">
              <a:rPr lang="en-US" smtClean="0"/>
              <a:t>‹#›</a:t>
            </a:fld>
            <a:endParaRPr lang="en-US"/>
          </a:p>
        </p:txBody>
      </p:sp>
    </p:spTree>
    <p:extLst>
      <p:ext uri="{BB962C8B-B14F-4D97-AF65-F5344CB8AC3E}">
        <p14:creationId xmlns:p14="http://schemas.microsoft.com/office/powerpoint/2010/main" val="2330116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C2C9-31F0-4B9C-96D6-90B90D74996B}" type="slidenum">
              <a:rPr lang="en-US" smtClean="0"/>
              <a:t>1</a:t>
            </a:fld>
            <a:endParaRPr lang="en-US"/>
          </a:p>
        </p:txBody>
      </p:sp>
    </p:spTree>
    <p:extLst>
      <p:ext uri="{BB962C8B-B14F-4D97-AF65-F5344CB8AC3E}">
        <p14:creationId xmlns:p14="http://schemas.microsoft.com/office/powerpoint/2010/main" val="3920309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This slide gives a high-level overview of the project. The overall goal is to use SVD and low-rank approximations to compress images while keeping them visually acceptable. I used a “Landscape Pictures” dataset from Kaggle, which contains natural scenes such as mountains, seas, deserts, and nature views. Each image is resized and converted to a 256 by 256 grayscale matrix so that every image has the same dimensions and is easy to handle numerically. After that, I apply SVD to each image, reconstruct the image using different ranks </a:t>
                </a:r>
                <a:r>
                  <a:rPr lang="en-US" sz="1200" i="0" kern="1200">
                    <a:solidFill>
                      <a:schemeClr val="tx1"/>
                    </a:solidFill>
                    <a:latin typeface="+mn-lt"/>
                    <a:ea typeface="+mn-ea"/>
                    <a:cs typeface="+mn-cs"/>
                  </a:rPr>
                  <a:t>𝑘</a:t>
                </a:r>
                <a:r>
                  <a:rPr lang="en-US" dirty="0"/>
                  <a:t>, and then evaluate the quality using relative reconstruction error and compression ratio. Finally, I compare the original and reconstructed images visually to understand how well the compression works.</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2</a:t>
            </a:fld>
            <a:endParaRPr lang="en-US"/>
          </a:p>
        </p:txBody>
      </p:sp>
    </p:spTree>
    <p:extLst>
      <p:ext uri="{BB962C8B-B14F-4D97-AF65-F5344CB8AC3E}">
        <p14:creationId xmlns:p14="http://schemas.microsoft.com/office/powerpoint/2010/main" val="1611942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C2C9-31F0-4B9C-96D6-90B90D74996B}" type="slidenum">
              <a:rPr lang="en-US" smtClean="0"/>
              <a:t>3</a:t>
            </a:fld>
            <a:endParaRPr lang="en-US"/>
          </a:p>
        </p:txBody>
      </p:sp>
    </p:spTree>
    <p:extLst>
      <p:ext uri="{BB962C8B-B14F-4D97-AF65-F5344CB8AC3E}">
        <p14:creationId xmlns:p14="http://schemas.microsoft.com/office/powerpoint/2010/main" val="3062942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The central problem in this project is: </a:t>
                </a:r>
                <a:r>
                  <a:rPr lang="en-US" b="1" dirty="0"/>
                  <a:t>How well can SVD compress landscape images while maintaining acceptable visual quality?</a:t>
                </a:r>
                <a:r>
                  <a:rPr lang="en-US" dirty="0"/>
                  <a:t> To answer this, I set several objectives. First, I represent each image as a matrix, where each entry corresponds to a grayscale pixel intensity. Then I compute the SVD of each image matrix and build low-rank approximations by keeping only the top </a:t>
                </a:r>
                <a:r>
                  <a:rPr lang="en-US" sz="1200" i="0" kern="1200">
                    <a:solidFill>
                      <a:schemeClr val="tx1"/>
                    </a:solidFill>
                    <a:latin typeface="+mn-lt"/>
                    <a:ea typeface="+mn-ea"/>
                    <a:cs typeface="+mn-cs"/>
                  </a:rPr>
                  <a:t>𝑘</a:t>
                </a:r>
                <a:r>
                  <a:rPr lang="en-US" dirty="0"/>
                  <a:t>singular values. Next, I evaluate the quality of these approximations by computing the relative reconstruction error and the compression ratio. Alongside these quantitative measures, I also perform a visual comparison between the original and the rank-</a:t>
                </a:r>
                <a:r>
                  <a:rPr lang="en-US" sz="1200" i="0" kern="1200">
                    <a:solidFill>
                      <a:schemeClr val="tx1"/>
                    </a:solidFill>
                    <a:latin typeface="+mn-lt"/>
                    <a:ea typeface="+mn-ea"/>
                    <a:cs typeface="+mn-cs"/>
                  </a:rPr>
                  <a:t>𝑘</a:t>
                </a:r>
                <a:r>
                  <a:rPr lang="en-US" dirty="0"/>
                  <a:t> images. Finally, I analyze these results to understand the trade-off between image quality and compression and to identify suitable values of </a:t>
                </a:r>
                <a:r>
                  <a:rPr lang="en-US" sz="1200" i="0" kern="1200">
                    <a:solidFill>
                      <a:schemeClr val="tx1"/>
                    </a:solidFill>
                    <a:latin typeface="+mn-lt"/>
                    <a:ea typeface="+mn-ea"/>
                    <a:cs typeface="+mn-cs"/>
                  </a:rPr>
                  <a:t>𝑘</a:t>
                </a:r>
                <a:r>
                  <a:rPr lang="en-US" dirty="0"/>
                  <a:t>.</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4</a:t>
            </a:fld>
            <a:endParaRPr lang="en-US"/>
          </a:p>
        </p:txBody>
      </p:sp>
    </p:spTree>
    <p:extLst>
      <p:ext uri="{BB962C8B-B14F-4D97-AF65-F5344CB8AC3E}">
        <p14:creationId xmlns:p14="http://schemas.microsoft.com/office/powerpoint/2010/main" val="3898113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C2C9-31F0-4B9C-96D6-90B90D74996B}" type="slidenum">
              <a:rPr lang="en-US" smtClean="0"/>
              <a:t>5</a:t>
            </a:fld>
            <a:endParaRPr lang="en-US"/>
          </a:p>
        </p:txBody>
      </p:sp>
    </p:spTree>
    <p:extLst>
      <p:ext uri="{BB962C8B-B14F-4D97-AF65-F5344CB8AC3E}">
        <p14:creationId xmlns:p14="http://schemas.microsoft.com/office/powerpoint/2010/main" val="4034340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fld id="{C069C2C9-31F0-4B9C-96D6-90B90D74996B}" type="slidenum">
              <a:rPr lang="en-US" smtClean="0"/>
              <a:t>6</a:t>
            </a:fld>
            <a:endParaRPr lang="en-US"/>
          </a:p>
        </p:txBody>
      </p:sp>
    </p:spTree>
    <p:extLst>
      <p:ext uri="{BB962C8B-B14F-4D97-AF65-F5344CB8AC3E}">
        <p14:creationId xmlns:p14="http://schemas.microsoft.com/office/powerpoint/2010/main" val="2775000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In this slide, I summarize the mathematical idea behind SVD. Given an image matrix </a:t>
                </a:r>
                <a:r>
                  <a:rPr lang="en-US" sz="1200" i="0" kern="1200">
                    <a:solidFill>
                      <a:schemeClr val="tx1"/>
                    </a:solidFill>
                    <a:latin typeface="+mn-lt"/>
                    <a:ea typeface="+mn-ea"/>
                    <a:cs typeface="+mn-cs"/>
                  </a:rPr>
                  <a:t>𝐴</a:t>
                </a:r>
                <a:r>
                  <a:rPr lang="en-US" dirty="0"/>
                  <a:t>of size </a:t>
                </a:r>
                <a:r>
                  <a:rPr lang="en-US" sz="1200" i="0" kern="1200">
                    <a:solidFill>
                      <a:schemeClr val="tx1"/>
                    </a:solidFill>
                    <a:latin typeface="+mn-lt"/>
                    <a:ea typeface="+mn-ea"/>
                    <a:cs typeface="+mn-cs"/>
                  </a:rPr>
                  <a:t>𝑚×𝑛</a:t>
                </a:r>
                <a:r>
                  <a:rPr lang="en-US" dirty="0"/>
                  <a:t>, the Singular Value Decomposition factors it as </a:t>
                </a:r>
                <a:r>
                  <a:rPr lang="en-US" sz="1200" i="0" kern="1200">
                    <a:solidFill>
                      <a:schemeClr val="tx1"/>
                    </a:solidFill>
                    <a:latin typeface="+mn-lt"/>
                    <a:ea typeface="+mn-ea"/>
                    <a:cs typeface="+mn-cs"/>
                  </a:rPr>
                  <a:t>𝐴=𝑈</a:t>
                </a:r>
                <a:r>
                  <a:rPr lang="el-GR" sz="1200" i="0" kern="1200">
                    <a:solidFill>
                      <a:schemeClr val="tx1"/>
                    </a:solidFill>
                    <a:latin typeface="+mn-lt"/>
                    <a:ea typeface="+mn-ea"/>
                    <a:cs typeface="+mn-cs"/>
                  </a:rPr>
                  <a:t>Σ</a:t>
                </a:r>
                <a:r>
                  <a:rPr lang="ar-AE" sz="1200" i="0" kern="1200">
                    <a:solidFill>
                      <a:schemeClr val="tx1"/>
                    </a:solidFill>
                    <a:latin typeface="+mn-lt"/>
                    <a:ea typeface="+mn-ea"/>
                    <a:cs typeface="+mn-cs"/>
                  </a:rPr>
                  <a:t>𝑉^𝑇</a:t>
                </a:r>
                <a:r>
                  <a:rPr lang="ar-AE" dirty="0"/>
                  <a:t>. </a:t>
                </a:r>
                <a:r>
                  <a:rPr lang="en-US" dirty="0"/>
                  <a:t>Here, </a:t>
                </a:r>
                <a:r>
                  <a:rPr lang="en-US" sz="1200" i="0" kern="1200">
                    <a:solidFill>
                      <a:schemeClr val="tx1"/>
                    </a:solidFill>
                    <a:latin typeface="+mn-lt"/>
                    <a:ea typeface="+mn-ea"/>
                    <a:cs typeface="+mn-cs"/>
                  </a:rPr>
                  <a:t>𝑈</a:t>
                </a:r>
                <a:r>
                  <a:rPr lang="en-US" dirty="0"/>
                  <a:t>and </a:t>
                </a:r>
                <a:r>
                  <a:rPr lang="en-US" sz="1200" i="0" kern="1200">
                    <a:solidFill>
                      <a:schemeClr val="tx1"/>
                    </a:solidFill>
                    <a:latin typeface="+mn-lt"/>
                    <a:ea typeface="+mn-ea"/>
                    <a:cs typeface="+mn-cs"/>
                  </a:rPr>
                  <a:t>𝑉</a:t>
                </a:r>
                <a:r>
                  <a:rPr lang="en-US" dirty="0"/>
                  <a:t>are orthogonal matrices whose columns are the left and right singular vectors, and </a:t>
                </a:r>
                <a:r>
                  <a:rPr lang="el-GR" sz="1200" i="0" kern="1200">
                    <a:solidFill>
                      <a:schemeClr val="tx1"/>
                    </a:solidFill>
                    <a:latin typeface="+mn-lt"/>
                    <a:ea typeface="+mn-ea"/>
                    <a:cs typeface="+mn-cs"/>
                  </a:rPr>
                  <a:t>Σ</a:t>
                </a:r>
                <a:r>
                  <a:rPr lang="en-US" dirty="0"/>
                  <a:t>is a diagonal matrix containing the singular values </a:t>
                </a:r>
                <a:r>
                  <a:rPr lang="ar-AE" sz="1200" i="0" kern="1200">
                    <a:solidFill>
                      <a:schemeClr val="tx1"/>
                    </a:solidFill>
                    <a:latin typeface="+mn-lt"/>
                    <a:ea typeface="+mn-ea"/>
                    <a:cs typeface="+mn-cs"/>
                  </a:rPr>
                  <a:t>𝜎_1≥𝜎_2≥⋯≥0</a:t>
                </a:r>
                <a:r>
                  <a:rPr lang="ar-AE" dirty="0"/>
                  <a:t>. </a:t>
                </a:r>
                <a:r>
                  <a:rPr lang="en-US" dirty="0"/>
                  <a:t>Each singular value measures how important its corresponding singular vectors are in representing the structure of the matrix. Conceptually, SVD expresses the image as a sum of simple rank-1 matrices, ordered from the most important component to the least important one. This structure is what allows us to build compressed approximations by ignoring the smaller singular values.</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8</a:t>
            </a:fld>
            <a:endParaRPr lang="en-US"/>
          </a:p>
        </p:txBody>
      </p:sp>
    </p:spTree>
    <p:extLst>
      <p:ext uri="{BB962C8B-B14F-4D97-AF65-F5344CB8AC3E}">
        <p14:creationId xmlns:p14="http://schemas.microsoft.com/office/powerpoint/2010/main" val="1908600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Using SVD, we can create a </a:t>
                </a:r>
                <a:r>
                  <a:rPr lang="en-US" b="1" dirty="0"/>
                  <a:t>rank-</a:t>
                </a:r>
                <a:r>
                  <a:rPr lang="en-US" sz="1200" i="0" kern="1200">
                    <a:solidFill>
                      <a:schemeClr val="tx1"/>
                    </a:solidFill>
                    <a:latin typeface="+mn-lt"/>
                    <a:ea typeface="+mn-ea"/>
                    <a:cs typeface="+mn-cs"/>
                  </a:rPr>
                  <a:t>𝑘</a:t>
                </a:r>
                <a:r>
                  <a:rPr lang="en-US" b="1" dirty="0"/>
                  <a:t> approximation</a:t>
                </a:r>
                <a:r>
                  <a:rPr lang="en-US" dirty="0"/>
                  <a:t> of the image by keeping only the top </a:t>
                </a:r>
                <a:r>
                  <a:rPr lang="en-US" sz="1200" i="0" kern="1200">
                    <a:solidFill>
                      <a:schemeClr val="tx1"/>
                    </a:solidFill>
                    <a:latin typeface="+mn-lt"/>
                    <a:ea typeface="+mn-ea"/>
                    <a:cs typeface="+mn-cs"/>
                  </a:rPr>
                  <a:t>𝑘</a:t>
                </a:r>
                <a:r>
                  <a:rPr lang="en-US" dirty="0"/>
                  <a:t>singular values and their corresponding singular vectors. This gives us a matrix </a:t>
                </a:r>
                <a:r>
                  <a:rPr lang="ar-AE" sz="1200" i="0" kern="1200">
                    <a:solidFill>
                      <a:schemeClr val="tx1"/>
                    </a:solidFill>
                    <a:latin typeface="+mn-lt"/>
                    <a:ea typeface="+mn-ea"/>
                    <a:cs typeface="+mn-cs"/>
                  </a:rPr>
                  <a:t>𝐴_𝑘=𝑈_𝑘 </a:t>
                </a:r>
                <a:r>
                  <a:rPr lang="el-GR" sz="1200" i="0" kern="1200">
                    <a:solidFill>
                      <a:schemeClr val="tx1"/>
                    </a:solidFill>
                    <a:latin typeface="+mn-lt"/>
                    <a:ea typeface="+mn-ea"/>
                    <a:cs typeface="+mn-cs"/>
                  </a:rPr>
                  <a:t>Σ</a:t>
                </a:r>
                <a:r>
                  <a:rPr lang="ar-AE" sz="1200" i="0" kern="1200">
                    <a:solidFill>
                      <a:schemeClr val="tx1"/>
                    </a:solidFill>
                    <a:latin typeface="+mn-lt"/>
                    <a:ea typeface="+mn-ea"/>
                    <a:cs typeface="+mn-cs"/>
                  </a:rPr>
                  <a:t>_𝑘 𝑉_𝑘^𝑇</a:t>
                </a:r>
                <a:r>
                  <a:rPr lang="ar-AE" dirty="0"/>
                  <a:t>, </a:t>
                </a:r>
                <a:r>
                  <a:rPr lang="en-US" dirty="0"/>
                  <a:t>where </a:t>
                </a:r>
                <a:r>
                  <a:rPr lang="ar-AE" sz="1200" i="0" kern="1200">
                    <a:solidFill>
                      <a:schemeClr val="tx1"/>
                    </a:solidFill>
                    <a:latin typeface="+mn-lt"/>
                    <a:ea typeface="+mn-ea"/>
                    <a:cs typeface="+mn-cs"/>
                  </a:rPr>
                  <a:t>𝑈_𝑘</a:t>
                </a:r>
                <a:r>
                  <a:rPr lang="ar-AE" dirty="0"/>
                  <a:t>, </a:t>
                </a:r>
                <a:r>
                  <a:rPr lang="el-GR" sz="1200" i="0" kern="1200">
                    <a:solidFill>
                      <a:schemeClr val="tx1"/>
                    </a:solidFill>
                    <a:latin typeface="+mn-lt"/>
                    <a:ea typeface="+mn-ea"/>
                    <a:cs typeface="+mn-cs"/>
                  </a:rPr>
                  <a:t>Σ</a:t>
                </a:r>
                <a:r>
                  <a:rPr lang="ar-AE" sz="1200" i="0" kern="1200">
                    <a:solidFill>
                      <a:schemeClr val="tx1"/>
                    </a:solidFill>
                    <a:latin typeface="+mn-lt"/>
                    <a:ea typeface="+mn-ea"/>
                    <a:cs typeface="+mn-cs"/>
                  </a:rPr>
                  <a:t>_𝑘</a:t>
                </a:r>
                <a:r>
                  <a:rPr lang="ar-AE" dirty="0"/>
                  <a:t>, </a:t>
                </a:r>
                <a:r>
                  <a:rPr lang="en-US" dirty="0"/>
                  <a:t>and </a:t>
                </a:r>
                <a:r>
                  <a:rPr lang="ar-AE" sz="1200" i="0" kern="1200">
                    <a:solidFill>
                      <a:schemeClr val="tx1"/>
                    </a:solidFill>
                    <a:latin typeface="+mn-lt"/>
                    <a:ea typeface="+mn-ea"/>
                    <a:cs typeface="+mn-cs"/>
                  </a:rPr>
                  <a:t>𝑉_𝑘</a:t>
                </a:r>
                <a:r>
                  <a:rPr lang="en-US" dirty="0"/>
                  <a:t>contain only the first </a:t>
                </a:r>
                <a:r>
                  <a:rPr lang="en-US" sz="1200" i="0" kern="1200">
                    <a:solidFill>
                      <a:schemeClr val="tx1"/>
                    </a:solidFill>
                    <a:latin typeface="+mn-lt"/>
                    <a:ea typeface="+mn-ea"/>
                    <a:cs typeface="+mn-cs"/>
                  </a:rPr>
                  <a:t>𝑘</a:t>
                </a:r>
                <a:r>
                  <a:rPr lang="en-US" dirty="0"/>
                  <a:t>components. Instead of storing all </a:t>
                </a:r>
                <a:r>
                  <a:rPr lang="en-US" sz="1200" i="0" kern="1200">
                    <a:solidFill>
                      <a:schemeClr val="tx1"/>
                    </a:solidFill>
                    <a:latin typeface="+mn-lt"/>
                    <a:ea typeface="+mn-ea"/>
                    <a:cs typeface="+mn-cs"/>
                  </a:rPr>
                  <a:t>𝑚×𝑛</a:t>
                </a:r>
                <a:r>
                  <a:rPr lang="en-US" dirty="0"/>
                  <a:t>pixel values, we now store the entries in </a:t>
                </a:r>
                <a:r>
                  <a:rPr lang="ar-AE" sz="1200" i="0" kern="1200">
                    <a:solidFill>
                      <a:schemeClr val="tx1"/>
                    </a:solidFill>
                    <a:latin typeface="+mn-lt"/>
                    <a:ea typeface="+mn-ea"/>
                    <a:cs typeface="+mn-cs"/>
                  </a:rPr>
                  <a:t>𝑈_𝑘</a:t>
                </a:r>
                <a:r>
                  <a:rPr lang="ar-AE" dirty="0"/>
                  <a:t>, </a:t>
                </a:r>
                <a:r>
                  <a:rPr lang="el-GR" sz="1200" i="0" kern="1200">
                    <a:solidFill>
                      <a:schemeClr val="tx1"/>
                    </a:solidFill>
                    <a:latin typeface="+mn-lt"/>
                    <a:ea typeface="+mn-ea"/>
                    <a:cs typeface="+mn-cs"/>
                  </a:rPr>
                  <a:t>Σ</a:t>
                </a:r>
                <a:r>
                  <a:rPr lang="ar-AE" sz="1200" i="0" kern="1200">
                    <a:solidFill>
                      <a:schemeClr val="tx1"/>
                    </a:solidFill>
                    <a:latin typeface="+mn-lt"/>
                    <a:ea typeface="+mn-ea"/>
                    <a:cs typeface="+mn-cs"/>
                  </a:rPr>
                  <a:t>_𝑘</a:t>
                </a:r>
                <a:r>
                  <a:rPr lang="ar-AE" dirty="0"/>
                  <a:t>, </a:t>
                </a:r>
                <a:r>
                  <a:rPr lang="en-US" dirty="0"/>
                  <a:t>and </a:t>
                </a:r>
                <a:r>
                  <a:rPr lang="ar-AE" sz="1200" i="0" kern="1200">
                    <a:solidFill>
                      <a:schemeClr val="tx1"/>
                    </a:solidFill>
                    <a:latin typeface="+mn-lt"/>
                    <a:ea typeface="+mn-ea"/>
                    <a:cs typeface="+mn-cs"/>
                  </a:rPr>
                  <a:t>𝑉_𝑘</a:t>
                </a:r>
                <a:r>
                  <a:rPr lang="ar-AE" dirty="0"/>
                  <a:t>, </a:t>
                </a:r>
                <a:r>
                  <a:rPr lang="en-US" dirty="0"/>
                  <a:t>which is many fewer numbers when </a:t>
                </a:r>
                <a:r>
                  <a:rPr lang="en-US" sz="1200" i="0" kern="1200">
                    <a:solidFill>
                      <a:schemeClr val="tx1"/>
                    </a:solidFill>
                    <a:latin typeface="+mn-lt"/>
                    <a:ea typeface="+mn-ea"/>
                    <a:cs typeface="+mn-cs"/>
                  </a:rPr>
                  <a:t>𝑘</a:t>
                </a:r>
                <a:r>
                  <a:rPr lang="en-US" dirty="0"/>
                  <a:t>is small. The </a:t>
                </a:r>
                <a:r>
                  <a:rPr lang="en-US" b="1" dirty="0"/>
                  <a:t>compression ratio</a:t>
                </a:r>
                <a:r>
                  <a:rPr lang="en-US" dirty="0"/>
                  <a:t> is defined as the ratio of the original number of entries to the number of entries in the compressed representation. A small value of </a:t>
                </a:r>
                <a:r>
                  <a:rPr lang="en-US" sz="1200" i="0" kern="1200">
                    <a:solidFill>
                      <a:schemeClr val="tx1"/>
                    </a:solidFill>
                    <a:latin typeface="+mn-lt"/>
                    <a:ea typeface="+mn-ea"/>
                    <a:cs typeface="+mn-cs"/>
                  </a:rPr>
                  <a:t>𝑘</a:t>
                </a:r>
                <a:r>
                  <a:rPr lang="en-US" dirty="0"/>
                  <a:t>gives a high compression ratio, meaning strong compression but potentially lower quality. A larger value of </a:t>
                </a:r>
                <a:r>
                  <a:rPr lang="en-US" sz="1200" i="0" kern="1200">
                    <a:solidFill>
                      <a:schemeClr val="tx1"/>
                    </a:solidFill>
                    <a:latin typeface="+mn-lt"/>
                    <a:ea typeface="+mn-ea"/>
                    <a:cs typeface="+mn-cs"/>
                  </a:rPr>
                  <a:t>𝑘</a:t>
                </a:r>
                <a:r>
                  <a:rPr lang="en-US" dirty="0"/>
                  <a:t>reduces the compression benefit but improves the visual quality of the reconstructed image. The project explores this balance.</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9</a:t>
            </a:fld>
            <a:endParaRPr lang="en-US"/>
          </a:p>
        </p:txBody>
      </p:sp>
    </p:spTree>
    <p:extLst>
      <p:ext uri="{BB962C8B-B14F-4D97-AF65-F5344CB8AC3E}">
        <p14:creationId xmlns:p14="http://schemas.microsoft.com/office/powerpoint/2010/main" val="1960719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This slide outlines the main steps of the implementation. First, I load the landscape images from the dataset and select a subset to work with. Second, I preprocess each image by resizing it to 256×256 pixels and converting it to grayscale, turning it into a clean 2D matrix. Third, I apply SVD to each matrix to obtain </a:t>
                </a:r>
                <a:r>
                  <a:rPr lang="en-US" sz="1200" i="0" kern="1200">
                    <a:solidFill>
                      <a:schemeClr val="tx1"/>
                    </a:solidFill>
                    <a:latin typeface="+mn-lt"/>
                    <a:ea typeface="+mn-ea"/>
                    <a:cs typeface="+mn-cs"/>
                  </a:rPr>
                  <a:t>𝑈</a:t>
                </a:r>
                <a:r>
                  <a:rPr lang="en-US" dirty="0"/>
                  <a:t>, </a:t>
                </a:r>
                <a:r>
                  <a:rPr lang="el-GR" sz="1200" i="0" kern="1200">
                    <a:solidFill>
                      <a:schemeClr val="tx1"/>
                    </a:solidFill>
                    <a:latin typeface="+mn-lt"/>
                    <a:ea typeface="+mn-ea"/>
                    <a:cs typeface="+mn-cs"/>
                  </a:rPr>
                  <a:t>Σ</a:t>
                </a:r>
                <a:r>
                  <a:rPr lang="el-GR" dirty="0"/>
                  <a:t>, </a:t>
                </a:r>
                <a:r>
                  <a:rPr lang="en-US" dirty="0"/>
                  <a:t>and </a:t>
                </a:r>
                <a:r>
                  <a:rPr lang="ar-AE" sz="1200" i="0" kern="1200">
                    <a:solidFill>
                      <a:schemeClr val="tx1"/>
                    </a:solidFill>
                    <a:latin typeface="+mn-lt"/>
                    <a:ea typeface="+mn-ea"/>
                    <a:cs typeface="+mn-cs"/>
                  </a:rPr>
                  <a:t>𝑉^𝑇</a:t>
                </a:r>
                <a:r>
                  <a:rPr lang="ar-AE" dirty="0"/>
                  <a:t>. </a:t>
                </a:r>
                <a:r>
                  <a:rPr lang="en-US" dirty="0"/>
                  <a:t>Fourth, for a range of ranks </a:t>
                </a:r>
                <a:r>
                  <a:rPr lang="en-US" sz="1200" i="0" kern="1200">
                    <a:solidFill>
                      <a:schemeClr val="tx1"/>
                    </a:solidFill>
                    <a:latin typeface="+mn-lt"/>
                    <a:ea typeface="+mn-ea"/>
                    <a:cs typeface="+mn-cs"/>
                  </a:rPr>
                  <a:t>𝑘</a:t>
                </a:r>
                <a:r>
                  <a:rPr lang="en-US" dirty="0"/>
                  <a:t>, I reconstruct the rank-</a:t>
                </a:r>
                <a:r>
                  <a:rPr lang="en-US" sz="1200" i="0" kern="1200">
                    <a:solidFill>
                      <a:schemeClr val="tx1"/>
                    </a:solidFill>
                    <a:latin typeface="+mn-lt"/>
                    <a:ea typeface="+mn-ea"/>
                    <a:cs typeface="+mn-cs"/>
                  </a:rPr>
                  <a:t>𝑘</a:t>
                </a:r>
                <a:r>
                  <a:rPr lang="en-US" dirty="0"/>
                  <a:t> image, clip the pixel values to a valid range, and calculate the relative reconstruction error and the compression ratio. Finally, I visualize the results by displaying the original and the reconstructed images side by side, and by plotting error versus </a:t>
                </a:r>
                <a:r>
                  <a:rPr lang="en-US" sz="1200" i="0" kern="1200">
                    <a:solidFill>
                      <a:schemeClr val="tx1"/>
                    </a:solidFill>
                    <a:latin typeface="+mn-lt"/>
                    <a:ea typeface="+mn-ea"/>
                    <a:cs typeface="+mn-cs"/>
                  </a:rPr>
                  <a:t>𝑘</a:t>
                </a:r>
                <a:r>
                  <a:rPr lang="en-US" dirty="0"/>
                  <a:t>and compression ratio versus </a:t>
                </a:r>
                <a:r>
                  <a:rPr lang="en-US" sz="1200" i="0" kern="1200">
                    <a:solidFill>
                      <a:schemeClr val="tx1"/>
                    </a:solidFill>
                    <a:latin typeface="+mn-lt"/>
                    <a:ea typeface="+mn-ea"/>
                    <a:cs typeface="+mn-cs"/>
                  </a:rPr>
                  <a:t>𝑘</a:t>
                </a:r>
                <a:r>
                  <a:rPr lang="en-US" dirty="0"/>
                  <a:t>. This workflow connects the theory of SVD with practical experiments on real images.</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10</a:t>
            </a:fld>
            <a:endParaRPr lang="en-US"/>
          </a:p>
        </p:txBody>
      </p:sp>
    </p:spTree>
    <p:extLst>
      <p:ext uri="{BB962C8B-B14F-4D97-AF65-F5344CB8AC3E}">
        <p14:creationId xmlns:p14="http://schemas.microsoft.com/office/powerpoint/2010/main" val="2147207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After computing the SVD for an image, we obtain a sequence of singular values that usually decrease quite rapidly. If we plot these singular values, we typically see a sharp drop at the beginning followed by a long tail. This suggests that a few large singular values capture most of the important structure in the image, while the smaller ones contribute mainly to fine details and noise. To quantify this, we define the </a:t>
                </a:r>
                <a:r>
                  <a:rPr lang="en-US" b="1" dirty="0"/>
                  <a:t>cumulative energy</a:t>
                </a:r>
                <a:r>
                  <a:rPr lang="en-US" dirty="0"/>
                  <a:t> </a:t>
                </a:r>
                <a:r>
                  <a:rPr lang="en-US" sz="1200" i="0" kern="1200">
                    <a:solidFill>
                      <a:schemeClr val="tx1"/>
                    </a:solidFill>
                    <a:latin typeface="+mn-lt"/>
                    <a:ea typeface="+mn-ea"/>
                    <a:cs typeface="+mn-cs"/>
                  </a:rPr>
                  <a:t>𝐸</a:t>
                </a:r>
                <a:r>
                  <a:rPr lang="ar-AE" sz="1200" i="0" kern="1200">
                    <a:solidFill>
                      <a:schemeClr val="tx1"/>
                    </a:solidFill>
                    <a:latin typeface="+mn-lt"/>
                    <a:ea typeface="+mn-ea"/>
                    <a:cs typeface="+mn-cs"/>
                  </a:rPr>
                  <a:t>(𝑘)</a:t>
                </a:r>
                <a:r>
                  <a:rPr lang="en-US" dirty="0"/>
                  <a:t>as the fraction of the total squared singular values explained by the first </a:t>
                </a:r>
                <a:r>
                  <a:rPr lang="en-US" sz="1200" i="0" kern="1200">
                    <a:solidFill>
                      <a:schemeClr val="tx1"/>
                    </a:solidFill>
                    <a:latin typeface="+mn-lt"/>
                    <a:ea typeface="+mn-ea"/>
                    <a:cs typeface="+mn-cs"/>
                  </a:rPr>
                  <a:t>𝑘</a:t>
                </a:r>
                <a:r>
                  <a:rPr lang="en-US" dirty="0"/>
                  <a:t>terms. The energy curve, </a:t>
                </a:r>
                <a:r>
                  <a:rPr lang="en-US" sz="1200" i="0" kern="1200">
                    <a:solidFill>
                      <a:schemeClr val="tx1"/>
                    </a:solidFill>
                    <a:latin typeface="+mn-lt"/>
                    <a:ea typeface="+mn-ea"/>
                    <a:cs typeface="+mn-cs"/>
                  </a:rPr>
                  <a:t>𝐸</a:t>
                </a:r>
                <a:r>
                  <a:rPr lang="ar-AE" sz="1200" i="0" kern="1200">
                    <a:solidFill>
                      <a:schemeClr val="tx1"/>
                    </a:solidFill>
                    <a:latin typeface="+mn-lt"/>
                    <a:ea typeface="+mn-ea"/>
                    <a:cs typeface="+mn-cs"/>
                  </a:rPr>
                  <a:t>(𝑘)</a:t>
                </a:r>
                <a:r>
                  <a:rPr lang="ar-AE" dirty="0"/>
                  <a:t>, </a:t>
                </a:r>
                <a:r>
                  <a:rPr lang="en-US" dirty="0"/>
                  <a:t>tends to grow quickly and often reaches 90–99% with relatively small </a:t>
                </a:r>
                <a:r>
                  <a:rPr lang="en-US" sz="1200" i="0" kern="1200">
                    <a:solidFill>
                      <a:schemeClr val="tx1"/>
                    </a:solidFill>
                    <a:latin typeface="+mn-lt"/>
                    <a:ea typeface="+mn-ea"/>
                    <a:cs typeface="+mn-cs"/>
                  </a:rPr>
                  <a:t>𝑘</a:t>
                </a:r>
                <a:r>
                  <a:rPr lang="en-US" dirty="0"/>
                  <a:t>. This gives us a practical way to choose </a:t>
                </a:r>
                <a:r>
                  <a:rPr lang="en-US" sz="1200" i="0" kern="1200">
                    <a:solidFill>
                      <a:schemeClr val="tx1"/>
                    </a:solidFill>
                    <a:latin typeface="+mn-lt"/>
                    <a:ea typeface="+mn-ea"/>
                    <a:cs typeface="+mn-cs"/>
                  </a:rPr>
                  <a:t>𝑘</a:t>
                </a:r>
                <a:r>
                  <a:rPr lang="en-US" dirty="0"/>
                  <a:t>: we can select the smallest </a:t>
                </a:r>
                <a:r>
                  <a:rPr lang="en-US" sz="1200" i="0" kern="1200">
                    <a:solidFill>
                      <a:schemeClr val="tx1"/>
                    </a:solidFill>
                    <a:latin typeface="+mn-lt"/>
                    <a:ea typeface="+mn-ea"/>
                    <a:cs typeface="+mn-cs"/>
                  </a:rPr>
                  <a:t>𝑘</a:t>
                </a:r>
                <a:r>
                  <a:rPr lang="en-US" dirty="0"/>
                  <a:t>that captures a desired percentage of energy, which corresponds to preserving most of the visual information while still achieving compression.</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11</a:t>
            </a:fld>
            <a:endParaRPr lang="en-US"/>
          </a:p>
        </p:txBody>
      </p:sp>
    </p:spTree>
    <p:extLst>
      <p:ext uri="{BB962C8B-B14F-4D97-AF65-F5344CB8AC3E}">
        <p14:creationId xmlns:p14="http://schemas.microsoft.com/office/powerpoint/2010/main" val="2903369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Here I show a visual comparison between the original grayscale image and its SVD-based reconstructions at different ranks. The first picture is the original image, with full detail and no compression. The next ones are reconstructions using </a:t>
                </a:r>
                <a:r>
                  <a:rPr lang="en-US" sz="1200" i="0" kern="1200">
                    <a:solidFill>
                      <a:schemeClr val="tx1"/>
                    </a:solidFill>
                    <a:latin typeface="+mn-lt"/>
                    <a:ea typeface="+mn-ea"/>
                    <a:cs typeface="+mn-cs"/>
                  </a:rPr>
                  <a:t>𝑘=5</a:t>
                </a:r>
                <a:r>
                  <a:rPr lang="en-US" dirty="0"/>
                  <a:t>, </a:t>
                </a:r>
                <a:r>
                  <a:rPr lang="en-US" sz="1200" i="0" kern="1200">
                    <a:solidFill>
                      <a:schemeClr val="tx1"/>
                    </a:solidFill>
                    <a:latin typeface="+mn-lt"/>
                    <a:ea typeface="+mn-ea"/>
                    <a:cs typeface="+mn-cs"/>
                  </a:rPr>
                  <a:t>𝑘=20</a:t>
                </a:r>
                <a:r>
                  <a:rPr lang="en-US" dirty="0"/>
                  <a:t>, </a:t>
                </a:r>
                <a:r>
                  <a:rPr lang="en-US" sz="1200" i="0" kern="1200">
                    <a:solidFill>
                      <a:schemeClr val="tx1"/>
                    </a:solidFill>
                    <a:latin typeface="+mn-lt"/>
                    <a:ea typeface="+mn-ea"/>
                    <a:cs typeface="+mn-cs"/>
                  </a:rPr>
                  <a:t>𝑘=50</a:t>
                </a:r>
                <a:r>
                  <a:rPr lang="en-US" dirty="0"/>
                  <a:t>, and </a:t>
                </a:r>
                <a:r>
                  <a:rPr lang="en-US" sz="1200" i="0" kern="1200">
                    <a:solidFill>
                      <a:schemeClr val="tx1"/>
                    </a:solidFill>
                    <a:latin typeface="+mn-lt"/>
                    <a:ea typeface="+mn-ea"/>
                    <a:cs typeface="+mn-cs"/>
                  </a:rPr>
                  <a:t>𝑘=100</a:t>
                </a:r>
                <a:r>
                  <a:rPr lang="en-US" dirty="0"/>
                  <a:t>. At </a:t>
                </a:r>
                <a:r>
                  <a:rPr lang="en-US" sz="1200" i="0" kern="1200">
                    <a:solidFill>
                      <a:schemeClr val="tx1"/>
                    </a:solidFill>
                    <a:latin typeface="+mn-lt"/>
                    <a:ea typeface="+mn-ea"/>
                    <a:cs typeface="+mn-cs"/>
                  </a:rPr>
                  <a:t>𝑘=5</a:t>
                </a:r>
                <a:r>
                  <a:rPr lang="en-US" dirty="0"/>
                  <a:t>, the image appears very blurry and only the broad shapes and regions are visible. At </a:t>
                </a:r>
                <a:r>
                  <a:rPr lang="en-US" sz="1200" i="0" kern="1200">
                    <a:solidFill>
                      <a:schemeClr val="tx1"/>
                    </a:solidFill>
                    <a:latin typeface="+mn-lt"/>
                    <a:ea typeface="+mn-ea"/>
                    <a:cs typeface="+mn-cs"/>
                  </a:rPr>
                  <a:t>𝑘=20</a:t>
                </a:r>
                <a:r>
                  <a:rPr lang="en-US" dirty="0"/>
                  <a:t>, the overall structure is much clearer, and the main objects and edges become recognizable. At </a:t>
                </a:r>
                <a:r>
                  <a:rPr lang="en-US" sz="1200" i="0" kern="1200">
                    <a:solidFill>
                      <a:schemeClr val="tx1"/>
                    </a:solidFill>
                    <a:latin typeface="+mn-lt"/>
                    <a:ea typeface="+mn-ea"/>
                    <a:cs typeface="+mn-cs"/>
                  </a:rPr>
                  <a:t>𝑘=50</a:t>
                </a:r>
                <a:r>
                  <a:rPr lang="en-US" dirty="0"/>
                  <a:t>, most textures and finer details reappear, and the image is already quite close to the original. At </a:t>
                </a:r>
                <a:r>
                  <a:rPr lang="en-US" sz="1200" i="0" kern="1200">
                    <a:solidFill>
                      <a:schemeClr val="tx1"/>
                    </a:solidFill>
                    <a:latin typeface="+mn-lt"/>
                    <a:ea typeface="+mn-ea"/>
                    <a:cs typeface="+mn-cs"/>
                  </a:rPr>
                  <a:t>𝑘=100</a:t>
                </a:r>
                <a:r>
                  <a:rPr lang="en-US" dirty="0"/>
                  <a:t>, the reconstructed image looks almost identical to the original to the naked eye. This slide makes the trade-off very intuitive: smaller </a:t>
                </a:r>
                <a:r>
                  <a:rPr lang="en-US" sz="1200" i="0" kern="1200">
                    <a:solidFill>
                      <a:schemeClr val="tx1"/>
                    </a:solidFill>
                    <a:latin typeface="+mn-lt"/>
                    <a:ea typeface="+mn-ea"/>
                    <a:cs typeface="+mn-cs"/>
                  </a:rPr>
                  <a:t>𝑘</a:t>
                </a:r>
                <a:r>
                  <a:rPr lang="en-US" dirty="0"/>
                  <a:t>yields stronger compression but lower quality, while larger </a:t>
                </a:r>
                <a:r>
                  <a:rPr lang="en-US" sz="1200" i="0" kern="1200">
                    <a:solidFill>
                      <a:schemeClr val="tx1"/>
                    </a:solidFill>
                    <a:latin typeface="+mn-lt"/>
                    <a:ea typeface="+mn-ea"/>
                    <a:cs typeface="+mn-cs"/>
                  </a:rPr>
                  <a:t>𝑘</a:t>
                </a:r>
                <a:r>
                  <a:rPr lang="en-US" dirty="0"/>
                  <a:t>produces higher quality with less compression.</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13</a:t>
            </a:fld>
            <a:endParaRPr lang="en-US"/>
          </a:p>
        </p:txBody>
      </p:sp>
    </p:spTree>
    <p:extLst>
      <p:ext uri="{BB962C8B-B14F-4D97-AF65-F5344CB8AC3E}">
        <p14:creationId xmlns:p14="http://schemas.microsoft.com/office/powerpoint/2010/main" val="515021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This plot shows how the </a:t>
                </a:r>
                <a:r>
                  <a:rPr lang="en-US" b="1" dirty="0"/>
                  <a:t>relative reconstruction error</a:t>
                </a:r>
                <a:r>
                  <a:rPr lang="en-US" dirty="0"/>
                  <a:t> changes as we vary the rank </a:t>
                </a:r>
                <a:r>
                  <a:rPr lang="en-US" sz="1200" i="0" kern="1200">
                    <a:solidFill>
                      <a:schemeClr val="tx1"/>
                    </a:solidFill>
                    <a:latin typeface="+mn-lt"/>
                    <a:ea typeface="+mn-ea"/>
                    <a:cs typeface="+mn-cs"/>
                  </a:rPr>
                  <a:t>𝑘</a:t>
                </a:r>
                <a:r>
                  <a:rPr lang="en-US" dirty="0"/>
                  <a:t>. The horizontal axis represents the rank, and the vertical axis represents the error between the original image and its rank-</a:t>
                </a:r>
                <a:r>
                  <a:rPr lang="en-US" sz="1200" i="0" kern="1200">
                    <a:solidFill>
                      <a:schemeClr val="tx1"/>
                    </a:solidFill>
                    <a:latin typeface="+mn-lt"/>
                    <a:ea typeface="+mn-ea"/>
                    <a:cs typeface="+mn-cs"/>
                  </a:rPr>
                  <a:t>𝑘</a:t>
                </a:r>
                <a:r>
                  <a:rPr lang="en-US" dirty="0"/>
                  <a:t> approximation. When </a:t>
                </a:r>
                <a:r>
                  <a:rPr lang="en-US" sz="1200" i="0" kern="1200">
                    <a:solidFill>
                      <a:schemeClr val="tx1"/>
                    </a:solidFill>
                    <a:latin typeface="+mn-lt"/>
                    <a:ea typeface="+mn-ea"/>
                    <a:cs typeface="+mn-cs"/>
                  </a:rPr>
                  <a:t>𝑘</a:t>
                </a:r>
                <a:r>
                  <a:rPr lang="en-US" dirty="0"/>
                  <a:t>is small, we discard many singular values, so the approximation is rough and the error is relatively high. As </a:t>
                </a:r>
                <a:r>
                  <a:rPr lang="en-US" sz="1200" i="0" kern="1200">
                    <a:solidFill>
                      <a:schemeClr val="tx1"/>
                    </a:solidFill>
                    <a:latin typeface="+mn-lt"/>
                    <a:ea typeface="+mn-ea"/>
                    <a:cs typeface="+mn-cs"/>
                  </a:rPr>
                  <a:t>𝑘</a:t>
                </a:r>
                <a:r>
                  <a:rPr lang="en-US" dirty="0"/>
                  <a:t>increases, we include more information from the SVD, and the reconstructed image becomes closer to the original, causing the error to decrease. The curve usually drops quickly at first and then flattens out, indicating that beyond a certain point, increasing </a:t>
                </a:r>
                <a:r>
                  <a:rPr lang="en-US" sz="1200" i="0" kern="1200">
                    <a:solidFill>
                      <a:schemeClr val="tx1"/>
                    </a:solidFill>
                    <a:latin typeface="+mn-lt"/>
                    <a:ea typeface="+mn-ea"/>
                    <a:cs typeface="+mn-cs"/>
                  </a:rPr>
                  <a:t>𝑘</a:t>
                </a:r>
                <a:r>
                  <a:rPr lang="en-US" dirty="0"/>
                  <a:t>leads to only small improvements in quality. This behavior helps us choose a practical rank where the error is low enough for our application without making the representation unnecessarily large.</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14</a:t>
            </a:fld>
            <a:endParaRPr lang="en-US"/>
          </a:p>
        </p:txBody>
      </p:sp>
    </p:spTree>
    <p:extLst>
      <p:ext uri="{BB962C8B-B14F-4D97-AF65-F5344CB8AC3E}">
        <p14:creationId xmlns:p14="http://schemas.microsoft.com/office/powerpoint/2010/main" val="724874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This slide presents a plot of the </a:t>
                </a:r>
                <a:r>
                  <a:rPr lang="en-US" b="1" dirty="0"/>
                  <a:t>compression ratio</a:t>
                </a:r>
                <a:r>
                  <a:rPr lang="en-US" dirty="0"/>
                  <a:t> as a function of the rank </a:t>
                </a:r>
                <a:r>
                  <a:rPr lang="en-US" sz="1200" i="0" kern="1200">
                    <a:solidFill>
                      <a:schemeClr val="tx1"/>
                    </a:solidFill>
                    <a:latin typeface="+mn-lt"/>
                    <a:ea typeface="+mn-ea"/>
                    <a:cs typeface="+mn-cs"/>
                  </a:rPr>
                  <a:t>𝑘</a:t>
                </a:r>
                <a:r>
                  <a:rPr lang="en-US" dirty="0"/>
                  <a:t>. Again, the horizontal axis is the rank, and the vertical axis is the compression ratio. For very small values of </a:t>
                </a:r>
                <a:r>
                  <a:rPr lang="en-US" sz="1200" i="0" kern="1200">
                    <a:solidFill>
                      <a:schemeClr val="tx1"/>
                    </a:solidFill>
                    <a:latin typeface="+mn-lt"/>
                    <a:ea typeface="+mn-ea"/>
                    <a:cs typeface="+mn-cs"/>
                  </a:rPr>
                  <a:t>𝑘</a:t>
                </a:r>
                <a:r>
                  <a:rPr lang="en-US" dirty="0"/>
                  <a:t>, the compressed representation uses far fewer numbers than the original image, so the compression ratio is high and we gain a lot in terms of storage reduction. However, as </a:t>
                </a:r>
                <a:r>
                  <a:rPr lang="en-US" sz="1200" i="0" kern="1200">
                    <a:solidFill>
                      <a:schemeClr val="tx1"/>
                    </a:solidFill>
                    <a:latin typeface="+mn-lt"/>
                    <a:ea typeface="+mn-ea"/>
                    <a:cs typeface="+mn-cs"/>
                  </a:rPr>
                  <a:t>𝑘</a:t>
                </a:r>
                <a:r>
                  <a:rPr lang="en-US" dirty="0"/>
                  <a:t>increases, the number of stored values grows, so the compression ratio gradually decreases and approaches 1, meaning little or no compression. If we mentally compare this plot with the error plot from the previous slide, we see the inverse relationship: as we decrease error by increasing </a:t>
                </a:r>
                <a:r>
                  <a:rPr lang="en-US" sz="1200" i="0" kern="1200">
                    <a:solidFill>
                      <a:schemeClr val="tx1"/>
                    </a:solidFill>
                    <a:latin typeface="+mn-lt"/>
                    <a:ea typeface="+mn-ea"/>
                    <a:cs typeface="+mn-cs"/>
                  </a:rPr>
                  <a:t>𝑘</a:t>
                </a:r>
                <a:r>
                  <a:rPr lang="en-US" dirty="0"/>
                  <a:t>, we also lose some compression benefit. This quantitative view reinforces the idea that choosing </a:t>
                </a:r>
                <a:r>
                  <a:rPr lang="en-US" sz="1200" i="0" kern="1200">
                    <a:solidFill>
                      <a:schemeClr val="tx1"/>
                    </a:solidFill>
                    <a:latin typeface="+mn-lt"/>
                    <a:ea typeface="+mn-ea"/>
                    <a:cs typeface="+mn-cs"/>
                  </a:rPr>
                  <a:t>𝑘</a:t>
                </a:r>
                <a:r>
                  <a:rPr lang="en-US" dirty="0"/>
                  <a:t>is about finding a balance between acceptable error and useful compression.</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15</a:t>
            </a:fld>
            <a:endParaRPr lang="en-US"/>
          </a:p>
        </p:txBody>
      </p:sp>
    </p:spTree>
    <p:extLst>
      <p:ext uri="{BB962C8B-B14F-4D97-AF65-F5344CB8AC3E}">
        <p14:creationId xmlns:p14="http://schemas.microsoft.com/office/powerpoint/2010/main" val="3707651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I have mainly shown results for a single representative image, but we also want to know whether this behavior holds across the dataset. To check this, I repeat the SVD compression process for multiple landscape images and compute the </a:t>
                </a:r>
                <a:r>
                  <a:rPr lang="en-US" b="1" dirty="0"/>
                  <a:t>average reconstruction error</a:t>
                </a:r>
                <a:r>
                  <a:rPr lang="en-US" dirty="0"/>
                  <a:t> and </a:t>
                </a:r>
                <a:r>
                  <a:rPr lang="en-US" b="1" dirty="0"/>
                  <a:t>average compression ratio</a:t>
                </a:r>
                <a:r>
                  <a:rPr lang="en-US" dirty="0"/>
                  <a:t> at each value of </a:t>
                </a:r>
                <a:r>
                  <a:rPr lang="en-US" sz="1200" i="0" kern="1200">
                    <a:solidFill>
                      <a:schemeClr val="tx1"/>
                    </a:solidFill>
                    <a:latin typeface="+mn-lt"/>
                    <a:ea typeface="+mn-ea"/>
                    <a:cs typeface="+mn-cs"/>
                  </a:rPr>
                  <a:t>𝑘</a:t>
                </a:r>
                <a:r>
                  <a:rPr lang="en-US" dirty="0"/>
                  <a:t>. When I plot these averages, the curves look very similar to the single-image case: error decreases with increasing </a:t>
                </a:r>
                <a:r>
                  <a:rPr lang="en-US" sz="1200" i="0" kern="1200">
                    <a:solidFill>
                      <a:schemeClr val="tx1"/>
                    </a:solidFill>
                    <a:latin typeface="+mn-lt"/>
                    <a:ea typeface="+mn-ea"/>
                    <a:cs typeface="+mn-cs"/>
                  </a:rPr>
                  <a:t>𝑘</a:t>
                </a:r>
                <a:r>
                  <a:rPr lang="en-US" dirty="0"/>
                  <a:t>, and compression ratio also decreases. This consistency suggests that the low-rank structure is a general property of these landscape images, not just an artifact of one special example. It indicates that SVD-based compression can be applied in a similar way to a range of natural scenes.</a:t>
                </a:r>
              </a:p>
              <a:p>
                <a:endParaRPr lang="en-US" dirty="0"/>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16</a:t>
            </a:fld>
            <a:endParaRPr lang="en-US"/>
          </a:p>
        </p:txBody>
      </p:sp>
    </p:spTree>
    <p:extLst>
      <p:ext uri="{BB962C8B-B14F-4D97-AF65-F5344CB8AC3E}">
        <p14:creationId xmlns:p14="http://schemas.microsoft.com/office/powerpoint/2010/main" val="3448131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In this slide, I briefly discuss how SVD-based compression extends to color images. A color image can be viewed as three separate matrices corresponding to the red, green, and blue channels. To compress a color image using SVD, we perform SVD independently on each of these three matrices, reconstruct each channel using the chosen rank </a:t>
                </a:r>
                <a:r>
                  <a:rPr lang="en-US" sz="1200" i="0" kern="1200">
                    <a:solidFill>
                      <a:schemeClr val="tx1"/>
                    </a:solidFill>
                    <a:latin typeface="+mn-lt"/>
                    <a:ea typeface="+mn-ea"/>
                    <a:cs typeface="+mn-cs"/>
                  </a:rPr>
                  <a:t>𝑘</a:t>
                </a:r>
                <a:r>
                  <a:rPr lang="en-US" dirty="0"/>
                  <a:t>, and then combine the reconstructed channels back into a single RGB image. When we use a moderate rank, such as </a:t>
                </a:r>
                <a:r>
                  <a:rPr lang="en-US" sz="1200" i="0" kern="1200">
                    <a:solidFill>
                      <a:schemeClr val="tx1"/>
                    </a:solidFill>
                    <a:latin typeface="+mn-lt"/>
                    <a:ea typeface="+mn-ea"/>
                    <a:cs typeface="+mn-cs"/>
                  </a:rPr>
                  <a:t>𝑘=50</a:t>
                </a:r>
                <a:r>
                  <a:rPr lang="en-US" dirty="0"/>
                  <a:t>, the reconstructed color image still looks very close to the original: the main shapes, edges, and colors are preserved, though some fine textures may be slightly smoother. This extension shows that the same low-rank idea works naturally for both grayscale and full-color images.</a:t>
                </a:r>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17</a:t>
            </a:fld>
            <a:endParaRPr lang="en-US"/>
          </a:p>
        </p:txBody>
      </p:sp>
    </p:spTree>
    <p:extLst>
      <p:ext uri="{BB962C8B-B14F-4D97-AF65-F5344CB8AC3E}">
        <p14:creationId xmlns:p14="http://schemas.microsoft.com/office/powerpoint/2010/main" val="14692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br>
                  <a:rPr lang="en-US" dirty="0"/>
                </a:br>
                <a:endParaRPr lang="en-US" dirty="0"/>
              </a:p>
              <a:p>
                <a:r>
                  <a:rPr lang="en-US" dirty="0"/>
                  <a:t>There are several directions in which this work could be extended. One natural next step is to </a:t>
                </a:r>
                <a:r>
                  <a:rPr lang="en-US" b="1" dirty="0"/>
                  <a:t>compare SVD-based compression</a:t>
                </a:r>
                <a:r>
                  <a:rPr lang="en-US" dirty="0"/>
                  <a:t> directly with standard methods like JPEG, using similar file sizes, to evaluate visual quality and performance in a more realistic setting. Another idea is to test the method on other types of datasets, such as faces or object recognition datasets, and on different image resolutions to see how the required rank changes. We could also explore </a:t>
                </a:r>
                <a:r>
                  <a:rPr lang="en-US" b="1" dirty="0"/>
                  <a:t>adaptive strategies for choosing </a:t>
                </a:r>
                <a14:m>
                  <m:oMath xmlns:m="http://schemas.openxmlformats.org/officeDocument/2006/math">
                    <m:r>
                      <a:rPr lang="en-US" sz="1200" i="1" kern="1200">
                        <a:solidFill>
                          <a:schemeClr val="tx1"/>
                        </a:solidFill>
                        <a:latin typeface="Cambria Math" panose="02040503050406030204" pitchFamily="18" charset="0"/>
                        <a:ea typeface="+mn-ea"/>
                        <a:cs typeface="+mn-cs"/>
                      </a:rPr>
                      <m:t>𝑘</m:t>
                    </m:r>
                  </m:oMath>
                </a14:m>
                <a:r>
                  <a:rPr lang="en-US" dirty="0"/>
                  <a:t>, for example selecting the smallest rank that keeps the reconstruction error below a threshold or achieves a target compression ratio. For very large images, it might be necessary to use more efficient techniques like truncated SVD or even explore modern approaches such as deep learning-based compression.</a:t>
                </a:r>
              </a:p>
              <a:p>
                <a:endParaRPr lang="en-US" dirty="0"/>
              </a:p>
            </p:txBody>
          </p:sp>
        </mc:Choice>
        <mc:Fallback xmlns="">
          <p:sp>
            <p:nvSpPr>
              <p:cNvPr id="3" name="Notes Placeholder 2"/>
              <p:cNvSpPr>
                <a:spLocks noGrp="1"/>
              </p:cNvSpPr>
              <p:nvPr>
                <p:ph type="body" idx="1"/>
              </p:nvPr>
            </p:nvSpPr>
            <p:spPr/>
            <p:txBody>
              <a:bodyPr/>
              <a:lstStyle/>
              <a:p>
                <a:r>
                  <a:rPr lang="en-US" dirty="0"/>
                  <a:t>Here I summarize the main insights from the project. First, the landscape images in this dataset exhibit clear </a:t>
                </a:r>
                <a:r>
                  <a:rPr lang="en-US" b="1" dirty="0"/>
                  <a:t>low-rank structure</a:t>
                </a:r>
                <a:r>
                  <a:rPr lang="en-US" dirty="0"/>
                  <a:t>, which means that a relatively small number of singular values and vectors are sufficient to reconstruct visually good images. Second, there is a clear </a:t>
                </a:r>
                <a:r>
                  <a:rPr lang="en-US" b="1" dirty="0"/>
                  <a:t>trade-off</a:t>
                </a:r>
                <a:r>
                  <a:rPr lang="en-US" dirty="0"/>
                  <a:t>: smaller ranks provide stronger compression but introduce more blur and loss of detail, while larger ranks reduce the error but offer less compression. Third, the </a:t>
                </a:r>
                <a:r>
                  <a:rPr lang="en-US" b="1" dirty="0"/>
                  <a:t>quantitative results</a:t>
                </a:r>
                <a:r>
                  <a:rPr lang="en-US" dirty="0"/>
                  <a:t>—the error curves and compression ratio curves—line up well with the </a:t>
                </a:r>
                <a:r>
                  <a:rPr lang="en-US" b="1" dirty="0"/>
                  <a:t>visual comparisons</a:t>
                </a:r>
                <a:r>
                  <a:rPr lang="en-US" dirty="0"/>
                  <a:t> of the images. Finally, averaging the results over multiple images confirms that this behavior is consistent across the dataset, reinforcing the idea that SVD is a meaningful tool for understanding and compressing natural images.</a:t>
                </a:r>
              </a:p>
              <a:p>
                <a:br>
                  <a:rPr lang="en-US" dirty="0"/>
                </a:br>
                <a:endParaRPr lang="en-US" dirty="0"/>
              </a:p>
              <a:p>
                <a:r>
                  <a:rPr lang="en-US" dirty="0"/>
                  <a:t>There are several directions in which this work could be extended. One natural next step is to </a:t>
                </a:r>
                <a:r>
                  <a:rPr lang="en-US" b="1" dirty="0"/>
                  <a:t>compare SVD-based compression</a:t>
                </a:r>
                <a:r>
                  <a:rPr lang="en-US" dirty="0"/>
                  <a:t> directly with standard methods like JPEG, using similar file sizes, to evaluate visual quality and performance in a more realistic setting. Another idea is to test the method on other types of datasets, such as faces or object recognition datasets, and on different image resolutions to see how the required rank changes. We could also explore </a:t>
                </a:r>
                <a:r>
                  <a:rPr lang="en-US" b="1" dirty="0"/>
                  <a:t>adaptive strategies for choosing </a:t>
                </a:r>
                <a:r>
                  <a:rPr lang="en-US" sz="1200" i="0" kern="1200">
                    <a:solidFill>
                      <a:schemeClr val="tx1"/>
                    </a:solidFill>
                    <a:latin typeface="+mn-lt"/>
                    <a:ea typeface="+mn-ea"/>
                    <a:cs typeface="+mn-cs"/>
                  </a:rPr>
                  <a:t>𝑘</a:t>
                </a:r>
                <a:r>
                  <a:rPr lang="en-US" dirty="0"/>
                  <a:t>, for example selecting the smallest rank that keeps the reconstruction error below a threshold or achieves a target compression ratio. For very large images, it might be necessary to use more efficient techniques like truncated SVD or even explore modern approaches such as deep learning-based compression.</a:t>
                </a:r>
              </a:p>
              <a:p>
                <a:endParaRPr lang="en-US" dirty="0"/>
              </a:p>
            </p:txBody>
          </p:sp>
        </mc:Fallback>
      </mc:AlternateContent>
      <p:sp>
        <p:nvSpPr>
          <p:cNvPr id="4" name="Slide Number Placeholder 3"/>
          <p:cNvSpPr>
            <a:spLocks noGrp="1"/>
          </p:cNvSpPr>
          <p:nvPr>
            <p:ph type="sldNum" sz="quarter" idx="5"/>
          </p:nvPr>
        </p:nvSpPr>
        <p:spPr/>
        <p:txBody>
          <a:bodyPr/>
          <a:lstStyle/>
          <a:p>
            <a:fld id="{C069C2C9-31F0-4B9C-96D6-90B90D74996B}" type="slidenum">
              <a:rPr lang="en-US" smtClean="0"/>
              <a:t>18</a:t>
            </a:fld>
            <a:endParaRPr lang="en-US"/>
          </a:p>
        </p:txBody>
      </p:sp>
    </p:spTree>
    <p:extLst>
      <p:ext uri="{BB962C8B-B14F-4D97-AF65-F5344CB8AC3E}">
        <p14:creationId xmlns:p14="http://schemas.microsoft.com/office/powerpoint/2010/main" val="3830259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C2C9-31F0-4B9C-96D6-90B90D74996B}" type="slidenum">
              <a:rPr lang="en-US" smtClean="0"/>
              <a:t>19</a:t>
            </a:fld>
            <a:endParaRPr lang="en-US"/>
          </a:p>
        </p:txBody>
      </p:sp>
    </p:spTree>
    <p:extLst>
      <p:ext uri="{BB962C8B-B14F-4D97-AF65-F5344CB8AC3E}">
        <p14:creationId xmlns:p14="http://schemas.microsoft.com/office/powerpoint/2010/main" val="198387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C41D-6B65-50DA-0F34-725FC01143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968FA3-6259-107A-7964-E1BB48218D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29223F-5FDA-C543-7143-F85867EA3258}"/>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64A301EB-75BA-B8BA-70E2-21053E2AC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962E8-1B22-AB85-6361-6E1A22BA867A}"/>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3544912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A71DF-FA74-8E1D-50B6-022390AAD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51E43-DC56-257B-2F8D-60F199A7E8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F9BFED-2F52-ECDC-236C-F6ADD3FDCA1D}"/>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C66139B3-395F-8FCC-519E-50936D435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3AC6E6-DE89-D0D6-1761-0C5CFC725E6B}"/>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95104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D580D-BBB6-D80B-7DAF-A51DFED5E6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0A82BE-8908-862A-B874-8EDE99D736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F21453-959A-336B-EAE1-17F0BE10C610}"/>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5FBD50E7-29B2-4E72-7207-BFB9D0E9E1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BC2D3-F18C-D1A7-F9E9-8485EC567C9B}"/>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134275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47CD-BCE9-CACF-7FD7-9EB22BC1E4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7A6F70-831B-51A9-1C7F-50E78F0AF2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69F669-8AE3-E747-5C6D-579B5BED0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718B0B-441A-5C3C-A097-9F405A2C63F9}"/>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6" name="Footer Placeholder 5">
            <a:extLst>
              <a:ext uri="{FF2B5EF4-FFF2-40B4-BE49-F238E27FC236}">
                <a16:creationId xmlns:a16="http://schemas.microsoft.com/office/drawing/2014/main" id="{73D8390B-FB0A-86E6-BF1B-D229512F27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DA25CA-455C-582B-6A6A-A78F919DA44B}"/>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3209922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C6AA1-4B0D-FC0A-E3A9-FE615262F6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784633-AD54-F2F9-7AE3-854B0E7644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F8FFEB-6AD0-B158-75D5-C14DA9974C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A0E3C6-0D03-DAE8-D9FB-1EB7E8CB83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6A2BBC-E59B-DF39-3AB8-0B290C4A0F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9EB2F3-480B-EC6A-8EDE-BE28EEBB8ECB}"/>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8" name="Footer Placeholder 7">
            <a:extLst>
              <a:ext uri="{FF2B5EF4-FFF2-40B4-BE49-F238E27FC236}">
                <a16:creationId xmlns:a16="http://schemas.microsoft.com/office/drawing/2014/main" id="{7ED6BCC2-56F6-8B6E-8730-DCA3FEF9CE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832209-A154-7E6A-2CCA-7C771060FC3B}"/>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2565221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12E1-600F-B6E4-F148-04BC0DF53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868239-A2DA-378F-5DA3-643C28D194C7}"/>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4" name="Footer Placeholder 3">
            <a:extLst>
              <a:ext uri="{FF2B5EF4-FFF2-40B4-BE49-F238E27FC236}">
                <a16:creationId xmlns:a16="http://schemas.microsoft.com/office/drawing/2014/main" id="{F91C7FE7-9754-4B31-A709-320DB4910A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46099E-855D-444A-8261-31F40167B575}"/>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452501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54E8F6-740E-32F3-CE3E-437892E7EDBD}"/>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3" name="Footer Placeholder 2">
            <a:extLst>
              <a:ext uri="{FF2B5EF4-FFF2-40B4-BE49-F238E27FC236}">
                <a16:creationId xmlns:a16="http://schemas.microsoft.com/office/drawing/2014/main" id="{8130FC07-D58D-2DC0-646F-E45DF83A4E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C0DB5-7DF9-01F8-4BA0-A6C11BF21CB5}"/>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507921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3A40-0D68-3D50-B157-41E7ABF64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FBEA38-93B9-9514-8F44-F8903C7B7A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32BF9F-3C95-204F-8184-AD1C70CF0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07CF32-B25B-E436-5D8F-3B684030490F}"/>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6" name="Footer Placeholder 5">
            <a:extLst>
              <a:ext uri="{FF2B5EF4-FFF2-40B4-BE49-F238E27FC236}">
                <a16:creationId xmlns:a16="http://schemas.microsoft.com/office/drawing/2014/main" id="{BA3E192D-27A4-0467-18E4-B8AF902BCF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99348B-15CC-EA05-8AC2-A89CA1E5D5ED}"/>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1593442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8CC86-DD1A-1F87-E0F6-3A0CA8147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785542-6056-B999-E170-F4CC38DC59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0516A8-2127-C3AE-448C-B832DA4E2B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89AA56-19D5-98E3-5DAA-11BCF1B97316}"/>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6" name="Footer Placeholder 5">
            <a:extLst>
              <a:ext uri="{FF2B5EF4-FFF2-40B4-BE49-F238E27FC236}">
                <a16:creationId xmlns:a16="http://schemas.microsoft.com/office/drawing/2014/main" id="{F4ACA902-EF41-34E2-7B6B-31553253FA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300BE9-719F-0920-0EDF-FA2E3C120C49}"/>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156653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07E71-84B1-2D79-7AA8-754C3DC579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6FFF27-DF8F-6791-1F9C-CD5F7150AF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A4D21-BA84-DC12-50EE-2BC6912F82A8}"/>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43A22DA6-B5EF-2F82-2F3F-89913E4A55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E77074-7240-2370-FD5B-D9D64F2FE6C3}"/>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11788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353DCE-57B8-2AA0-0744-314C332665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02C598-5E6A-29FF-5775-9CA5816107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DB800-1243-0567-A046-F5518A9EAA94}"/>
              </a:ext>
            </a:extLst>
          </p:cNvPr>
          <p:cNvSpPr>
            <a:spLocks noGrp="1"/>
          </p:cNvSpPr>
          <p:nvPr>
            <p:ph type="dt" sz="half" idx="10"/>
          </p:nvPr>
        </p:nvSpPr>
        <p:spPr/>
        <p:txBody>
          <a:body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BFB0D03D-8CF7-774A-FCB5-93447EB47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F4CC2B-4752-9BD8-9B94-2DB181E31368}"/>
              </a:ext>
            </a:extLst>
          </p:cNvPr>
          <p:cNvSpPr>
            <a:spLocks noGrp="1"/>
          </p:cNvSpPr>
          <p:nvPr>
            <p:ph type="sldNum" sz="quarter" idx="12"/>
          </p:nvPr>
        </p:nvSpPr>
        <p:spPr/>
        <p:txBody>
          <a:bodyPr/>
          <a:lstStyle/>
          <a:p>
            <a:fld id="{FDD3B063-4229-4E01-BFD3-66956F82E0E3}" type="slidenum">
              <a:rPr lang="en-US" smtClean="0"/>
              <a:t>‹#›</a:t>
            </a:fld>
            <a:endParaRPr lang="en-US"/>
          </a:p>
        </p:txBody>
      </p:sp>
    </p:spTree>
    <p:extLst>
      <p:ext uri="{BB962C8B-B14F-4D97-AF65-F5344CB8AC3E}">
        <p14:creationId xmlns:p14="http://schemas.microsoft.com/office/powerpoint/2010/main" val="2695154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8000">
              <a:schemeClr val="bg2">
                <a:tint val="94000"/>
                <a:satMod val="80000"/>
                <a:lumMod val="106000"/>
              </a:schemeClr>
            </a:gs>
            <a:gs pos="99000">
              <a:schemeClr val="bg2">
                <a:shade val="80000"/>
              </a:schemeClr>
            </a:gs>
          </a:gsLst>
          <a:path path="circle">
            <a:fillToRect l="43000" r="43000" b="10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2FE9A5-98F3-F312-8DF9-687C8BF6E0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D5FDF-1C63-8E33-BB39-A6A64C60B1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5C796-FCD3-33BD-EA59-728D85A70E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E65E34-B55C-4FE7-A563-8240D38BB7A0}" type="datetimeFigureOut">
              <a:rPr lang="en-US" smtClean="0"/>
              <a:t>12/4/2025</a:t>
            </a:fld>
            <a:endParaRPr lang="en-US"/>
          </a:p>
        </p:txBody>
      </p:sp>
      <p:sp>
        <p:nvSpPr>
          <p:cNvPr id="5" name="Footer Placeholder 4">
            <a:extLst>
              <a:ext uri="{FF2B5EF4-FFF2-40B4-BE49-F238E27FC236}">
                <a16:creationId xmlns:a16="http://schemas.microsoft.com/office/drawing/2014/main" id="{28020265-6CDC-098B-46A5-E800E3D341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6CDC24-789B-2042-2F95-D60BF484B4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D3B063-4229-4E01-BFD3-66956F82E0E3}" type="slidenum">
              <a:rPr lang="en-US" smtClean="0"/>
              <a:t>‹#›</a:t>
            </a:fld>
            <a:endParaRPr lang="en-US"/>
          </a:p>
        </p:txBody>
      </p:sp>
    </p:spTree>
    <p:extLst>
      <p:ext uri="{BB962C8B-B14F-4D97-AF65-F5344CB8AC3E}">
        <p14:creationId xmlns:p14="http://schemas.microsoft.com/office/powerpoint/2010/main" val="25248042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57.png"/></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A picture of an electromagnetic radiation">
            <a:extLst>
              <a:ext uri="{FF2B5EF4-FFF2-40B4-BE49-F238E27FC236}">
                <a16:creationId xmlns:a16="http://schemas.microsoft.com/office/drawing/2014/main" id="{6C7688A0-B4F7-572C-3E15-1E61B6F5F5A5}"/>
              </a:ext>
            </a:extLst>
          </p:cNvPr>
          <p:cNvPicPr>
            <a:picLocks noChangeAspect="1"/>
          </p:cNvPicPr>
          <p:nvPr/>
        </p:nvPicPr>
        <p:blipFill>
          <a:blip r:embed="rId3"/>
          <a:srcRect t="128" r="9091" b="23549"/>
          <a:stretch>
            <a:fillRect/>
          </a:stretch>
        </p:blipFill>
        <p:spPr>
          <a:xfrm>
            <a:off x="20" y="10"/>
            <a:ext cx="12191980" cy="6857990"/>
          </a:xfrm>
          <a:prstGeom prst="rect">
            <a:avLst/>
          </a:prstGeom>
          <a:gradFill>
            <a:gsLst>
              <a:gs pos="37000">
                <a:schemeClr val="bg2">
                  <a:tint val="94000"/>
                  <a:satMod val="80000"/>
                  <a:lumMod val="106000"/>
                </a:schemeClr>
              </a:gs>
              <a:gs pos="56000">
                <a:schemeClr val="bg2">
                  <a:shade val="80000"/>
                </a:schemeClr>
              </a:gs>
            </a:gsLst>
            <a:path path="circle">
              <a:fillToRect l="43000" r="43000" b="100000"/>
            </a:path>
          </a:gradFill>
        </p:spPr>
      </p:pic>
      <p:sp>
        <p:nvSpPr>
          <p:cNvPr id="48" name="Rectangle 47">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0C226E-BBE8-FFEB-9C79-28D0E8F56C7C}"/>
              </a:ext>
            </a:extLst>
          </p:cNvPr>
          <p:cNvSpPr>
            <a:spLocks noGrp="1"/>
          </p:cNvSpPr>
          <p:nvPr>
            <p:ph type="ctrTitle"/>
          </p:nvPr>
        </p:nvSpPr>
        <p:spPr>
          <a:xfrm>
            <a:off x="2653990" y="681037"/>
            <a:ext cx="7917366" cy="1325563"/>
          </a:xfrm>
        </p:spPr>
        <p:txBody>
          <a:bodyPr vert="horz" lIns="91440" tIns="45720" rIns="91440" bIns="45720" rtlCol="0" anchor="ctr">
            <a:normAutofit fontScale="90000"/>
          </a:bodyPr>
          <a:lstStyle/>
          <a:p>
            <a:pPr algn="l"/>
            <a:r>
              <a:rPr lang="en-US" sz="4400" b="1" dirty="0"/>
              <a:t>Image Compression using Singular Value  Decomposition (SVD)</a:t>
            </a:r>
          </a:p>
        </p:txBody>
      </p:sp>
      <p:sp>
        <p:nvSpPr>
          <p:cNvPr id="4" name="Rectangle 1">
            <a:extLst>
              <a:ext uri="{FF2B5EF4-FFF2-40B4-BE49-F238E27FC236}">
                <a16:creationId xmlns:a16="http://schemas.microsoft.com/office/drawing/2014/main" id="{AD404F21-DF79-0AE0-B52F-C03249F63E79}"/>
              </a:ext>
            </a:extLst>
          </p:cNvPr>
          <p:cNvSpPr>
            <a:spLocks noGrp="1" noChangeArrowheads="1"/>
          </p:cNvSpPr>
          <p:nvPr>
            <p:ph type="subTitle" idx="1"/>
          </p:nvPr>
        </p:nvSpPr>
        <p:spPr bwMode="auto">
          <a:xfrm>
            <a:off x="882805" y="2394337"/>
            <a:ext cx="11941098"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p>
            <a:pPr marR="0" lvl="0" algn="l" fontAlgn="base">
              <a:spcBef>
                <a:spcPct val="0"/>
              </a:spcBef>
              <a:spcAft>
                <a:spcPts val="600"/>
              </a:spcAft>
              <a:tabLst/>
            </a:pPr>
            <a:r>
              <a:rPr kumimoji="0" lang="en-US" altLang="en-US" sz="2000" b="1" u="none" strike="noStrike" cap="none" normalizeH="0" baseline="0" dirty="0">
                <a:ln>
                  <a:noFill/>
                </a:ln>
              </a:rPr>
              <a:t>                                                                    DASC-5308 – Numerical Methods </a:t>
            </a:r>
          </a:p>
          <a:p>
            <a:pPr marR="0" lvl="0" algn="l" fontAlgn="base">
              <a:spcBef>
                <a:spcPct val="0"/>
              </a:spcBef>
              <a:spcAft>
                <a:spcPts val="600"/>
              </a:spcAft>
              <a:tabLst/>
            </a:pPr>
            <a:r>
              <a:rPr kumimoji="0" lang="en-US" altLang="en-US" sz="2000" b="1" u="none" strike="noStrike" cap="none" normalizeH="0" baseline="0" dirty="0">
                <a:ln>
                  <a:noFill/>
                </a:ln>
              </a:rPr>
              <a:t>                                                                    </a:t>
            </a:r>
            <a:r>
              <a:rPr lang="en-US" altLang="en-US" sz="2000" b="1" dirty="0"/>
              <a:t>Prathyusha </a:t>
            </a:r>
            <a:r>
              <a:rPr lang="en-US" altLang="en-US" sz="2000" b="1" dirty="0" err="1"/>
              <a:t>Pentam</a:t>
            </a:r>
            <a:r>
              <a:rPr lang="en-US" altLang="en-US" sz="2000" b="1" dirty="0"/>
              <a:t> ( A04342934)</a:t>
            </a:r>
          </a:p>
          <a:p>
            <a:pPr marR="0" lvl="0" algn="l" fontAlgn="base">
              <a:spcBef>
                <a:spcPct val="0"/>
              </a:spcBef>
              <a:spcAft>
                <a:spcPts val="600"/>
              </a:spcAft>
              <a:tabLst/>
            </a:pPr>
            <a:r>
              <a:rPr lang="en-US" altLang="en-US" sz="2000" b="1" dirty="0"/>
              <a:t>                                                               Texas A and M university corpus Christi</a:t>
            </a:r>
          </a:p>
          <a:p>
            <a:pPr marR="0" lvl="0" algn="l" fontAlgn="base">
              <a:spcBef>
                <a:spcPct val="0"/>
              </a:spcBef>
              <a:spcAft>
                <a:spcPts val="600"/>
              </a:spcAft>
              <a:tabLst/>
            </a:pPr>
            <a:r>
              <a:rPr kumimoji="0" lang="en-US" altLang="en-US" sz="2000" b="1" i="0" u="none" strike="noStrike" cap="none" normalizeH="0" baseline="0" dirty="0">
                <a:ln>
                  <a:noFill/>
                </a:ln>
              </a:rPr>
              <a:t>                                                                                    </a:t>
            </a:r>
          </a:p>
          <a:p>
            <a:pPr marR="0" lvl="0" algn="l" fontAlgn="base">
              <a:spcBef>
                <a:spcPct val="0"/>
              </a:spcBef>
              <a:spcAft>
                <a:spcPts val="600"/>
              </a:spcAft>
              <a:tabLst/>
            </a:pPr>
            <a:endParaRPr lang="en-US" altLang="en-US" sz="2000" b="1" dirty="0"/>
          </a:p>
          <a:p>
            <a:pPr marR="0" lvl="0" algn="l" fontAlgn="base">
              <a:spcBef>
                <a:spcPct val="0"/>
              </a:spcBef>
              <a:spcAft>
                <a:spcPts val="600"/>
              </a:spcAft>
              <a:tabLst/>
            </a:pPr>
            <a:endParaRPr kumimoji="0" lang="en-US" altLang="en-US" sz="2000" b="1" i="0" u="none" strike="noStrike" cap="none" normalizeH="0" baseline="0" dirty="0">
              <a:ln>
                <a:noFill/>
              </a:ln>
            </a:endParaRPr>
          </a:p>
          <a:p>
            <a:pPr marR="0" lvl="0" algn="l" fontAlgn="base">
              <a:spcBef>
                <a:spcPct val="0"/>
              </a:spcBef>
              <a:spcAft>
                <a:spcPts val="600"/>
              </a:spcAft>
              <a:tabLst/>
            </a:pPr>
            <a:endParaRPr lang="en-US" altLang="en-US" sz="2000" b="1" dirty="0"/>
          </a:p>
          <a:p>
            <a:pPr marR="0" lvl="0" algn="l" fontAlgn="base">
              <a:spcBef>
                <a:spcPct val="0"/>
              </a:spcBef>
              <a:spcAft>
                <a:spcPts val="600"/>
              </a:spcAft>
              <a:tabLst/>
            </a:pPr>
            <a:endParaRPr kumimoji="0" lang="en-US" altLang="en-US" sz="2000" b="1" i="0" u="none" strike="noStrike" cap="none" normalizeH="0" baseline="0" dirty="0">
              <a:ln>
                <a:noFill/>
              </a:ln>
            </a:endParaRPr>
          </a:p>
          <a:p>
            <a:pPr marR="0" lvl="0" algn="l" fontAlgn="base">
              <a:spcBef>
                <a:spcPct val="0"/>
              </a:spcBef>
              <a:spcAft>
                <a:spcPts val="600"/>
              </a:spcAft>
              <a:tabLst/>
            </a:pPr>
            <a:endParaRPr lang="en-US" altLang="en-US" sz="2000" b="1" dirty="0"/>
          </a:p>
          <a:p>
            <a:pPr marR="0" lvl="0" algn="l" fontAlgn="base">
              <a:spcBef>
                <a:spcPct val="0"/>
              </a:spcBef>
              <a:spcAft>
                <a:spcPts val="600"/>
              </a:spcAft>
              <a:tabLst/>
            </a:pPr>
            <a:r>
              <a:rPr kumimoji="0" lang="en-US" altLang="en-US" sz="2000" b="1" i="0" u="none" strike="noStrike" cap="none" normalizeH="0" baseline="0" dirty="0">
                <a:ln>
                  <a:noFill/>
                </a:ln>
              </a:rPr>
              <a:t>Goal of the </a:t>
            </a:r>
            <a:r>
              <a:rPr lang="en-US" altLang="en-US" sz="2000" b="1" dirty="0"/>
              <a:t>Project</a:t>
            </a:r>
          </a:p>
          <a:p>
            <a:pPr algn="l" fontAlgn="base">
              <a:spcBef>
                <a:spcPct val="0"/>
              </a:spcBef>
              <a:spcAft>
                <a:spcPts val="600"/>
              </a:spcAft>
            </a:pPr>
            <a:r>
              <a:rPr lang="en-US" sz="2000" dirty="0"/>
              <a:t>Use </a:t>
            </a:r>
            <a:r>
              <a:rPr lang="en-US" sz="2000" b="1" dirty="0"/>
              <a:t>SVD and low-rank approximation</a:t>
            </a:r>
            <a:r>
              <a:rPr lang="en-US" sz="2000" dirty="0"/>
              <a:t> to compress</a:t>
            </a:r>
          </a:p>
          <a:p>
            <a:pPr algn="l" fontAlgn="base">
              <a:spcBef>
                <a:spcPct val="0"/>
              </a:spcBef>
              <a:spcAft>
                <a:spcPts val="600"/>
              </a:spcAft>
            </a:pPr>
            <a:r>
              <a:rPr lang="en-US" sz="2000" dirty="0"/>
              <a:t> images while keeping them visually acceptable</a:t>
            </a:r>
            <a:endParaRPr lang="en-US" altLang="en-US" sz="2000" b="1" dirty="0"/>
          </a:p>
          <a:p>
            <a:pPr algn="l" fontAlgn="base">
              <a:spcBef>
                <a:spcPct val="0"/>
              </a:spcBef>
              <a:spcAft>
                <a:spcPts val="600"/>
              </a:spcAft>
            </a:pPr>
            <a:r>
              <a:rPr lang="en-US" sz="2000" dirty="0"/>
              <a:t>.</a:t>
            </a:r>
            <a:endParaRPr kumimoji="0" lang="en-US" altLang="en-US" sz="2000" b="0" i="0" u="none" strike="noStrike" cap="none" normalizeH="0" baseline="0" dirty="0">
              <a:ln>
                <a:noFill/>
              </a:ln>
            </a:endParaRPr>
          </a:p>
          <a:p>
            <a:pPr marL="0" marR="0" lvl="0" indent="-228600" algn="l" fontAlgn="base">
              <a:spcBef>
                <a:spcPct val="0"/>
              </a:spcBef>
              <a:spcAft>
                <a:spcPts val="600"/>
              </a:spcAft>
              <a:buFont typeface="Arial" panose="020B0604020202020204" pitchFamily="34" charset="0"/>
              <a:buChar char="•"/>
              <a:tabLst/>
            </a:pPr>
            <a:endParaRPr kumimoji="0" lang="en-US" altLang="en-US" sz="2000" b="1" i="0" u="none" strike="noStrike" cap="none" normalizeH="0" baseline="0" dirty="0">
              <a:ln>
                <a:noFill/>
              </a:ln>
            </a:endParaRPr>
          </a:p>
          <a:p>
            <a:pPr marL="0" marR="0" lvl="0" indent="-228600" algn="l" fontAlgn="base">
              <a:spcBef>
                <a:spcPct val="0"/>
              </a:spcBef>
              <a:spcAft>
                <a:spcPts val="600"/>
              </a:spcAft>
              <a:buFont typeface="Arial" panose="020B0604020202020204" pitchFamily="34" charset="0"/>
              <a:buChar char="•"/>
              <a:tabLst/>
            </a:pPr>
            <a:endParaRPr lang="en-US" altLang="en-US" sz="2000" b="1" dirty="0"/>
          </a:p>
          <a:p>
            <a:pPr marL="0" marR="0" lvl="0" indent="-228600" algn="l" fontAlgn="base">
              <a:spcBef>
                <a:spcPct val="0"/>
              </a:spcBef>
              <a:spcAft>
                <a:spcPts val="600"/>
              </a:spcAft>
              <a:buFont typeface="Arial" panose="020B0604020202020204" pitchFamily="34" charset="0"/>
              <a:buChar char="•"/>
              <a:tabLst/>
            </a:pPr>
            <a:endParaRPr kumimoji="0" lang="en-US" altLang="en-US" sz="2000" b="1" i="0" u="none" strike="noStrike" cap="none" normalizeH="0" baseline="0" dirty="0">
              <a:ln>
                <a:noFill/>
              </a:ln>
            </a:endParaRPr>
          </a:p>
        </p:txBody>
      </p:sp>
    </p:spTree>
    <p:extLst>
      <p:ext uri="{BB962C8B-B14F-4D97-AF65-F5344CB8AC3E}">
        <p14:creationId xmlns:p14="http://schemas.microsoft.com/office/powerpoint/2010/main" val="316409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859CE-959C-3CA7-EB65-7CF50B4C64DA}"/>
              </a:ext>
            </a:extLst>
          </p:cNvPr>
          <p:cNvSpPr>
            <a:spLocks noGrp="1"/>
          </p:cNvSpPr>
          <p:nvPr>
            <p:ph type="title"/>
          </p:nvPr>
        </p:nvSpPr>
        <p:spPr>
          <a:xfrm>
            <a:off x="1408360" y="418676"/>
            <a:ext cx="6436139" cy="1560791"/>
          </a:xfrm>
        </p:spPr>
        <p:txBody>
          <a:bodyPr vert="horz" lIns="91440" tIns="45720" rIns="91440" bIns="45720" rtlCol="0" anchor="t">
            <a:normAutofit/>
          </a:bodyPr>
          <a:lstStyle/>
          <a:p>
            <a:r>
              <a:rPr lang="en-US" sz="4000" b="1" dirty="0"/>
              <a:t>Project Overview</a:t>
            </a:r>
          </a:p>
        </p:txBody>
      </p:sp>
      <p:pic>
        <p:nvPicPr>
          <p:cNvPr id="13" name="Picture 12" descr="Floorplan on a table">
            <a:extLst>
              <a:ext uri="{FF2B5EF4-FFF2-40B4-BE49-F238E27FC236}">
                <a16:creationId xmlns:a16="http://schemas.microsoft.com/office/drawing/2014/main" id="{87D8661C-C2A2-6688-9110-12FE4FADE487}"/>
              </a:ext>
            </a:extLst>
          </p:cNvPr>
          <p:cNvPicPr>
            <a:picLocks noChangeAspect="1"/>
          </p:cNvPicPr>
          <p:nvPr/>
        </p:nvPicPr>
        <p:blipFill>
          <a:blip r:embed="rId3"/>
          <a:srcRect l="26748" r="20298"/>
          <a:stretch>
            <a:fillRect/>
          </a:stretch>
        </p:blipFill>
        <p:spPr>
          <a:xfrm>
            <a:off x="685800" y="1611667"/>
            <a:ext cx="3940630" cy="5246333"/>
          </a:xfrm>
          <a:prstGeom prst="rect">
            <a:avLst/>
          </a:prstGeom>
        </p:spPr>
      </p:pic>
      <p:sp>
        <p:nvSpPr>
          <p:cNvPr id="3" name="Rectangle 1">
            <a:extLst>
              <a:ext uri="{FF2B5EF4-FFF2-40B4-BE49-F238E27FC236}">
                <a16:creationId xmlns:a16="http://schemas.microsoft.com/office/drawing/2014/main" id="{67A5E46B-45C8-A58E-9B54-6725B84369AD}"/>
              </a:ext>
            </a:extLst>
          </p:cNvPr>
          <p:cNvSpPr>
            <a:spLocks noChangeArrowheads="1"/>
          </p:cNvSpPr>
          <p:nvPr/>
        </p:nvSpPr>
        <p:spPr bwMode="auto">
          <a:xfrm>
            <a:off x="5252358" y="1611666"/>
            <a:ext cx="5935396" cy="434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Goal:</a:t>
            </a:r>
            <a:r>
              <a:rPr kumimoji="0" lang="en-US" altLang="en-US" sz="1600" b="0" i="0" u="none" strike="noStrike" cap="none" normalizeH="0" baseline="0" dirty="0">
                <a:ln>
                  <a:noFill/>
                </a:ln>
                <a:effectLst/>
              </a:rPr>
              <a:t> Use </a:t>
            </a:r>
            <a:r>
              <a:rPr kumimoji="0" lang="en-US" altLang="en-US" sz="1600" i="0" u="none" strike="noStrike" cap="none" normalizeH="0" baseline="0" dirty="0">
                <a:ln>
                  <a:noFill/>
                </a:ln>
                <a:effectLst/>
              </a:rPr>
              <a:t>Singular Value Decomposition (SVD) and low-rank approximation to compress images while keeping them visually acceptable.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Dataset:</a:t>
            </a:r>
            <a:r>
              <a:rPr kumimoji="0" lang="en-US" altLang="en-US" sz="1600" b="0" i="0" u="none" strike="noStrike" cap="none" normalizeH="0" baseline="0" dirty="0">
                <a:ln>
                  <a:noFill/>
                </a:ln>
                <a:effectLst/>
              </a:rPr>
              <a:t> </a:t>
            </a:r>
            <a:r>
              <a:rPr kumimoji="0" lang="en-US" altLang="en-US" sz="1600" i="0" u="none" strike="noStrike" cap="none" normalizeH="0" baseline="0" dirty="0">
                <a:ln>
                  <a:noFill/>
                </a:ln>
                <a:effectLst/>
              </a:rPr>
              <a:t>Landscape Pictures dataset from Kaggle – natural outdoor scenes like mountains, sea, desert, beaches, islands, and nature views.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Image Representation:</a:t>
            </a:r>
            <a:r>
              <a:rPr kumimoji="0" lang="en-US" altLang="en-US" sz="1600" b="0" i="0" u="none" strike="noStrike" cap="none" normalizeH="0" baseline="0" dirty="0">
                <a:ln>
                  <a:noFill/>
                </a:ln>
                <a:effectLst/>
              </a:rPr>
              <a:t> </a:t>
            </a:r>
            <a:r>
              <a:rPr kumimoji="0" lang="en-US" altLang="en-US" sz="1600" i="0" u="none" strike="noStrike" cap="none" normalizeH="0" baseline="0" dirty="0">
                <a:ln>
                  <a:noFill/>
                </a:ln>
                <a:effectLst/>
              </a:rPr>
              <a:t>Convert each image to 256 × 256 grayscale, so it becomes a matrix of pixel values.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Method:</a:t>
            </a:r>
            <a:endParaRPr kumimoji="0" lang="en-US" altLang="en-US" sz="16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Apply SVD to each image matrix.</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Reconstruct images using different ranks k (e.g., 5, 20, 50, 100).</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Evaluation:</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Compute relative reconstruction error between original and compressed images.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Calculate compression ratio based on number of stored values.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effectLst/>
              </a:rPr>
              <a:t>Visually compare original vs rank-k images.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Main Idea:</a:t>
            </a:r>
            <a:r>
              <a:rPr kumimoji="0" lang="en-US" altLang="en-US" sz="1600" b="0" i="0" u="none" strike="noStrike" cap="none" normalizeH="0" baseline="0" dirty="0">
                <a:ln>
                  <a:noFill/>
                </a:ln>
                <a:effectLst/>
              </a:rPr>
              <a:t> </a:t>
            </a:r>
            <a:r>
              <a:rPr kumimoji="0" lang="en-US" altLang="en-US" sz="1600" b="1" i="0" u="none" strike="noStrike" cap="none" normalizeH="0" baseline="0" dirty="0">
                <a:ln>
                  <a:noFill/>
                </a:ln>
                <a:effectLst/>
              </a:rPr>
              <a:t>Show the trade-off between image quality and compression using a core numerical linear algebra tool (SVD).</a:t>
            </a:r>
          </a:p>
        </p:txBody>
      </p:sp>
    </p:spTree>
    <p:extLst>
      <p:ext uri="{BB962C8B-B14F-4D97-AF65-F5344CB8AC3E}">
        <p14:creationId xmlns:p14="http://schemas.microsoft.com/office/powerpoint/2010/main" val="374917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314834-B6CB-B960-F29F-87946480F2FB}"/>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3800" b="0" i="0" kern="1200" cap="all">
                <a:solidFill>
                  <a:schemeClr val="tx1"/>
                </a:solidFill>
                <a:effectLst/>
                <a:latin typeface="+mj-lt"/>
                <a:ea typeface="+mj-ea"/>
                <a:cs typeface="+mj-cs"/>
              </a:rPr>
              <a:t>Motivation:</a:t>
            </a:r>
            <a:br>
              <a:rPr lang="en-US" sz="3800" b="0" i="0" kern="1200" cap="all">
                <a:solidFill>
                  <a:schemeClr val="tx1"/>
                </a:solidFill>
                <a:effectLst/>
                <a:latin typeface="+mj-lt"/>
                <a:ea typeface="+mj-ea"/>
                <a:cs typeface="+mj-cs"/>
              </a:rPr>
            </a:br>
            <a:br>
              <a:rPr lang="en-US" sz="3800" b="0" i="0" kern="1200" cap="all">
                <a:solidFill>
                  <a:schemeClr val="tx1"/>
                </a:solidFill>
                <a:effectLst/>
                <a:latin typeface="+mj-lt"/>
                <a:ea typeface="+mj-ea"/>
                <a:cs typeface="+mj-cs"/>
              </a:rPr>
            </a:br>
            <a:r>
              <a:rPr lang="en-US" sz="3800" b="0" i="0" kern="1200" cap="all">
                <a:solidFill>
                  <a:schemeClr val="tx1"/>
                </a:solidFill>
                <a:effectLst/>
                <a:latin typeface="+mj-lt"/>
                <a:ea typeface="+mj-ea"/>
                <a:cs typeface="+mj-cs"/>
              </a:rPr>
              <a:t> Why Image Compression?</a:t>
            </a:r>
          </a:p>
        </p:txBody>
      </p:sp>
      <p:sp>
        <p:nvSpPr>
          <p:cNvPr id="2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B16D6556-E7CF-0CCB-DC84-0AA73B0EAF4A}"/>
              </a:ext>
            </a:extLst>
          </p:cNvPr>
          <p:cNvSpPr>
            <a:spLocks noChangeArrowheads="1"/>
          </p:cNvSpPr>
          <p:nvPr/>
        </p:nvSpPr>
        <p:spPr bwMode="auto">
          <a:xfrm>
            <a:off x="5126418" y="552091"/>
            <a:ext cx="6757660" cy="60605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342900" marR="0" lvl="0" indent="-228600" fontAlgn="base">
              <a:lnSpc>
                <a:spcPct val="90000"/>
              </a:lnSpc>
              <a:spcBef>
                <a:spcPct val="0"/>
              </a:spcBef>
              <a:spcAft>
                <a:spcPts val="600"/>
              </a:spcAft>
              <a:buClr>
                <a:schemeClr val="accent1"/>
              </a:buClr>
              <a:buSzPct val="100000"/>
              <a:buFont typeface="Arial" panose="020B0604020202020204" pitchFamily="34" charset="0"/>
              <a:buChar char="•"/>
              <a:tabLst/>
            </a:pPr>
            <a:r>
              <a:rPr kumimoji="0" lang="en-US" altLang="en-US" sz="1500" i="0" u="none" strike="noStrike" cap="none" normalizeH="0" baseline="0" dirty="0">
                <a:ln>
                  <a:noFill/>
                </a:ln>
              </a:rPr>
              <a:t>Modern phones, laptops and websites store thousands of photos, so all these image files quickly add up and use a lot of storage space on our devices and servers.</a:t>
            </a:r>
          </a:p>
          <a:p>
            <a:pPr marL="342900" lvl="0" indent="-228600" fontAlgn="base">
              <a:lnSpc>
                <a:spcPct val="90000"/>
              </a:lnSpc>
              <a:spcBef>
                <a:spcPct val="0"/>
              </a:spcBef>
              <a:spcAft>
                <a:spcPts val="600"/>
              </a:spcAft>
              <a:buClr>
                <a:schemeClr val="accent1"/>
              </a:buClr>
              <a:buSzPct val="100000"/>
              <a:buFont typeface="Arial" panose="020B0604020202020204" pitchFamily="34" charset="0"/>
              <a:buChar char="•"/>
            </a:pPr>
            <a:r>
              <a:rPr lang="en-US" sz="1500" dirty="0"/>
              <a:t>High-resolution photos contain a lot more pixels, which means more data per image, so big image collections or datasets quickly become very large and heavy to store and process.</a:t>
            </a:r>
          </a:p>
          <a:p>
            <a:pPr marL="342900" lvl="0" indent="-228600" fontAlgn="base">
              <a:lnSpc>
                <a:spcPct val="90000"/>
              </a:lnSpc>
              <a:spcBef>
                <a:spcPct val="0"/>
              </a:spcBef>
              <a:spcAft>
                <a:spcPts val="600"/>
              </a:spcAft>
              <a:buClr>
                <a:schemeClr val="accent1"/>
              </a:buClr>
              <a:buSzPct val="100000"/>
              <a:buFont typeface="Arial" panose="020B0604020202020204" pitchFamily="34" charset="0"/>
              <a:buChar char="•"/>
            </a:pPr>
            <a:r>
              <a:rPr lang="en-US" sz="1500" dirty="0"/>
              <a:t>When an image file is very large, it takes longer to upload or download and uses more of your internet data, because there is much more information that has to be transferred.</a:t>
            </a:r>
          </a:p>
          <a:p>
            <a:pPr marL="342900" lvl="0" indent="-228600" fontAlgn="base">
              <a:lnSpc>
                <a:spcPct val="90000"/>
              </a:lnSpc>
              <a:spcBef>
                <a:spcPct val="0"/>
              </a:spcBef>
              <a:spcAft>
                <a:spcPts val="600"/>
              </a:spcAft>
              <a:buClr>
                <a:schemeClr val="accent1"/>
              </a:buClr>
              <a:buSzPct val="100000"/>
              <a:buFont typeface="Arial" panose="020B0604020202020204" pitchFamily="34" charset="0"/>
              <a:buChar char="•"/>
            </a:pPr>
            <a:r>
              <a:rPr lang="en-US" sz="1500" dirty="0"/>
              <a:t>In many photos, large areas like sky, sea, or walls have very similar pixels, so there is a lot of repeated information that we don’t need to store exactly, which makes it possible to compress the image.</a:t>
            </a:r>
          </a:p>
          <a:p>
            <a:pPr marL="342900" lvl="0" indent="-228600" fontAlgn="base">
              <a:lnSpc>
                <a:spcPct val="90000"/>
              </a:lnSpc>
              <a:spcBef>
                <a:spcPct val="0"/>
              </a:spcBef>
              <a:spcAft>
                <a:spcPts val="600"/>
              </a:spcAft>
              <a:buClr>
                <a:schemeClr val="accent1"/>
              </a:buClr>
              <a:buSzPct val="100000"/>
              <a:buFont typeface="Arial" panose="020B0604020202020204" pitchFamily="34" charset="0"/>
              <a:buChar char="•"/>
            </a:pPr>
            <a:r>
              <a:rPr lang="en-US" sz="1500" dirty="0"/>
              <a:t>The main idea of image compression is to describe the same picture with fewer numbers so it still looks almost the same to our eyes, but uses much less storage space and needs less data to send over the internet.</a:t>
            </a:r>
          </a:p>
          <a:p>
            <a:pPr marL="342900" lvl="0" indent="-228600" fontAlgn="base">
              <a:lnSpc>
                <a:spcPct val="90000"/>
              </a:lnSpc>
              <a:spcBef>
                <a:spcPct val="0"/>
              </a:spcBef>
              <a:spcAft>
                <a:spcPts val="600"/>
              </a:spcAft>
              <a:buClr>
                <a:schemeClr val="accent1"/>
              </a:buClr>
              <a:buSzPct val="100000"/>
              <a:buFont typeface="Arial" panose="020B0604020202020204" pitchFamily="34" charset="0"/>
              <a:buChar char="•"/>
            </a:pPr>
            <a:r>
              <a:rPr lang="en-US" sz="1500" dirty="0"/>
              <a:t>Instead of using normal image formats like JPEG or PNG, this project uses a mathematical method called Singular Value Decomposition (SVD), which treats the image as a matrix and compresses it by keeping only the most important information, so we can understand the math behind how compression works.</a:t>
            </a:r>
            <a:endParaRPr kumimoji="0" lang="en-US" altLang="en-US" sz="1500" b="0" i="0" u="none" strike="noStrike" cap="none" normalizeH="0" baseline="0" dirty="0">
              <a:ln>
                <a:noFill/>
              </a:ln>
            </a:endParaRPr>
          </a:p>
        </p:txBody>
      </p:sp>
    </p:spTree>
    <p:extLst>
      <p:ext uri="{BB962C8B-B14F-4D97-AF65-F5344CB8AC3E}">
        <p14:creationId xmlns:p14="http://schemas.microsoft.com/office/powerpoint/2010/main" val="111972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F147F3-F52A-F70F-F019-D3125818625B}"/>
              </a:ext>
            </a:extLst>
          </p:cNvPr>
          <p:cNvSpPr>
            <a:spLocks noGrp="1"/>
          </p:cNvSpPr>
          <p:nvPr>
            <p:ph type="body" idx="1"/>
          </p:nvPr>
        </p:nvSpPr>
        <p:spPr>
          <a:xfrm>
            <a:off x="1263534" y="30783"/>
            <a:ext cx="5157787" cy="823912"/>
          </a:xfrm>
        </p:spPr>
        <p:txBody>
          <a:bodyPr>
            <a:normAutofit/>
          </a:bodyPr>
          <a:lstStyle/>
          <a:p>
            <a:r>
              <a:rPr lang="en-US" sz="3200" dirty="0">
                <a:solidFill>
                  <a:schemeClr val="tx1"/>
                </a:solidFill>
              </a:rPr>
              <a:t>Problem Statement</a:t>
            </a:r>
          </a:p>
        </p:txBody>
      </p:sp>
      <p:graphicFrame>
        <p:nvGraphicFramePr>
          <p:cNvPr id="18" name="Rectangle 1">
            <a:extLst>
              <a:ext uri="{FF2B5EF4-FFF2-40B4-BE49-F238E27FC236}">
                <a16:creationId xmlns:a16="http://schemas.microsoft.com/office/drawing/2014/main" id="{F4441DD7-B252-CBC5-9535-5FF011391B2A}"/>
              </a:ext>
            </a:extLst>
          </p:cNvPr>
          <p:cNvGraphicFramePr>
            <a:graphicFrameLocks noGrp="1"/>
          </p:cNvGraphicFramePr>
          <p:nvPr>
            <p:ph sz="half" idx="2"/>
            <p:extLst>
              <p:ext uri="{D42A27DB-BD31-4B8C-83A1-F6EECF244321}">
                <p14:modId xmlns:p14="http://schemas.microsoft.com/office/powerpoint/2010/main" val="1972993863"/>
              </p:ext>
            </p:extLst>
          </p:nvPr>
        </p:nvGraphicFramePr>
        <p:xfrm>
          <a:off x="713679" y="992459"/>
          <a:ext cx="4293219" cy="55421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Placeholder 4">
            <a:extLst>
              <a:ext uri="{FF2B5EF4-FFF2-40B4-BE49-F238E27FC236}">
                <a16:creationId xmlns:a16="http://schemas.microsoft.com/office/drawing/2014/main" id="{099337D7-2F98-05F0-0BB5-4C3EDC5C6D25}"/>
              </a:ext>
            </a:extLst>
          </p:cNvPr>
          <p:cNvSpPr>
            <a:spLocks noGrp="1"/>
          </p:cNvSpPr>
          <p:nvPr>
            <p:ph type="body" sz="quarter" idx="3"/>
          </p:nvPr>
        </p:nvSpPr>
        <p:spPr>
          <a:xfrm>
            <a:off x="6807820" y="0"/>
            <a:ext cx="5183188" cy="823912"/>
          </a:xfrm>
        </p:spPr>
        <p:txBody>
          <a:bodyPr>
            <a:normAutofit/>
          </a:bodyPr>
          <a:lstStyle/>
          <a:p>
            <a:r>
              <a:rPr lang="en-US" sz="3200" dirty="0">
                <a:solidFill>
                  <a:schemeClr val="tx1"/>
                </a:solidFill>
              </a:rPr>
              <a:t>Objectives</a:t>
            </a:r>
          </a:p>
        </p:txBody>
      </p:sp>
      <p:sp>
        <p:nvSpPr>
          <p:cNvPr id="8" name="Rectangle 2">
            <a:extLst>
              <a:ext uri="{FF2B5EF4-FFF2-40B4-BE49-F238E27FC236}">
                <a16:creationId xmlns:a16="http://schemas.microsoft.com/office/drawing/2014/main" id="{281C6A35-E465-90B9-BFB7-21C0E69C7A71}"/>
              </a:ext>
            </a:extLst>
          </p:cNvPr>
          <p:cNvSpPr>
            <a:spLocks noGrp="1" noChangeArrowheads="1"/>
          </p:cNvSpPr>
          <p:nvPr>
            <p:ph sz="quarter" idx="4"/>
          </p:nvPr>
        </p:nvSpPr>
        <p:spPr bwMode="auto">
          <a:xfrm>
            <a:off x="5441797" y="992459"/>
            <a:ext cx="6549211" cy="579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Represent images as matrices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Convert each landscape image to 256 × 256 grayscale</a:t>
            </a:r>
            <a:r>
              <a:rPr lang="en-US" altLang="en-US" sz="1800" dirty="0">
                <a:latin typeface="Arial" panose="020B0604020202020204" pitchFamily="34" charset="0"/>
              </a:rPr>
              <a:t> and treat image as a matrix of pixel values.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Apply SVD and low-rank approximation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Factor each image matrix using Singular Value Decomposition (SVD).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Reconstruct images using only the top k singular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Quantitatively evaluate compression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Compute the relative reconstruction error to measure how much information is lost.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Calculate the compression ratio by comparing numbers stored in the original image vs. the rank-k SVD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Visually compare reconstructions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Show original vs rank-k images side by side.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Observe how image quality changes as k increases.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Analyze the trade-off</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Study the balance between image quality and compression.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Identify k values that give a good compromise: high compression but still good visual quality.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060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lose-up of hopscotch on a sidewalk">
            <a:extLst>
              <a:ext uri="{FF2B5EF4-FFF2-40B4-BE49-F238E27FC236}">
                <a16:creationId xmlns:a16="http://schemas.microsoft.com/office/drawing/2014/main" id="{07C71317-C1AD-06C1-CD34-035D89BD77B0}"/>
              </a:ext>
            </a:extLst>
          </p:cNvPr>
          <p:cNvPicPr>
            <a:picLocks noChangeAspect="1"/>
          </p:cNvPicPr>
          <p:nvPr/>
        </p:nvPicPr>
        <p:blipFill>
          <a:blip r:embed="rId3"/>
          <a:srcRect b="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8F2A9A-CDB5-D5E5-6657-7E03FFD9662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a:t>SVD and Low-Rank Approximation</a:t>
            </a:r>
            <a:br>
              <a:rPr lang="en-US" b="1"/>
            </a:b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06D2F33-F350-3C79-259D-E84E33FFF373}"/>
                  </a:ext>
                </a:extLst>
              </p:cNvPr>
              <p:cNvSpPr txBox="1"/>
              <p:nvPr/>
            </p:nvSpPr>
            <p:spPr>
              <a:xfrm>
                <a:off x="838200" y="1825625"/>
                <a:ext cx="10515600" cy="435133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a:t>This project is based on the Singular Value Decomposition (SVD) and low-rank approximation topics from our Numerical Methods / Linear Algebra part of the course.</a:t>
                </a:r>
              </a:p>
              <a:p>
                <a:pPr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b="1"/>
                  <a:t>In class, we learned that:</a:t>
                </a:r>
              </a:p>
              <a:p>
                <a:pPr marL="742950" lvl="1" indent="-228600">
                  <a:lnSpc>
                    <a:spcPct val="90000"/>
                  </a:lnSpc>
                  <a:spcAft>
                    <a:spcPts val="600"/>
                  </a:spcAft>
                  <a:buFont typeface="Arial" panose="020B0604020202020204" pitchFamily="34" charset="0"/>
                  <a:buChar char="•"/>
                </a:pPr>
                <a:r>
                  <a:rPr lang="en-US"/>
                  <a:t>Any matrix </a:t>
                </a:r>
                <a14:m>
                  <m:oMath xmlns:m="http://schemas.openxmlformats.org/officeDocument/2006/math">
                    <m:r>
                      <a:rPr lang="en-US" i="1">
                        <a:latin typeface="Cambria Math" panose="02040503050406030204" pitchFamily="18" charset="0"/>
                      </a:rPr>
                      <m:t>𝐴</m:t>
                    </m:r>
                  </m:oMath>
                </a14:m>
                <a:r>
                  <a:rPr lang="en-US"/>
                  <a:t>can be written as </a:t>
                </a:r>
                <a14:m>
                  <m:oMath xmlns:m="http://schemas.openxmlformats.org/officeDocument/2006/math">
                    <m:r>
                      <a:rPr lang="en-US" b="1" i="1">
                        <a:latin typeface="Cambria Math" panose="02040503050406030204" pitchFamily="18" charset="0"/>
                      </a:rPr>
                      <m:t>𝑨</m:t>
                    </m:r>
                    <m:r>
                      <a:rPr lang="en-US" b="1" i="0">
                        <a:latin typeface="Cambria Math" panose="02040503050406030204" pitchFamily="18" charset="0"/>
                      </a:rPr>
                      <m:t>=</m:t>
                    </m:r>
                    <m:r>
                      <a:rPr lang="en-US" b="1" i="1">
                        <a:latin typeface="Cambria Math" panose="02040503050406030204" pitchFamily="18" charset="0"/>
                      </a:rPr>
                      <m:t>𝑼</m:t>
                    </m:r>
                    <m:r>
                      <a:rPr lang="en-US" b="1" i="0">
                        <a:latin typeface="Cambria Math" panose="02040503050406030204" pitchFamily="18" charset="0"/>
                      </a:rPr>
                      <m:t>𝚺</m:t>
                    </m:r>
                    <m:sSup>
                      <m:sSupPr>
                        <m:ctrlPr>
                          <a:rPr lang="en-US" b="1" i="1">
                            <a:latin typeface="Cambria Math" panose="02040503050406030204" pitchFamily="18" charset="0"/>
                          </a:rPr>
                        </m:ctrlPr>
                      </m:sSupPr>
                      <m:e>
                        <m:r>
                          <a:rPr lang="en-US" b="1" i="1">
                            <a:latin typeface="Cambria Math" panose="02040503050406030204" pitchFamily="18" charset="0"/>
                          </a:rPr>
                          <m:t>𝑽</m:t>
                        </m:r>
                      </m:e>
                      <m:sup>
                        <m:r>
                          <a:rPr lang="en-US" b="1" i="1">
                            <a:latin typeface="Cambria Math" panose="02040503050406030204" pitchFamily="18" charset="0"/>
                          </a:rPr>
                          <m:t>𝑻</m:t>
                        </m:r>
                      </m:sup>
                    </m:sSup>
                  </m:oMath>
                </a14:m>
                <a:r>
                  <a:rPr lang="en-US" b="1"/>
                  <a:t>.</a:t>
                </a:r>
              </a:p>
              <a:p>
                <a:pPr marL="742950" lvl="1" indent="-228600">
                  <a:lnSpc>
                    <a:spcPct val="90000"/>
                  </a:lnSpc>
                  <a:spcAft>
                    <a:spcPts val="600"/>
                  </a:spcAft>
                  <a:buFont typeface="Arial" panose="020B0604020202020204" pitchFamily="34" charset="0"/>
                  <a:buChar char="•"/>
                </a:pPr>
                <a:r>
                  <a:rPr lang="en-US"/>
                  <a:t>Keeping only the largest singular values gives the best rank-k approximation of </a:t>
                </a:r>
                <a14:m>
                  <m:oMath xmlns:m="http://schemas.openxmlformats.org/officeDocument/2006/math">
                    <m:r>
                      <a:rPr lang="en-US" b="0" i="1">
                        <a:latin typeface="Cambria Math" panose="02040503050406030204" pitchFamily="18" charset="0"/>
                      </a:rPr>
                      <m:t>𝐴</m:t>
                    </m:r>
                  </m:oMath>
                </a14:m>
                <a:r>
                  <a:rPr lang="en-US"/>
                  <a:t>in the least-squares sense.</a:t>
                </a:r>
              </a:p>
              <a:p>
                <a:pPr marL="742950" lvl="1"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b="1"/>
                  <a:t>In this project:</a:t>
                </a:r>
              </a:p>
              <a:p>
                <a:pPr marL="742950" lvl="1" indent="-228600">
                  <a:lnSpc>
                    <a:spcPct val="90000"/>
                  </a:lnSpc>
                  <a:spcAft>
                    <a:spcPts val="600"/>
                  </a:spcAft>
                  <a:buFont typeface="Arial" panose="020B0604020202020204" pitchFamily="34" charset="0"/>
                  <a:buChar char="•"/>
                </a:pPr>
                <a:r>
                  <a:rPr lang="en-US"/>
                  <a:t>Each grayscale image is treated as a matrix.</a:t>
                </a:r>
              </a:p>
              <a:p>
                <a:pPr marL="742950" lvl="1" indent="-228600">
                  <a:lnSpc>
                    <a:spcPct val="90000"/>
                  </a:lnSpc>
                  <a:spcAft>
                    <a:spcPts val="600"/>
                  </a:spcAft>
                  <a:buFont typeface="Arial" panose="020B0604020202020204" pitchFamily="34" charset="0"/>
                  <a:buChar char="•"/>
                </a:pPr>
                <a:r>
                  <a:rPr lang="en-US"/>
                  <a:t>We use low-rank SVD approximations to compress these matrices.</a:t>
                </a:r>
              </a:p>
              <a:p>
                <a:pPr lvl="1"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a:t>This directly connects the theory of SVD and low-rank approximation to a practical application: image compression on a real Kaggle dataset.</a:t>
                </a:r>
              </a:p>
            </p:txBody>
          </p:sp>
        </mc:Choice>
        <mc:Fallback xmlns="">
          <p:sp>
            <p:nvSpPr>
              <p:cNvPr id="4" name="TextBox 3">
                <a:extLst>
                  <a:ext uri="{FF2B5EF4-FFF2-40B4-BE49-F238E27FC236}">
                    <a16:creationId xmlns:a16="http://schemas.microsoft.com/office/drawing/2014/main" id="{506D2F33-F350-3C79-259D-E84E33FFF373}"/>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4"/>
                <a:stretch>
                  <a:fillRect t="-1261" b="-1541"/>
                </a:stretch>
              </a:blipFill>
            </p:spPr>
            <p:txBody>
              <a:bodyPr/>
              <a:lstStyle/>
              <a:p>
                <a:r>
                  <a:rPr lang="en-US">
                    <a:noFill/>
                  </a:rPr>
                  <a:t> </a:t>
                </a:r>
              </a:p>
            </p:txBody>
          </p:sp>
        </mc:Fallback>
      </mc:AlternateContent>
    </p:spTree>
    <p:extLst>
      <p:ext uri="{BB962C8B-B14F-4D97-AF65-F5344CB8AC3E}">
        <p14:creationId xmlns:p14="http://schemas.microsoft.com/office/powerpoint/2010/main" val="377933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4469-7052-2969-EC3C-AD51EE0DE02A}"/>
              </a:ext>
            </a:extLst>
          </p:cNvPr>
          <p:cNvSpPr>
            <a:spLocks noGrp="1"/>
          </p:cNvSpPr>
          <p:nvPr>
            <p:ph type="title"/>
          </p:nvPr>
        </p:nvSpPr>
        <p:spPr>
          <a:xfrm>
            <a:off x="3672468" y="234176"/>
            <a:ext cx="10515600" cy="1325563"/>
          </a:xfrm>
        </p:spPr>
        <p:txBody>
          <a:bodyPr>
            <a:normAutofit/>
          </a:bodyPr>
          <a:lstStyle/>
          <a:p>
            <a:r>
              <a:rPr lang="en-US" sz="4000" b="1" dirty="0"/>
              <a:t>Dataset Overview</a:t>
            </a:r>
          </a:p>
        </p:txBody>
      </p:sp>
      <p:graphicFrame>
        <p:nvGraphicFramePr>
          <p:cNvPr id="14" name="TextBox 3">
            <a:extLst>
              <a:ext uri="{FF2B5EF4-FFF2-40B4-BE49-F238E27FC236}">
                <a16:creationId xmlns:a16="http://schemas.microsoft.com/office/drawing/2014/main" id="{747B6007-F76D-6C05-913C-7F2C30152C5D}"/>
              </a:ext>
            </a:extLst>
          </p:cNvPr>
          <p:cNvGraphicFramePr/>
          <p:nvPr>
            <p:extLst>
              <p:ext uri="{D42A27DB-BD31-4B8C-83A1-F6EECF244321}">
                <p14:modId xmlns:p14="http://schemas.microsoft.com/office/powerpoint/2010/main" val="163040109"/>
              </p:ext>
            </p:extLst>
          </p:nvPr>
        </p:nvGraphicFramePr>
        <p:xfrm>
          <a:off x="691376" y="1159729"/>
          <a:ext cx="11106614" cy="55644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609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C5891C-8BAB-F260-E79E-AAE62713FD8D}"/>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4200" b="1" kern="1200">
                <a:solidFill>
                  <a:schemeClr val="tx1"/>
                </a:solidFill>
                <a:latin typeface="+mj-lt"/>
                <a:ea typeface="+mj-ea"/>
                <a:cs typeface="+mj-cs"/>
              </a:rPr>
              <a:t>Data Preprocessing: Resize and Grayscale Conversion</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EEFFAC-9D3F-E811-8411-A4735F178566}"/>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b="1"/>
              <a:t>Image selection:</a:t>
            </a:r>
            <a:br>
              <a:rPr lang="en-US" sz="1700"/>
            </a:br>
            <a:r>
              <a:rPr lang="en-US" sz="1700"/>
              <a:t>Use only a </a:t>
            </a:r>
            <a:r>
              <a:rPr lang="en-US" sz="1700" b="1"/>
              <a:t>small subset (head)</a:t>
            </a:r>
            <a:r>
              <a:rPr lang="en-US" sz="1700"/>
              <a:t> of images from the Landscape Pictures dataset for faster experiments.</a:t>
            </a:r>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r>
              <a:rPr lang="en-US" sz="1700" b="1"/>
              <a:t>Resizing:</a:t>
            </a:r>
            <a:br>
              <a:rPr lang="en-US" sz="1700"/>
            </a:br>
            <a:r>
              <a:rPr lang="en-US" sz="1700"/>
              <a:t>Each selected image is resized to a </a:t>
            </a:r>
            <a:r>
              <a:rPr lang="en-US" sz="1700" b="1"/>
              <a:t>fixed size of 256 × 256 pixels</a:t>
            </a:r>
            <a:r>
              <a:rPr lang="en-US" sz="1700"/>
              <a:t> so all images have the same dimensions.</a:t>
            </a:r>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r>
              <a:rPr lang="en-US" sz="1700" b="1"/>
              <a:t>Grayscale conversion:</a:t>
            </a:r>
            <a:br>
              <a:rPr lang="en-US" sz="1700"/>
            </a:br>
            <a:r>
              <a:rPr lang="en-US" sz="1700"/>
              <a:t>Convert each color image to </a:t>
            </a:r>
            <a:r>
              <a:rPr lang="en-US" sz="1700" b="1"/>
              <a:t>grayscale (L mode)</a:t>
            </a:r>
            <a:r>
              <a:rPr lang="en-US" sz="1700"/>
              <a:t> to remove color information and work with a </a:t>
            </a:r>
            <a:r>
              <a:rPr lang="en-US" sz="1700" b="1"/>
              <a:t>single channel</a:t>
            </a:r>
            <a:r>
              <a:rPr lang="en-US" sz="1700"/>
              <a:t>.</a:t>
            </a:r>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r>
              <a:rPr lang="en-US" sz="1700" b="1"/>
              <a:t>Matrix representation:</a:t>
            </a:r>
            <a:br>
              <a:rPr lang="en-US" sz="1700"/>
            </a:br>
            <a:r>
              <a:rPr lang="en-US" sz="1700"/>
              <a:t>The grayscale image is stored as a </a:t>
            </a:r>
            <a:r>
              <a:rPr lang="en-US" sz="1700" b="1"/>
              <a:t>2D matrix of pixel values</a:t>
            </a:r>
            <a:r>
              <a:rPr lang="en-US" sz="1700"/>
              <a:t> (intensity from 0 to 255).</a:t>
            </a:r>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r>
              <a:rPr lang="en-US" sz="1700" b="1"/>
              <a:t>Reason for this step:</a:t>
            </a:r>
            <a:br>
              <a:rPr lang="en-US" sz="1700"/>
            </a:br>
            <a:r>
              <a:rPr lang="en-US" sz="1700"/>
              <a:t>Having </a:t>
            </a:r>
            <a:r>
              <a:rPr lang="en-US" sz="1700" b="1"/>
              <a:t>same size, grayscale matrices</a:t>
            </a:r>
            <a:r>
              <a:rPr lang="en-US" sz="1700"/>
              <a:t> makes it easy to apply </a:t>
            </a:r>
            <a:r>
              <a:rPr lang="en-US" sz="1700" b="1"/>
              <a:t>SVD</a:t>
            </a:r>
            <a:r>
              <a:rPr lang="en-US" sz="1700"/>
              <a:t> and compare results across different images.</a:t>
            </a:r>
          </a:p>
        </p:txBody>
      </p:sp>
    </p:spTree>
    <p:extLst>
      <p:ext uri="{BB962C8B-B14F-4D97-AF65-F5344CB8AC3E}">
        <p14:creationId xmlns:p14="http://schemas.microsoft.com/office/powerpoint/2010/main" val="3796972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861085-0EEE-4482-62FB-AAC1F6950924}"/>
              </a:ext>
            </a:extLst>
          </p:cNvPr>
          <p:cNvSpPr txBox="1"/>
          <p:nvPr/>
        </p:nvSpPr>
        <p:spPr>
          <a:xfrm>
            <a:off x="950642" y="255807"/>
            <a:ext cx="6094140" cy="584775"/>
          </a:xfrm>
          <a:prstGeom prst="rect">
            <a:avLst/>
          </a:prstGeom>
          <a:noFill/>
        </p:spPr>
        <p:txBody>
          <a:bodyPr wrap="square">
            <a:spAutoFit/>
          </a:bodyPr>
          <a:lstStyle/>
          <a:p>
            <a:r>
              <a:rPr lang="en-US" sz="3200" b="1" dirty="0"/>
              <a:t>Mathematical Background</a:t>
            </a:r>
          </a:p>
        </p:txBody>
      </p:sp>
      <p:sp>
        <p:nvSpPr>
          <p:cNvPr id="11" name="TextBox 10">
            <a:extLst>
              <a:ext uri="{FF2B5EF4-FFF2-40B4-BE49-F238E27FC236}">
                <a16:creationId xmlns:a16="http://schemas.microsoft.com/office/drawing/2014/main" id="{F1ABC767-CC6C-FA5B-9AD2-A2F0FF4F080B}"/>
              </a:ext>
            </a:extLst>
          </p:cNvPr>
          <p:cNvSpPr txBox="1"/>
          <p:nvPr/>
        </p:nvSpPr>
        <p:spPr>
          <a:xfrm>
            <a:off x="950642" y="991787"/>
            <a:ext cx="6094140" cy="369332"/>
          </a:xfrm>
          <a:prstGeom prst="rect">
            <a:avLst/>
          </a:prstGeom>
          <a:noFill/>
        </p:spPr>
        <p:txBody>
          <a:bodyPr wrap="square">
            <a:spAutoFit/>
          </a:bodyPr>
          <a:lstStyle/>
          <a:p>
            <a:pPr marL="285750" indent="-285750">
              <a:buFont typeface="Wingdings" panose="05000000000000000000" pitchFamily="2" charset="2"/>
              <a:buChar char="Ø"/>
            </a:pPr>
            <a:r>
              <a:rPr lang="en-US" b="1" dirty="0"/>
              <a:t>SVD factorization</a:t>
            </a:r>
          </a:p>
        </p:txBody>
      </p:sp>
      <p:pic>
        <p:nvPicPr>
          <p:cNvPr id="13" name="Picture 12">
            <a:extLst>
              <a:ext uri="{FF2B5EF4-FFF2-40B4-BE49-F238E27FC236}">
                <a16:creationId xmlns:a16="http://schemas.microsoft.com/office/drawing/2014/main" id="{010DD1D1-E950-55FD-1E8E-A63FD5BD2E95}"/>
              </a:ext>
            </a:extLst>
          </p:cNvPr>
          <p:cNvPicPr>
            <a:picLocks noChangeAspect="1"/>
          </p:cNvPicPr>
          <p:nvPr/>
        </p:nvPicPr>
        <p:blipFill>
          <a:blip r:embed="rId3"/>
          <a:stretch>
            <a:fillRect/>
          </a:stretch>
        </p:blipFill>
        <p:spPr>
          <a:xfrm>
            <a:off x="3681267" y="1011344"/>
            <a:ext cx="1104957" cy="330217"/>
          </a:xfrm>
          <a:prstGeom prst="rect">
            <a:avLst/>
          </a:prstGeom>
        </p:spPr>
      </p:pic>
      <p:sp>
        <p:nvSpPr>
          <p:cNvPr id="15" name="TextBox 14">
            <a:extLst>
              <a:ext uri="{FF2B5EF4-FFF2-40B4-BE49-F238E27FC236}">
                <a16:creationId xmlns:a16="http://schemas.microsoft.com/office/drawing/2014/main" id="{C281DF5F-3D8C-67E8-6D4F-3A284C456311}"/>
              </a:ext>
            </a:extLst>
          </p:cNvPr>
          <p:cNvSpPr txBox="1"/>
          <p:nvPr/>
        </p:nvSpPr>
        <p:spPr>
          <a:xfrm>
            <a:off x="1039851" y="1512324"/>
            <a:ext cx="10345543" cy="646331"/>
          </a:xfrm>
          <a:prstGeom prst="rect">
            <a:avLst/>
          </a:prstGeom>
          <a:noFill/>
        </p:spPr>
        <p:txBody>
          <a:bodyPr wrap="square">
            <a:spAutoFit/>
          </a:bodyPr>
          <a:lstStyle/>
          <a:p>
            <a:r>
              <a:rPr lang="en-US" dirty="0"/>
              <a:t>U is a matrix whose columns are special vectors (called </a:t>
            </a:r>
            <a:r>
              <a:rPr lang="en-US" b="1" dirty="0"/>
              <a:t>left singular vectors</a:t>
            </a:r>
            <a:r>
              <a:rPr lang="en-US" dirty="0"/>
              <a:t>) that describe patterns in the </a:t>
            </a:r>
            <a:r>
              <a:rPr lang="en-US" b="1" dirty="0"/>
              <a:t>rows</a:t>
            </a:r>
            <a:r>
              <a:rPr lang="en-US" dirty="0"/>
              <a:t> of the image.</a:t>
            </a:r>
          </a:p>
        </p:txBody>
      </p:sp>
      <p:sp>
        <p:nvSpPr>
          <p:cNvPr id="17" name="TextBox 16">
            <a:extLst>
              <a:ext uri="{FF2B5EF4-FFF2-40B4-BE49-F238E27FC236}">
                <a16:creationId xmlns:a16="http://schemas.microsoft.com/office/drawing/2014/main" id="{D36BB501-4768-257A-D6CB-30C0BAB790F3}"/>
              </a:ext>
            </a:extLst>
          </p:cNvPr>
          <p:cNvSpPr txBox="1"/>
          <p:nvPr/>
        </p:nvSpPr>
        <p:spPr>
          <a:xfrm>
            <a:off x="1039851" y="2202148"/>
            <a:ext cx="6094140" cy="369332"/>
          </a:xfrm>
          <a:prstGeom prst="rect">
            <a:avLst/>
          </a:prstGeom>
          <a:noFill/>
        </p:spPr>
        <p:txBody>
          <a:bodyPr wrap="square">
            <a:spAutoFit/>
          </a:bodyPr>
          <a:lstStyle/>
          <a:p>
            <a:r>
              <a:rPr lang="en-US" dirty="0"/>
              <a:t>Σ is a diagonal matrix that contains the </a:t>
            </a:r>
            <a:r>
              <a:rPr lang="en-US" b="1" dirty="0"/>
              <a:t>singular values</a:t>
            </a:r>
            <a:r>
              <a:rPr lang="en-US" dirty="0"/>
              <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AFD1E65-9971-F64C-AD8E-C93639032843}"/>
                  </a:ext>
                </a:extLst>
              </p:cNvPr>
              <p:cNvSpPr txBox="1"/>
              <p:nvPr/>
            </p:nvSpPr>
            <p:spPr>
              <a:xfrm>
                <a:off x="1039851" y="2758819"/>
                <a:ext cx="10657778" cy="369332"/>
              </a:xfrm>
              <a:prstGeom prst="rect">
                <a:avLst/>
              </a:prstGeom>
              <a:noFill/>
            </p:spPr>
            <p:txBody>
              <a:bodyPr wrap="square">
                <a:spAutoFit/>
              </a:bodyPr>
              <a:lstStyle/>
              <a:p>
                <a:r>
                  <a:rPr lang="en-US" dirty="0"/>
                  <a:t>VT (transpose of </a:t>
                </a:r>
                <a14:m>
                  <m:oMath xmlns:m="http://schemas.openxmlformats.org/officeDocument/2006/math">
                    <m:r>
                      <a:rPr lang="en-US" i="1">
                        <a:latin typeface="Cambria Math" panose="02040503050406030204" pitchFamily="18" charset="0"/>
                      </a:rPr>
                      <m:t>𝑉</m:t>
                    </m:r>
                  </m:oMath>
                </a14:m>
                <a:r>
                  <a:rPr lang="en-US" dirty="0"/>
                  <a:t>) contains </a:t>
                </a:r>
                <a:r>
                  <a:rPr lang="en-US" b="1" dirty="0"/>
                  <a:t>right singular vectors</a:t>
                </a:r>
                <a:r>
                  <a:rPr lang="en-US" dirty="0"/>
                  <a:t>, which describe patterns in the </a:t>
                </a:r>
                <a:r>
                  <a:rPr lang="en-US" b="1" dirty="0"/>
                  <a:t>columns</a:t>
                </a:r>
                <a:r>
                  <a:rPr lang="en-US" dirty="0"/>
                  <a:t> of the image.</a:t>
                </a:r>
              </a:p>
            </p:txBody>
          </p:sp>
        </mc:Choice>
        <mc:Fallback xmlns="">
          <p:sp>
            <p:nvSpPr>
              <p:cNvPr id="19" name="TextBox 18">
                <a:extLst>
                  <a:ext uri="{FF2B5EF4-FFF2-40B4-BE49-F238E27FC236}">
                    <a16:creationId xmlns:a16="http://schemas.microsoft.com/office/drawing/2014/main" id="{EAFD1E65-9971-F64C-AD8E-C93639032843}"/>
                  </a:ext>
                </a:extLst>
              </p:cNvPr>
              <p:cNvSpPr txBox="1">
                <a:spLocks noRot="1" noChangeAspect="1" noMove="1" noResize="1" noEditPoints="1" noAdjustHandles="1" noChangeArrowheads="1" noChangeShapeType="1" noTextEdit="1"/>
              </p:cNvSpPr>
              <p:nvPr/>
            </p:nvSpPr>
            <p:spPr>
              <a:xfrm>
                <a:off x="1039851" y="2758819"/>
                <a:ext cx="10657778" cy="369332"/>
              </a:xfrm>
              <a:prstGeom prst="rect">
                <a:avLst/>
              </a:prstGeom>
              <a:blipFill>
                <a:blip r:embed="rId4"/>
                <a:stretch>
                  <a:fillRect l="-515" t="-8333" b="-28333"/>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3A5F001B-F51D-448F-5013-473E2FAC1BDC}"/>
              </a:ext>
            </a:extLst>
          </p:cNvPr>
          <p:cNvSpPr txBox="1"/>
          <p:nvPr/>
        </p:nvSpPr>
        <p:spPr>
          <a:xfrm>
            <a:off x="1039852" y="3614331"/>
            <a:ext cx="6094140" cy="369332"/>
          </a:xfrm>
          <a:prstGeom prst="rect">
            <a:avLst/>
          </a:prstGeom>
          <a:noFill/>
        </p:spPr>
        <p:txBody>
          <a:bodyPr wrap="square">
            <a:spAutoFit/>
          </a:bodyPr>
          <a:lstStyle/>
          <a:p>
            <a:pPr marL="285750" indent="-285750">
              <a:buFont typeface="Wingdings" panose="05000000000000000000" pitchFamily="2" charset="2"/>
              <a:buChar char="Ø"/>
            </a:pPr>
            <a:r>
              <a:rPr lang="en-US" b="1" dirty="0"/>
              <a:t>SVD as a sum of simple pieces</a:t>
            </a:r>
          </a:p>
        </p:txBody>
      </p:sp>
      <p:pic>
        <p:nvPicPr>
          <p:cNvPr id="23" name="Picture 22">
            <a:extLst>
              <a:ext uri="{FF2B5EF4-FFF2-40B4-BE49-F238E27FC236}">
                <a16:creationId xmlns:a16="http://schemas.microsoft.com/office/drawing/2014/main" id="{66BCC478-95A5-3E42-6172-269BB7201749}"/>
              </a:ext>
            </a:extLst>
          </p:cNvPr>
          <p:cNvPicPr>
            <a:picLocks noChangeAspect="1"/>
          </p:cNvPicPr>
          <p:nvPr/>
        </p:nvPicPr>
        <p:blipFill>
          <a:blip r:embed="rId5"/>
          <a:stretch>
            <a:fillRect/>
          </a:stretch>
        </p:blipFill>
        <p:spPr>
          <a:xfrm>
            <a:off x="4473033" y="3704887"/>
            <a:ext cx="2978303" cy="349268"/>
          </a:xfrm>
          <a:prstGeom prst="rect">
            <a:avLst/>
          </a:prstGeom>
        </p:spPr>
      </p:pic>
      <p:sp>
        <p:nvSpPr>
          <p:cNvPr id="25" name="TextBox 24">
            <a:extLst>
              <a:ext uri="{FF2B5EF4-FFF2-40B4-BE49-F238E27FC236}">
                <a16:creationId xmlns:a16="http://schemas.microsoft.com/office/drawing/2014/main" id="{871E9E3F-53F3-B6E4-668B-2BD4B34E3107}"/>
              </a:ext>
            </a:extLst>
          </p:cNvPr>
          <p:cNvSpPr txBox="1"/>
          <p:nvPr/>
        </p:nvSpPr>
        <p:spPr>
          <a:xfrm>
            <a:off x="1039851" y="4054155"/>
            <a:ext cx="6094140" cy="369332"/>
          </a:xfrm>
          <a:prstGeom prst="rect">
            <a:avLst/>
          </a:prstGeom>
          <a:noFill/>
        </p:spPr>
        <p:txBody>
          <a:bodyPr wrap="square">
            <a:spAutoFit/>
          </a:bodyPr>
          <a:lstStyle/>
          <a:p>
            <a:pPr marL="285750" indent="-285750">
              <a:buFont typeface="Wingdings" panose="05000000000000000000" pitchFamily="2" charset="2"/>
              <a:buChar char="Ø"/>
            </a:pPr>
            <a:r>
              <a:rPr lang="en-US" b="1" dirty="0"/>
              <a:t>Low-rank approximation (for compression)</a:t>
            </a:r>
          </a:p>
        </p:txBody>
      </p:sp>
      <p:pic>
        <p:nvPicPr>
          <p:cNvPr id="27" name="Picture 26">
            <a:extLst>
              <a:ext uri="{FF2B5EF4-FFF2-40B4-BE49-F238E27FC236}">
                <a16:creationId xmlns:a16="http://schemas.microsoft.com/office/drawing/2014/main" id="{8F97ADB6-0AF3-3903-9647-62A48E180D4F}"/>
              </a:ext>
            </a:extLst>
          </p:cNvPr>
          <p:cNvPicPr>
            <a:picLocks noChangeAspect="1"/>
          </p:cNvPicPr>
          <p:nvPr/>
        </p:nvPicPr>
        <p:blipFill>
          <a:blip r:embed="rId6"/>
          <a:stretch>
            <a:fillRect/>
          </a:stretch>
        </p:blipFill>
        <p:spPr>
          <a:xfrm>
            <a:off x="5572761" y="4115487"/>
            <a:ext cx="2362321" cy="349268"/>
          </a:xfrm>
          <a:prstGeom prst="rect">
            <a:avLst/>
          </a:prstGeom>
        </p:spPr>
      </p:pic>
      <p:pic>
        <p:nvPicPr>
          <p:cNvPr id="31" name="Picture 30">
            <a:extLst>
              <a:ext uri="{FF2B5EF4-FFF2-40B4-BE49-F238E27FC236}">
                <a16:creationId xmlns:a16="http://schemas.microsoft.com/office/drawing/2014/main" id="{A51CFFAA-2E06-CBEC-F4A3-FFDB415E1C2A}"/>
              </a:ext>
            </a:extLst>
          </p:cNvPr>
          <p:cNvPicPr>
            <a:picLocks noChangeAspect="1"/>
          </p:cNvPicPr>
          <p:nvPr/>
        </p:nvPicPr>
        <p:blipFill>
          <a:blip r:embed="rId7"/>
          <a:stretch>
            <a:fillRect/>
          </a:stretch>
        </p:blipFill>
        <p:spPr>
          <a:xfrm>
            <a:off x="2297349" y="4909667"/>
            <a:ext cx="7329670" cy="1379969"/>
          </a:xfrm>
          <a:prstGeom prst="rect">
            <a:avLst/>
          </a:prstGeom>
        </p:spPr>
      </p:pic>
    </p:spTree>
    <p:extLst>
      <p:ext uri="{BB962C8B-B14F-4D97-AF65-F5344CB8AC3E}">
        <p14:creationId xmlns:p14="http://schemas.microsoft.com/office/powerpoint/2010/main" val="407085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B8174F-A6DA-49FE-F425-BA229D3BD0CD}"/>
              </a:ext>
            </a:extLst>
          </p:cNvPr>
          <p:cNvSpPr txBox="1"/>
          <p:nvPr/>
        </p:nvSpPr>
        <p:spPr>
          <a:xfrm>
            <a:off x="950641" y="266959"/>
            <a:ext cx="9576109" cy="584775"/>
          </a:xfrm>
          <a:prstGeom prst="rect">
            <a:avLst/>
          </a:prstGeom>
          <a:noFill/>
        </p:spPr>
        <p:txBody>
          <a:bodyPr wrap="square">
            <a:spAutoFit/>
          </a:bodyPr>
          <a:lstStyle/>
          <a:p>
            <a:pPr>
              <a:buNone/>
            </a:pPr>
            <a:r>
              <a:rPr lang="en-US" sz="3200" b="1" dirty="0"/>
              <a:t>Low-Rank Approximation and Compression Ratio</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13F2A6D-0B63-EC5D-6B3F-5D74F9D63687}"/>
                  </a:ext>
                </a:extLst>
              </p:cNvPr>
              <p:cNvSpPr txBox="1"/>
              <p:nvPr/>
            </p:nvSpPr>
            <p:spPr>
              <a:xfrm>
                <a:off x="738768" y="1094850"/>
                <a:ext cx="11293398" cy="934423"/>
              </a:xfrm>
              <a:prstGeom prst="rect">
                <a:avLst/>
              </a:prstGeom>
              <a:noFill/>
            </p:spPr>
            <p:txBody>
              <a:bodyPr wrap="square">
                <a:spAutoFit/>
              </a:bodyPr>
              <a:lstStyle/>
              <a:p>
                <a:r>
                  <a:rPr lang="en-US" b="1" dirty="0"/>
                  <a:t>Low-rank approximation idea</a:t>
                </a:r>
                <a:br>
                  <a:rPr lang="en-US" dirty="0"/>
                </a:br>
                <a:r>
                  <a:rPr lang="en-US" dirty="0"/>
                  <a:t>After SVD, an image matrix </a:t>
                </a:r>
                <a14:m>
                  <m:oMath xmlns:m="http://schemas.openxmlformats.org/officeDocument/2006/math">
                    <m:r>
                      <a:rPr lang="en-US" i="1">
                        <a:latin typeface="Cambria Math" panose="02040503050406030204" pitchFamily="18" charset="0"/>
                      </a:rPr>
                      <m:t>𝐴</m:t>
                    </m:r>
                  </m:oMath>
                </a14:m>
                <a:r>
                  <a:rPr lang="en-US" dirty="0"/>
                  <a:t>can be written as </a:t>
                </a:r>
                <a14:m>
                  <m:oMath xmlns:m="http://schemas.openxmlformats.org/officeDocument/2006/math">
                    <m:r>
                      <a:rPr lang="en-US" i="1">
                        <a:latin typeface="Cambria Math" panose="02040503050406030204" pitchFamily="18" charset="0"/>
                      </a:rPr>
                      <m:t>𝐴</m:t>
                    </m:r>
                    <m:r>
                      <a:rPr lang="en-US" i="0">
                        <a:latin typeface="Cambria Math" panose="02040503050406030204" pitchFamily="18" charset="0"/>
                      </a:rPr>
                      <m:t>=</m:t>
                    </m:r>
                    <m:r>
                      <a:rPr lang="en-US" i="1">
                        <a:latin typeface="Cambria Math" panose="02040503050406030204" pitchFamily="18" charset="0"/>
                      </a:rPr>
                      <m:t>𝑈</m:t>
                    </m:r>
                    <m:r>
                      <m:rPr>
                        <m:sty m:val="p"/>
                      </m:rPr>
                      <a:rPr lang="el-GR" i="0">
                        <a:latin typeface="Cambria Math" panose="02040503050406030204" pitchFamily="18" charset="0"/>
                      </a:rPr>
                      <m:t>Σ</m:t>
                    </m:r>
                    <m:sSup>
                      <m:sSupPr>
                        <m:ctrlPr>
                          <a:rPr lang="ar-AE" i="1">
                            <a:latin typeface="Cambria Math" panose="02040503050406030204" pitchFamily="18" charset="0"/>
                          </a:rPr>
                        </m:ctrlPr>
                      </m:sSupPr>
                      <m:e>
                        <m:r>
                          <a:rPr lang="ar-AE" i="1">
                            <a:latin typeface="Cambria Math" panose="02040503050406030204" pitchFamily="18" charset="0"/>
                          </a:rPr>
                          <m:t>𝑉</m:t>
                        </m:r>
                      </m:e>
                      <m:sup>
                        <m:r>
                          <a:rPr lang="ar-AE" i="1">
                            <a:latin typeface="Cambria Math" panose="02040503050406030204" pitchFamily="18" charset="0"/>
                          </a:rPr>
                          <m:t>𝑇</m:t>
                        </m:r>
                      </m:sup>
                    </m:sSup>
                  </m:oMath>
                </a14:m>
                <a:r>
                  <a:rPr lang="ar-AE" dirty="0"/>
                  <a:t>.</a:t>
                </a:r>
                <a:br>
                  <a:rPr lang="ar-AE" dirty="0"/>
                </a:br>
                <a:r>
                  <a:rPr lang="en-US" dirty="0"/>
                  <a:t>To compress it, we keep only the </a:t>
                </a:r>
                <a:r>
                  <a:rPr lang="en-US" b="1" dirty="0"/>
                  <a:t>top k</a:t>
                </a:r>
                <a:r>
                  <a:rPr lang="en-US" dirty="0"/>
                  <a:t> singular values and vectors, giving a rank-k approximation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𝑘</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𝑘</m:t>
                        </m:r>
                      </m:sub>
                    </m:sSub>
                    <m:sSub>
                      <m:sSubPr>
                        <m:ctrlPr>
                          <a:rPr lang="ar-AE" i="1">
                            <a:latin typeface="Cambria Math" panose="02040503050406030204" pitchFamily="18" charset="0"/>
                          </a:rPr>
                        </m:ctrlPr>
                      </m:sSubPr>
                      <m:e>
                        <m:r>
                          <m:rPr>
                            <m:sty m:val="p"/>
                          </m:rPr>
                          <a:rPr lang="el-GR" i="0">
                            <a:latin typeface="Cambria Math" panose="02040503050406030204" pitchFamily="18" charset="0"/>
                          </a:rPr>
                          <m:t>Σ</m:t>
                        </m:r>
                      </m:e>
                      <m:sub>
                        <m:r>
                          <a:rPr lang="ar-AE" i="1">
                            <a:latin typeface="Cambria Math" panose="02040503050406030204" pitchFamily="18" charset="0"/>
                          </a:rPr>
                          <m:t>𝑘</m:t>
                        </m:r>
                      </m:sub>
                    </m:sSub>
                    <m:sSubSup>
                      <m:sSubSupPr>
                        <m:ctrlPr>
                          <a:rPr lang="ar-AE" i="1">
                            <a:latin typeface="Cambria Math" panose="02040503050406030204" pitchFamily="18" charset="0"/>
                          </a:rPr>
                        </m:ctrlPr>
                      </m:sSubSupPr>
                      <m:e>
                        <m:r>
                          <a:rPr lang="ar-AE" i="1">
                            <a:latin typeface="Cambria Math" panose="02040503050406030204" pitchFamily="18" charset="0"/>
                          </a:rPr>
                          <m:t>𝑉</m:t>
                        </m:r>
                      </m:e>
                      <m:sub>
                        <m:r>
                          <a:rPr lang="ar-AE" i="1">
                            <a:latin typeface="Cambria Math" panose="02040503050406030204" pitchFamily="18" charset="0"/>
                          </a:rPr>
                          <m:t>𝑘</m:t>
                        </m:r>
                      </m:sub>
                      <m:sup>
                        <m:r>
                          <a:rPr lang="ar-AE" i="1">
                            <a:latin typeface="Cambria Math" panose="02040503050406030204" pitchFamily="18" charset="0"/>
                          </a:rPr>
                          <m:t>𝑇</m:t>
                        </m:r>
                      </m:sup>
                    </m:sSubSup>
                  </m:oMath>
                </a14:m>
                <a:endParaRPr lang="en-US" dirty="0"/>
              </a:p>
            </p:txBody>
          </p:sp>
        </mc:Choice>
        <mc:Fallback xmlns="">
          <p:sp>
            <p:nvSpPr>
              <p:cNvPr id="5" name="TextBox 4">
                <a:extLst>
                  <a:ext uri="{FF2B5EF4-FFF2-40B4-BE49-F238E27FC236}">
                    <a16:creationId xmlns:a16="http://schemas.microsoft.com/office/drawing/2014/main" id="{E13F2A6D-0B63-EC5D-6B3F-5D74F9D63687}"/>
                  </a:ext>
                </a:extLst>
              </p:cNvPr>
              <p:cNvSpPr txBox="1">
                <a:spLocks noRot="1" noChangeAspect="1" noMove="1" noResize="1" noEditPoints="1" noAdjustHandles="1" noChangeArrowheads="1" noChangeShapeType="1" noTextEdit="1"/>
              </p:cNvSpPr>
              <p:nvPr/>
            </p:nvSpPr>
            <p:spPr>
              <a:xfrm>
                <a:off x="738768" y="1094850"/>
                <a:ext cx="11293398" cy="934423"/>
              </a:xfrm>
              <a:prstGeom prst="rect">
                <a:avLst/>
              </a:prstGeom>
              <a:blipFill>
                <a:blip r:embed="rId3"/>
                <a:stretch>
                  <a:fillRect l="-432" t="-3268" b="-104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BEEE45-5DE2-34B3-36C3-BF6A26B47BB3}"/>
                  </a:ext>
                </a:extLst>
              </p:cNvPr>
              <p:cNvSpPr txBox="1"/>
              <p:nvPr/>
            </p:nvSpPr>
            <p:spPr>
              <a:xfrm>
                <a:off x="738767" y="2029273"/>
                <a:ext cx="9999856" cy="923330"/>
              </a:xfrm>
              <a:prstGeom prst="rect">
                <a:avLst/>
              </a:prstGeom>
              <a:noFill/>
            </p:spPr>
            <p:txBody>
              <a:bodyPr wrap="square">
                <a:spAutoFit/>
              </a:bodyPr>
              <a:lstStyle/>
              <a:p>
                <a:r>
                  <a:rPr lang="en-US" b="1" dirty="0"/>
                  <a:t>Why this works</a:t>
                </a:r>
                <a:br>
                  <a:rPr lang="en-US" dirty="0"/>
                </a:br>
                <a:r>
                  <a:rPr lang="en-US" dirty="0"/>
                  <a:t>The largest singular values in </a:t>
                </a:r>
                <a14:m>
                  <m:oMath xmlns:m="http://schemas.openxmlformats.org/officeDocument/2006/math">
                    <m:r>
                      <m:rPr>
                        <m:sty m:val="p"/>
                      </m:rPr>
                      <a:rPr lang="en-US">
                        <a:latin typeface="Cambria Math" panose="02040503050406030204" pitchFamily="18" charset="0"/>
                      </a:rPr>
                      <m:t>Σ</m:t>
                    </m:r>
                  </m:oMath>
                </a14:m>
                <a:r>
                  <a:rPr lang="en-US" dirty="0"/>
                  <a:t>capture the </a:t>
                </a:r>
                <a:r>
                  <a:rPr lang="en-US" b="1" dirty="0"/>
                  <a:t>main structure</a:t>
                </a:r>
                <a:r>
                  <a:rPr lang="en-US" dirty="0"/>
                  <a:t> of the image, while the smaller ones mostly represent </a:t>
                </a:r>
                <a:r>
                  <a:rPr lang="en-US" b="1" dirty="0"/>
                  <a:t>fine details or noise</a:t>
                </a:r>
                <a:r>
                  <a:rPr lang="en-US" dirty="0"/>
                  <a:t>, so dropping them still keeps the image visually similar.</a:t>
                </a:r>
              </a:p>
            </p:txBody>
          </p:sp>
        </mc:Choice>
        <mc:Fallback xmlns="">
          <p:sp>
            <p:nvSpPr>
              <p:cNvPr id="7" name="TextBox 6">
                <a:extLst>
                  <a:ext uri="{FF2B5EF4-FFF2-40B4-BE49-F238E27FC236}">
                    <a16:creationId xmlns:a16="http://schemas.microsoft.com/office/drawing/2014/main" id="{E0BEEE45-5DE2-34B3-36C3-BF6A26B47BB3}"/>
                  </a:ext>
                </a:extLst>
              </p:cNvPr>
              <p:cNvSpPr txBox="1">
                <a:spLocks noRot="1" noChangeAspect="1" noMove="1" noResize="1" noEditPoints="1" noAdjustHandles="1" noChangeArrowheads="1" noChangeShapeType="1" noTextEdit="1"/>
              </p:cNvSpPr>
              <p:nvPr/>
            </p:nvSpPr>
            <p:spPr>
              <a:xfrm>
                <a:off x="738767" y="2029273"/>
                <a:ext cx="9999856" cy="923330"/>
              </a:xfrm>
              <a:prstGeom prst="rect">
                <a:avLst/>
              </a:prstGeom>
              <a:blipFill>
                <a:blip r:embed="rId4"/>
                <a:stretch>
                  <a:fillRect l="-488" t="-3311" b="-105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E4BAE2E-0BF3-26E0-1E53-3F70A280A98F}"/>
                  </a:ext>
                </a:extLst>
              </p:cNvPr>
              <p:cNvSpPr txBox="1"/>
              <p:nvPr/>
            </p:nvSpPr>
            <p:spPr>
              <a:xfrm>
                <a:off x="738766" y="2952603"/>
                <a:ext cx="8338324" cy="646331"/>
              </a:xfrm>
              <a:prstGeom prst="rect">
                <a:avLst/>
              </a:prstGeom>
              <a:noFill/>
            </p:spPr>
            <p:txBody>
              <a:bodyPr wrap="square">
                <a:spAutoFit/>
              </a:bodyPr>
              <a:lstStyle/>
              <a:p>
                <a:r>
                  <a:rPr lang="en-US" b="1" dirty="0"/>
                  <a:t>Original storage cost</a:t>
                </a:r>
                <a:br>
                  <a:rPr lang="en-US" dirty="0"/>
                </a:br>
                <a:r>
                  <a:rPr lang="en-US" dirty="0"/>
                  <a:t>The original grayscale image matrix </a:t>
                </a:r>
                <a14:m>
                  <m:oMath xmlns:m="http://schemas.openxmlformats.org/officeDocument/2006/math">
                    <m:r>
                      <a:rPr lang="en-US" i="1">
                        <a:latin typeface="Cambria Math" panose="02040503050406030204" pitchFamily="18" charset="0"/>
                      </a:rPr>
                      <m:t>𝐴</m:t>
                    </m:r>
                  </m:oMath>
                </a14:m>
                <a:r>
                  <a:rPr lang="en-US" dirty="0"/>
                  <a:t>of size </a:t>
                </a:r>
                <a14:m>
                  <m:oMath xmlns:m="http://schemas.openxmlformats.org/officeDocument/2006/math">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𝑛</m:t>
                    </m:r>
                  </m:oMath>
                </a14:m>
                <a:r>
                  <a:rPr lang="en-US" dirty="0"/>
                  <a:t>stores </a:t>
                </a:r>
                <a14:m>
                  <m:oMath xmlns:m="http://schemas.openxmlformats.org/officeDocument/2006/math">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𝑛</m:t>
                    </m:r>
                  </m:oMath>
                </a14:m>
                <a:r>
                  <a:rPr lang="en-US" dirty="0"/>
                  <a:t>pixel values.</a:t>
                </a:r>
              </a:p>
            </p:txBody>
          </p:sp>
        </mc:Choice>
        <mc:Fallback xmlns="">
          <p:sp>
            <p:nvSpPr>
              <p:cNvPr id="9" name="TextBox 8">
                <a:extLst>
                  <a:ext uri="{FF2B5EF4-FFF2-40B4-BE49-F238E27FC236}">
                    <a16:creationId xmlns:a16="http://schemas.microsoft.com/office/drawing/2014/main" id="{5E4BAE2E-0BF3-26E0-1E53-3F70A280A98F}"/>
                  </a:ext>
                </a:extLst>
              </p:cNvPr>
              <p:cNvSpPr txBox="1">
                <a:spLocks noRot="1" noChangeAspect="1" noMove="1" noResize="1" noEditPoints="1" noAdjustHandles="1" noChangeArrowheads="1" noChangeShapeType="1" noTextEdit="1"/>
              </p:cNvSpPr>
              <p:nvPr/>
            </p:nvSpPr>
            <p:spPr>
              <a:xfrm>
                <a:off x="738766" y="2952603"/>
                <a:ext cx="8338324" cy="646331"/>
              </a:xfrm>
              <a:prstGeom prst="rect">
                <a:avLst/>
              </a:prstGeom>
              <a:blipFill>
                <a:blip r:embed="rId5"/>
                <a:stretch>
                  <a:fillRect l="-585" t="-3774" b="-150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4F8893-EB0D-8AEF-1AB7-35C545216EB5}"/>
                  </a:ext>
                </a:extLst>
              </p:cNvPr>
              <p:cNvSpPr txBox="1"/>
              <p:nvPr/>
            </p:nvSpPr>
            <p:spPr>
              <a:xfrm>
                <a:off x="738766" y="3617306"/>
                <a:ext cx="9999856" cy="1211422"/>
              </a:xfrm>
              <a:prstGeom prst="rect">
                <a:avLst/>
              </a:prstGeom>
              <a:noFill/>
            </p:spPr>
            <p:txBody>
              <a:bodyPr wrap="square">
                <a:spAutoFit/>
              </a:bodyPr>
              <a:lstStyle/>
              <a:p>
                <a:r>
                  <a:rPr lang="en-US" b="1" dirty="0"/>
                  <a:t>Rank-k SVD storage cost</a:t>
                </a:r>
                <a:br>
                  <a:rPr lang="en-US" dirty="0"/>
                </a:br>
                <a:r>
                  <a:rPr lang="en-US" dirty="0"/>
                  <a:t>The rank-k SVD representation stores:</a:t>
                </a:r>
                <a:br>
                  <a:rPr lang="en-US" dirty="0"/>
                </a:b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𝑈</m:t>
                        </m:r>
                      </m:e>
                      <m:sub>
                        <m:r>
                          <a:rPr lang="ar-AE" i="1">
                            <a:latin typeface="Cambria Math" panose="02040503050406030204" pitchFamily="18" charset="0"/>
                          </a:rPr>
                          <m:t>𝑘</m:t>
                        </m:r>
                      </m:sub>
                    </m:sSub>
                  </m:oMath>
                </a14:m>
                <a:r>
                  <a:rPr lang="en-US" dirty="0"/>
                  <a:t>of size </a:t>
                </a:r>
                <a14:m>
                  <m:oMath xmlns:m="http://schemas.openxmlformats.org/officeDocument/2006/math">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𝑘</m:t>
                    </m:r>
                  </m:oMath>
                </a14:m>
                <a:r>
                  <a:rPr lang="en-US" dirty="0"/>
                  <a:t>, </a:t>
                </a:r>
                <a14:m>
                  <m:oMath xmlns:m="http://schemas.openxmlformats.org/officeDocument/2006/math">
                    <m:sSub>
                      <m:sSubPr>
                        <m:ctrlPr>
                          <a:rPr lang="ar-AE" i="1">
                            <a:latin typeface="Cambria Math" panose="02040503050406030204" pitchFamily="18" charset="0"/>
                          </a:rPr>
                        </m:ctrlPr>
                      </m:sSubPr>
                      <m:e>
                        <m:r>
                          <m:rPr>
                            <m:sty m:val="p"/>
                          </m:rPr>
                          <a:rPr lang="el-GR">
                            <a:latin typeface="Cambria Math" panose="02040503050406030204" pitchFamily="18" charset="0"/>
                          </a:rPr>
                          <m:t>Σ</m:t>
                        </m:r>
                      </m:e>
                      <m:sub>
                        <m:r>
                          <a:rPr lang="ar-AE" i="1">
                            <a:latin typeface="Cambria Math" panose="02040503050406030204" pitchFamily="18" charset="0"/>
                          </a:rPr>
                          <m:t>𝑘</m:t>
                        </m:r>
                      </m:sub>
                    </m:sSub>
                  </m:oMath>
                </a14:m>
                <a:r>
                  <a:rPr lang="en-US" dirty="0"/>
                  <a:t>with </a:t>
                </a:r>
                <a14:m>
                  <m:oMath xmlns:m="http://schemas.openxmlformats.org/officeDocument/2006/math">
                    <m:r>
                      <a:rPr lang="en-US" i="1">
                        <a:latin typeface="Cambria Math" panose="02040503050406030204" pitchFamily="18" charset="0"/>
                      </a:rPr>
                      <m:t>𝑘</m:t>
                    </m:r>
                  </m:oMath>
                </a14:m>
                <a:r>
                  <a:rPr lang="en-US" dirty="0"/>
                  <a:t>values, and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𝑉</m:t>
                        </m:r>
                      </m:e>
                      <m:sub>
                        <m:r>
                          <a:rPr lang="ar-AE" i="1">
                            <a:latin typeface="Cambria Math" panose="02040503050406030204" pitchFamily="18" charset="0"/>
                          </a:rPr>
                          <m:t>𝑘</m:t>
                        </m:r>
                      </m:sub>
                      <m:sup>
                        <m:r>
                          <a:rPr lang="ar-AE" i="1">
                            <a:latin typeface="Cambria Math" panose="02040503050406030204" pitchFamily="18" charset="0"/>
                          </a:rPr>
                          <m:t>𝑇</m:t>
                        </m:r>
                      </m:sup>
                    </m:sSubSup>
                  </m:oMath>
                </a14:m>
                <a:r>
                  <a:rPr lang="en-US" dirty="0"/>
                  <a:t>of size </a:t>
                </a:r>
                <a14:m>
                  <m:oMath xmlns:m="http://schemas.openxmlformats.org/officeDocument/2006/math">
                    <m:r>
                      <a:rPr lang="en-US" i="1">
                        <a:latin typeface="Cambria Math" panose="02040503050406030204" pitchFamily="18" charset="0"/>
                      </a:rPr>
                      <m:t>𝑘</m:t>
                    </m:r>
                    <m:r>
                      <a:rPr lang="en-US" i="0">
                        <a:latin typeface="Cambria Math" panose="02040503050406030204" pitchFamily="18" charset="0"/>
                      </a:rPr>
                      <m:t>×</m:t>
                    </m:r>
                    <m:r>
                      <a:rPr lang="en-US" i="1">
                        <a:latin typeface="Cambria Math" panose="02040503050406030204" pitchFamily="18" charset="0"/>
                      </a:rPr>
                      <m:t>𝑛</m:t>
                    </m:r>
                  </m:oMath>
                </a14:m>
                <a:r>
                  <a:rPr lang="en-US" dirty="0"/>
                  <a:t>,</a:t>
                </a:r>
                <a:br>
                  <a:rPr lang="en-US" dirty="0"/>
                </a:br>
                <a:r>
                  <a:rPr lang="en-US" dirty="0"/>
                  <a:t>so total stored numbers = </a:t>
                </a:r>
                <a14:m>
                  <m:oMath xmlns:m="http://schemas.openxmlformats.org/officeDocument/2006/math">
                    <m:r>
                      <a:rPr lang="en-US" i="1">
                        <a:latin typeface="Cambria Math" panose="02040503050406030204" pitchFamily="18" charset="0"/>
                      </a:rPr>
                      <m:t>𝑚𝑘</m:t>
                    </m:r>
                    <m:r>
                      <a:rPr lang="en-US" i="0">
                        <a:latin typeface="Cambria Math" panose="02040503050406030204" pitchFamily="18" charset="0"/>
                      </a:rPr>
                      <m:t>+</m:t>
                    </m:r>
                    <m:r>
                      <a:rPr lang="en-US" i="1">
                        <a:latin typeface="Cambria Math" panose="02040503050406030204" pitchFamily="18" charset="0"/>
                      </a:rPr>
                      <m:t>𝑛𝑘</m:t>
                    </m:r>
                    <m:r>
                      <a:rPr lang="en-US" i="0">
                        <a:latin typeface="Cambria Math" panose="02040503050406030204" pitchFamily="18" charset="0"/>
                      </a:rPr>
                      <m:t>+</m:t>
                    </m:r>
                    <m:r>
                      <a:rPr lang="en-US" i="1">
                        <a:latin typeface="Cambria Math" panose="02040503050406030204" pitchFamily="18" charset="0"/>
                      </a:rPr>
                      <m:t>𝑘</m:t>
                    </m:r>
                  </m:oMath>
                </a14:m>
                <a:r>
                  <a:rPr lang="en-US" dirty="0"/>
                  <a:t>.</a:t>
                </a:r>
              </a:p>
            </p:txBody>
          </p:sp>
        </mc:Choice>
        <mc:Fallback xmlns="">
          <p:sp>
            <p:nvSpPr>
              <p:cNvPr id="11" name="TextBox 10">
                <a:extLst>
                  <a:ext uri="{FF2B5EF4-FFF2-40B4-BE49-F238E27FC236}">
                    <a16:creationId xmlns:a16="http://schemas.microsoft.com/office/drawing/2014/main" id="{4E4F8893-EB0D-8AEF-1AB7-35C545216EB5}"/>
                  </a:ext>
                </a:extLst>
              </p:cNvPr>
              <p:cNvSpPr txBox="1">
                <a:spLocks noRot="1" noChangeAspect="1" noMove="1" noResize="1" noEditPoints="1" noAdjustHandles="1" noChangeArrowheads="1" noChangeShapeType="1" noTextEdit="1"/>
              </p:cNvSpPr>
              <p:nvPr/>
            </p:nvSpPr>
            <p:spPr>
              <a:xfrm>
                <a:off x="738766" y="3617306"/>
                <a:ext cx="9999856" cy="1211422"/>
              </a:xfrm>
              <a:prstGeom prst="rect">
                <a:avLst/>
              </a:prstGeom>
              <a:blipFill>
                <a:blip r:embed="rId6"/>
                <a:stretch>
                  <a:fillRect l="-488" t="-2010" b="-7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28B68B3-9345-734E-1438-FB5C5D002137}"/>
                  </a:ext>
                </a:extLst>
              </p:cNvPr>
              <p:cNvSpPr txBox="1"/>
              <p:nvPr/>
            </p:nvSpPr>
            <p:spPr>
              <a:xfrm>
                <a:off x="738766" y="5578502"/>
                <a:ext cx="11204188" cy="923330"/>
              </a:xfrm>
              <a:prstGeom prst="rect">
                <a:avLst/>
              </a:prstGeom>
              <a:noFill/>
            </p:spPr>
            <p:txBody>
              <a:bodyPr wrap="square">
                <a:spAutoFit/>
              </a:bodyPr>
              <a:lstStyle/>
              <a:p>
                <a:r>
                  <a:rPr lang="en-US" b="1" dirty="0"/>
                  <a:t>Trade-off in our project</a:t>
                </a:r>
                <a:br>
                  <a:rPr lang="en-US" dirty="0"/>
                </a:br>
                <a:r>
                  <a:rPr lang="en-US" dirty="0"/>
                  <a:t>For different k values (e.g., </a:t>
                </a:r>
                <a14:m>
                  <m:oMath xmlns:m="http://schemas.openxmlformats.org/officeDocument/2006/math">
                    <m:r>
                      <a:rPr lang="en-US" i="1">
                        <a:latin typeface="Cambria Math" panose="02040503050406030204" pitchFamily="18" charset="0"/>
                      </a:rPr>
                      <m:t>𝑘</m:t>
                    </m:r>
                    <m:r>
                      <a:rPr lang="en-US" i="0">
                        <a:latin typeface="Cambria Math" panose="02040503050406030204" pitchFamily="18" charset="0"/>
                      </a:rPr>
                      <m:t>=</m:t>
                    </m:r>
                    <m:r>
                      <a:rPr lang="en-US" i="0">
                        <a:latin typeface="Cambria Math" panose="02040503050406030204" pitchFamily="18" charset="0"/>
                      </a:rPr>
                      <m:t>5</m:t>
                    </m:r>
                    <m:r>
                      <a:rPr lang="en-US" i="0">
                        <a:latin typeface="Cambria Math" panose="02040503050406030204" pitchFamily="18" charset="0"/>
                      </a:rPr>
                      <m:t>,</m:t>
                    </m:r>
                    <m:r>
                      <a:rPr lang="en-US" i="0">
                        <a:latin typeface="Cambria Math" panose="02040503050406030204" pitchFamily="18" charset="0"/>
                      </a:rPr>
                      <m:t>20</m:t>
                    </m:r>
                    <m:r>
                      <a:rPr lang="en-US" i="0">
                        <a:latin typeface="Cambria Math" panose="02040503050406030204" pitchFamily="18" charset="0"/>
                      </a:rPr>
                      <m:t>,</m:t>
                    </m:r>
                    <m:r>
                      <a:rPr lang="en-US" i="0">
                        <a:latin typeface="Cambria Math" panose="02040503050406030204" pitchFamily="18" charset="0"/>
                      </a:rPr>
                      <m:t>50</m:t>
                    </m:r>
                    <m:r>
                      <a:rPr lang="en-US" i="0">
                        <a:latin typeface="Cambria Math" panose="02040503050406030204" pitchFamily="18" charset="0"/>
                      </a:rPr>
                      <m:t>,</m:t>
                    </m:r>
                    <m:r>
                      <a:rPr lang="en-US" i="0">
                        <a:latin typeface="Cambria Math" panose="02040503050406030204" pitchFamily="18" charset="0"/>
                      </a:rPr>
                      <m:t>100</m:t>
                    </m:r>
                  </m:oMath>
                </a14:m>
                <a:r>
                  <a:rPr lang="en-US" dirty="0"/>
                  <a:t>), we compare </a:t>
                </a:r>
                <a:r>
                  <a:rPr lang="en-US" b="1" dirty="0"/>
                  <a:t>relative error</a:t>
                </a:r>
                <a:r>
                  <a:rPr lang="en-US" dirty="0"/>
                  <a:t> and </a:t>
                </a:r>
                <a:r>
                  <a:rPr lang="en-US" b="1" dirty="0"/>
                  <a:t>compression ratio</a:t>
                </a:r>
                <a:r>
                  <a:rPr lang="en-US" dirty="0"/>
                  <a:t>, showing that small k gives high compression but more quality loss, while large k gives better quality but less compression.</a:t>
                </a:r>
              </a:p>
            </p:txBody>
          </p:sp>
        </mc:Choice>
        <mc:Fallback xmlns="">
          <p:sp>
            <p:nvSpPr>
              <p:cNvPr id="13" name="TextBox 12">
                <a:extLst>
                  <a:ext uri="{FF2B5EF4-FFF2-40B4-BE49-F238E27FC236}">
                    <a16:creationId xmlns:a16="http://schemas.microsoft.com/office/drawing/2014/main" id="{F28B68B3-9345-734E-1438-FB5C5D002137}"/>
                  </a:ext>
                </a:extLst>
              </p:cNvPr>
              <p:cNvSpPr txBox="1">
                <a:spLocks noRot="1" noChangeAspect="1" noMove="1" noResize="1" noEditPoints="1" noAdjustHandles="1" noChangeArrowheads="1" noChangeShapeType="1" noTextEdit="1"/>
              </p:cNvSpPr>
              <p:nvPr/>
            </p:nvSpPr>
            <p:spPr>
              <a:xfrm>
                <a:off x="738766" y="5578502"/>
                <a:ext cx="11204188" cy="923330"/>
              </a:xfrm>
              <a:prstGeom prst="rect">
                <a:avLst/>
              </a:prstGeom>
              <a:blipFill>
                <a:blip r:embed="rId7"/>
                <a:stretch>
                  <a:fillRect l="-435" t="-2632" b="-9868"/>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8EB584C-C9F7-DEC8-DCD7-6700D4F2A74A}"/>
              </a:ext>
            </a:extLst>
          </p:cNvPr>
          <p:cNvSpPr txBox="1"/>
          <p:nvPr/>
        </p:nvSpPr>
        <p:spPr>
          <a:xfrm>
            <a:off x="738766" y="4828728"/>
            <a:ext cx="6094140" cy="369332"/>
          </a:xfrm>
          <a:prstGeom prst="rect">
            <a:avLst/>
          </a:prstGeom>
          <a:noFill/>
        </p:spPr>
        <p:txBody>
          <a:bodyPr wrap="square">
            <a:spAutoFit/>
          </a:bodyPr>
          <a:lstStyle/>
          <a:p>
            <a:r>
              <a:rPr lang="en-US" b="1" dirty="0"/>
              <a:t>Compression ratio formula</a:t>
            </a:r>
          </a:p>
        </p:txBody>
      </p:sp>
      <p:pic>
        <p:nvPicPr>
          <p:cNvPr id="20" name="Picture 19">
            <a:extLst>
              <a:ext uri="{FF2B5EF4-FFF2-40B4-BE49-F238E27FC236}">
                <a16:creationId xmlns:a16="http://schemas.microsoft.com/office/drawing/2014/main" id="{0530C59A-A4F6-FF22-2D14-4E6225D5CBA2}"/>
              </a:ext>
            </a:extLst>
          </p:cNvPr>
          <p:cNvPicPr>
            <a:picLocks noChangeAspect="1"/>
          </p:cNvPicPr>
          <p:nvPr/>
        </p:nvPicPr>
        <p:blipFill>
          <a:blip r:embed="rId8"/>
          <a:stretch>
            <a:fillRect/>
          </a:stretch>
        </p:blipFill>
        <p:spPr>
          <a:xfrm>
            <a:off x="3990306" y="5131093"/>
            <a:ext cx="1835244" cy="514376"/>
          </a:xfrm>
          <a:prstGeom prst="rect">
            <a:avLst/>
          </a:prstGeom>
        </p:spPr>
      </p:pic>
    </p:spTree>
    <p:extLst>
      <p:ext uri="{BB962C8B-B14F-4D97-AF65-F5344CB8AC3E}">
        <p14:creationId xmlns:p14="http://schemas.microsoft.com/office/powerpoint/2010/main" val="249131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DEE3B-F592-B12F-9210-C96771315341}"/>
              </a:ext>
            </a:extLst>
          </p:cNvPr>
          <p:cNvSpPr>
            <a:spLocks noGrp="1"/>
          </p:cNvSpPr>
          <p:nvPr>
            <p:ph type="title"/>
          </p:nvPr>
        </p:nvSpPr>
        <p:spPr>
          <a:xfrm>
            <a:off x="599016" y="2312018"/>
            <a:ext cx="4809068" cy="2608143"/>
          </a:xfrm>
        </p:spPr>
        <p:txBody>
          <a:bodyPr vert="horz" lIns="91440" tIns="45720" rIns="91440" bIns="45720" rtlCol="0" anchor="t">
            <a:normAutofit/>
          </a:bodyPr>
          <a:lstStyle/>
          <a:p>
            <a:pPr algn="ctr"/>
            <a:r>
              <a:rPr lang="en-US" sz="4000" b="1" kern="1200" dirty="0">
                <a:solidFill>
                  <a:schemeClr val="tx1"/>
                </a:solidFill>
                <a:latin typeface="+mj-lt"/>
                <a:ea typeface="+mj-ea"/>
                <a:cs typeface="+mj-cs"/>
              </a:rPr>
              <a:t>Implementation Workflow</a:t>
            </a:r>
          </a:p>
        </p:txBody>
      </p:sp>
      <p:pic>
        <p:nvPicPr>
          <p:cNvPr id="8" name="Picture 7">
            <a:extLst>
              <a:ext uri="{FF2B5EF4-FFF2-40B4-BE49-F238E27FC236}">
                <a16:creationId xmlns:a16="http://schemas.microsoft.com/office/drawing/2014/main" id="{D45B02E3-3355-FAF1-29DD-19C90990E720}"/>
              </a:ext>
            </a:extLst>
          </p:cNvPr>
          <p:cNvPicPr>
            <a:picLocks noChangeAspect="1"/>
          </p:cNvPicPr>
          <p:nvPr/>
        </p:nvPicPr>
        <p:blipFill>
          <a:blip r:embed="rId3"/>
          <a:stretch>
            <a:fillRect/>
          </a:stretch>
        </p:blipFill>
        <p:spPr>
          <a:xfrm>
            <a:off x="8841316" y="2811567"/>
            <a:ext cx="914400" cy="285386"/>
          </a:xfrm>
          <a:prstGeom prst="rect">
            <a:avLst/>
          </a:prstGeom>
        </p:spPr>
      </p:pic>
      <p:sp>
        <p:nvSpPr>
          <p:cNvPr id="6" name="Rectangle 4">
            <a:extLst>
              <a:ext uri="{FF2B5EF4-FFF2-40B4-BE49-F238E27FC236}">
                <a16:creationId xmlns:a16="http://schemas.microsoft.com/office/drawing/2014/main" id="{E1D63653-6CC9-3040-F887-0BC8352768F4}"/>
              </a:ext>
            </a:extLst>
          </p:cNvPr>
          <p:cNvSpPr>
            <a:spLocks noChangeArrowheads="1"/>
          </p:cNvSpPr>
          <p:nvPr/>
        </p:nvSpPr>
        <p:spPr bwMode="auto">
          <a:xfrm>
            <a:off x="5497286" y="468085"/>
            <a:ext cx="6378763" cy="59455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fontScale="77500" lnSpcReduction="20000"/>
          </a:bodyPr>
          <a:lstStyle/>
          <a:p>
            <a:pPr marR="0" lvl="0" fontAlgn="base">
              <a:lnSpc>
                <a:spcPct val="90000"/>
              </a:lnSpc>
              <a:spcBef>
                <a:spcPct val="0"/>
              </a:spcBef>
              <a:spcAft>
                <a:spcPts val="600"/>
              </a:spcAft>
              <a:buClrTx/>
              <a:buSzTx/>
              <a:tabLst/>
            </a:pPr>
            <a:r>
              <a:rPr kumimoji="0" lang="en-US" altLang="en-US" sz="2300" b="1" i="0" u="none" strike="noStrike" cap="none" normalizeH="0" baseline="0" dirty="0">
                <a:ln>
                  <a:noFill/>
                </a:ln>
                <a:effectLst/>
              </a:rPr>
              <a:t>1. Load dataset</a:t>
            </a: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b="0" i="0" u="none" strike="noStrike" cap="none" normalizeH="0" baseline="0" dirty="0">
                <a:ln>
                  <a:noFill/>
                </a:ln>
                <a:effectLst/>
              </a:rPr>
              <a:t>Download </a:t>
            </a:r>
            <a:r>
              <a:rPr kumimoji="0" lang="en-US" altLang="en-US" sz="2300" i="0" u="none" strike="noStrike" cap="none" normalizeH="0" baseline="0" dirty="0">
                <a:ln>
                  <a:noFill/>
                </a:ln>
                <a:effectLst/>
              </a:rPr>
              <a:t>the Landscape Pictures (Kaggle) </a:t>
            </a:r>
          </a:p>
          <a:p>
            <a:pPr marR="0" lvl="0" fontAlgn="base">
              <a:lnSpc>
                <a:spcPct val="90000"/>
              </a:lnSpc>
              <a:spcBef>
                <a:spcPct val="0"/>
              </a:spcBef>
              <a:spcAft>
                <a:spcPts val="600"/>
              </a:spcAft>
              <a:buClrTx/>
              <a:buSzTx/>
              <a:tabLst/>
            </a:pPr>
            <a:r>
              <a:rPr kumimoji="0" lang="en-US" altLang="en-US" sz="2300" b="1" i="0" u="none" strike="noStrike" cap="none" normalizeH="0" baseline="0" dirty="0">
                <a:ln>
                  <a:noFill/>
                </a:ln>
                <a:effectLst/>
              </a:rPr>
              <a:t>2. Select and preprocess images</a:t>
            </a: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b="0" i="0" u="none" strike="noStrike" cap="none" normalizeH="0" baseline="0" dirty="0">
                <a:ln>
                  <a:noFill/>
                </a:ln>
                <a:effectLst/>
              </a:rPr>
              <a:t>Choose a </a:t>
            </a:r>
            <a:r>
              <a:rPr kumimoji="0" lang="en-US" altLang="en-US" sz="2300" i="0" u="none" strike="noStrike" cap="none" normalizeH="0" baseline="0" dirty="0">
                <a:ln>
                  <a:noFill/>
                </a:ln>
                <a:effectLst/>
              </a:rPr>
              <a:t>small subset (head) of images for faster experiments.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For each image: resize to 256 × 256 and convert to grayscale, so </a:t>
            </a:r>
            <a:r>
              <a:rPr kumimoji="0" lang="en-US" altLang="en-US" sz="2300" b="0" i="0" u="none" strike="noStrike" cap="none" normalizeH="0" baseline="0" dirty="0">
                <a:ln>
                  <a:noFill/>
                </a:ln>
                <a:effectLst/>
              </a:rPr>
              <a:t>it becomes a 2D matrix AAA.</a:t>
            </a:r>
          </a:p>
          <a:p>
            <a:pPr marR="0" lvl="0" fontAlgn="base">
              <a:lnSpc>
                <a:spcPct val="90000"/>
              </a:lnSpc>
              <a:spcBef>
                <a:spcPct val="0"/>
              </a:spcBef>
              <a:spcAft>
                <a:spcPts val="600"/>
              </a:spcAft>
              <a:buClrTx/>
              <a:buSzTx/>
              <a:tabLst/>
            </a:pPr>
            <a:r>
              <a:rPr kumimoji="0" lang="en-US" altLang="en-US" sz="2300" b="1" i="0" u="none" strike="noStrike" cap="none" normalizeH="0" baseline="0" dirty="0">
                <a:ln>
                  <a:noFill/>
                </a:ln>
                <a:effectLst/>
              </a:rPr>
              <a:t>3. Apply SVD to each image matrix</a:t>
            </a: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b="0" i="0" u="none" strike="noStrike" cap="none" normalizeH="0" baseline="0" dirty="0">
                <a:ln>
                  <a:noFill/>
                </a:ln>
                <a:effectLst/>
              </a:rPr>
              <a:t>Compute the singular value decomposition:</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b="0" i="0" u="none" strike="noStrike" cap="none" normalizeH="0" baseline="0" dirty="0">
                <a:ln>
                  <a:noFill/>
                </a:ln>
                <a:effectLst/>
              </a:rPr>
              <a:t>Use this to </a:t>
            </a:r>
            <a:r>
              <a:rPr kumimoji="0" lang="en-US" altLang="en-US" sz="2300" i="0" u="none" strike="noStrike" cap="none" normalizeH="0" baseline="0" dirty="0">
                <a:ln>
                  <a:noFill/>
                </a:ln>
                <a:effectLst/>
              </a:rPr>
              <a:t>build rank–k approximations for </a:t>
            </a:r>
            <a:r>
              <a:rPr kumimoji="0" lang="en-US" altLang="en-US" sz="2300" b="0" i="0" u="none" strike="noStrike" cap="none" normalizeH="0" baseline="0" dirty="0">
                <a:ln>
                  <a:noFill/>
                </a:ln>
                <a:effectLst/>
              </a:rPr>
              <a:t>different k values (5, 20, 50, 100, etc.).</a:t>
            </a:r>
          </a:p>
          <a:p>
            <a:pPr marR="0" lvl="0" fontAlgn="base">
              <a:lnSpc>
                <a:spcPct val="90000"/>
              </a:lnSpc>
              <a:spcBef>
                <a:spcPct val="0"/>
              </a:spcBef>
              <a:spcAft>
                <a:spcPts val="600"/>
              </a:spcAft>
              <a:buClrTx/>
              <a:buSzTx/>
              <a:tabLst/>
            </a:pPr>
            <a:r>
              <a:rPr kumimoji="0" lang="en-US" altLang="en-US" sz="2300" b="1" i="0" u="none" strike="noStrike" cap="none" normalizeH="0" baseline="0" dirty="0">
                <a:ln>
                  <a:noFill/>
                </a:ln>
                <a:effectLst/>
              </a:rPr>
              <a:t>4. Reconstruct and evaluate</a:t>
            </a: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Reconstruct compressed images and clip them to valid pixel range.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Compute relative reconstruction error and compression ratio for each k.</a:t>
            </a:r>
          </a:p>
          <a:p>
            <a:pPr marR="0" lvl="0" fontAlgn="base">
              <a:lnSpc>
                <a:spcPct val="90000"/>
              </a:lnSpc>
              <a:spcBef>
                <a:spcPct val="0"/>
              </a:spcBef>
              <a:spcAft>
                <a:spcPts val="600"/>
              </a:spcAft>
              <a:buClrTx/>
              <a:buSzTx/>
              <a:tabLst/>
            </a:pPr>
            <a:r>
              <a:rPr kumimoji="0" lang="en-US" altLang="en-US" sz="2300" b="1" i="0" u="none" strike="noStrike" cap="none" normalizeH="0" baseline="0" dirty="0">
                <a:ln>
                  <a:noFill/>
                </a:ln>
                <a:effectLst/>
              </a:rPr>
              <a:t>5. Analyze and visualize results</a:t>
            </a:r>
            <a:endParaRPr kumimoji="0" lang="en-US" altLang="en-US" sz="23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Show original vs rank–k images side by side.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Plot error vs k and compression ratio vs k.</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300" i="0" u="none" strike="noStrike" cap="none" normalizeH="0" baseline="0" dirty="0">
                <a:ln>
                  <a:noFill/>
                </a:ln>
                <a:effectLst/>
              </a:rPr>
              <a:t>Optionally, repeat over multiple images and average the results.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400" b="0" i="0" u="none" strike="noStrike" cap="none" normalizeH="0" baseline="0" dirty="0">
              <a:ln>
                <a:noFill/>
              </a:ln>
              <a:effectLst/>
            </a:endParaRPr>
          </a:p>
        </p:txBody>
      </p:sp>
    </p:spTree>
    <p:extLst>
      <p:ext uri="{BB962C8B-B14F-4D97-AF65-F5344CB8AC3E}">
        <p14:creationId xmlns:p14="http://schemas.microsoft.com/office/powerpoint/2010/main" val="2617313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6F05DFE-40CF-2FA2-CAD6-D6202B9561B4}"/>
              </a:ext>
            </a:extLst>
          </p:cNvPr>
          <p:cNvSpPr>
            <a:spLocks noGrp="1"/>
          </p:cNvSpPr>
          <p:nvPr>
            <p:ph type="title"/>
          </p:nvPr>
        </p:nvSpPr>
        <p:spPr>
          <a:xfrm>
            <a:off x="7671513" y="1256580"/>
            <a:ext cx="4038600" cy="1394269"/>
          </a:xfrm>
        </p:spPr>
        <p:txBody>
          <a:bodyPr vert="horz" lIns="91440" tIns="45720" rIns="91440" bIns="45720" rtlCol="0" anchor="ctr">
            <a:normAutofit fontScale="90000"/>
          </a:bodyPr>
          <a:lstStyle/>
          <a:p>
            <a:r>
              <a:rPr lang="en-US" b="1" kern="1200" dirty="0">
                <a:solidFill>
                  <a:schemeClr val="tx1"/>
                </a:solidFill>
                <a:latin typeface="+mj-lt"/>
                <a:ea typeface="+mj-ea"/>
                <a:cs typeface="+mj-cs"/>
              </a:rPr>
              <a:t>Singular Values &amp; Energy-Based Rank Selection</a:t>
            </a:r>
          </a:p>
        </p:txBody>
      </p:sp>
      <p:sp>
        <p:nvSpPr>
          <p:cNvPr id="3" name="Rectangle 1">
            <a:extLst>
              <a:ext uri="{FF2B5EF4-FFF2-40B4-BE49-F238E27FC236}">
                <a16:creationId xmlns:a16="http://schemas.microsoft.com/office/drawing/2014/main" id="{FFF0F2DB-FAFF-75B7-2896-14C1AA512EB1}"/>
              </a:ext>
            </a:extLst>
          </p:cNvPr>
          <p:cNvSpPr>
            <a:spLocks noChangeArrowheads="1"/>
          </p:cNvSpPr>
          <p:nvPr/>
        </p:nvSpPr>
        <p:spPr bwMode="auto">
          <a:xfrm>
            <a:off x="370039" y="1069285"/>
            <a:ext cx="6931436" cy="271568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fontScale="85000" lnSpcReduction="10000"/>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After SVD, each image matrix A gives a set of </a:t>
            </a:r>
            <a:r>
              <a:rPr kumimoji="0" lang="en-US" altLang="en-US" sz="1700" b="1" i="0" u="none" strike="noStrike" cap="none" normalizeH="0" baseline="0" dirty="0">
                <a:ln>
                  <a:noFill/>
                </a:ln>
                <a:effectLst/>
              </a:rPr>
              <a:t>singular values</a:t>
            </a:r>
            <a:br>
              <a:rPr kumimoji="0" lang="en-US" altLang="en-US" sz="1700" b="0" i="0" u="none" strike="noStrike" cap="none" normalizeH="0" baseline="0" dirty="0">
                <a:ln>
                  <a:noFill/>
                </a:ln>
                <a:effectLst/>
              </a:rPr>
            </a:br>
            <a:r>
              <a:rPr kumimoji="0" lang="en-US" altLang="en-US" sz="1700" b="0" i="0" u="none" strike="noStrike" cap="none" normalizeH="0" baseline="0" dirty="0">
                <a:ln>
                  <a:noFill/>
                </a:ln>
                <a:effectLst/>
              </a:rPr>
              <a:t>σ1 ≥ σ2 ≥ σ3 ≥⋯≥ 0</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When we </a:t>
            </a:r>
            <a:r>
              <a:rPr kumimoji="0" lang="en-US" altLang="en-US" sz="1700" b="1" i="0" u="none" strike="noStrike" cap="none" normalizeH="0" baseline="0" dirty="0">
                <a:ln>
                  <a:noFill/>
                </a:ln>
                <a:effectLst/>
              </a:rPr>
              <a:t>plot the singular values</a:t>
            </a:r>
            <a:r>
              <a:rPr kumimoji="0" lang="en-US" altLang="en-US" sz="1700" b="0" i="0" u="none" strike="noStrike" cap="none" normalizeH="0" baseline="0" dirty="0">
                <a:ln>
                  <a:noFill/>
                </a:ln>
                <a:effectLst/>
              </a:rPr>
              <a:t>, we see they </a:t>
            </a:r>
            <a:r>
              <a:rPr kumimoji="0" lang="en-US" altLang="en-US" sz="1700" b="1" i="0" u="none" strike="noStrike" cap="none" normalizeH="0" baseline="0" dirty="0">
                <a:ln>
                  <a:noFill/>
                </a:ln>
                <a:effectLst/>
              </a:rPr>
              <a:t>drop quickly at the start</a:t>
            </a:r>
            <a:r>
              <a:rPr kumimoji="0" lang="en-US" altLang="en-US" sz="1700" b="0" i="0" u="none" strike="noStrike" cap="none" normalizeH="0" baseline="0" dirty="0">
                <a:ln>
                  <a:noFill/>
                </a:ln>
                <a:effectLst/>
              </a:rPr>
              <a:t> and then form a long tail, meaning a few large singular values capture most of the information.</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To measure how much information the top k values keep, we use </a:t>
            </a:r>
            <a:r>
              <a:rPr kumimoji="0" lang="en-US" altLang="en-US" sz="1700" b="1" i="0" u="none" strike="noStrike" cap="none" normalizeH="0" baseline="0" dirty="0">
                <a:ln>
                  <a:noFill/>
                </a:ln>
                <a:effectLst/>
              </a:rPr>
              <a:t>cumulative energy</a:t>
            </a:r>
            <a:r>
              <a:rPr kumimoji="0" lang="en-US" altLang="en-US" sz="17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1700" dirty="0"/>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The </a:t>
            </a:r>
            <a:r>
              <a:rPr kumimoji="0" lang="en-US" altLang="en-US" sz="1700" b="1" i="0" u="none" strike="noStrike" cap="none" normalizeH="0" baseline="0" dirty="0">
                <a:ln>
                  <a:noFill/>
                </a:ln>
                <a:effectLst/>
              </a:rPr>
              <a:t>energy curve E(k)</a:t>
            </a:r>
            <a:r>
              <a:rPr kumimoji="0" lang="en-US" altLang="en-US" sz="1700" b="0" i="0" u="none" strike="noStrike" cap="none" normalizeH="0" baseline="0" dirty="0">
                <a:ln>
                  <a:noFill/>
                </a:ln>
                <a:effectLst/>
              </a:rPr>
              <a:t> usually rises to near 1 (100%) very fast, showing that a </a:t>
            </a:r>
            <a:r>
              <a:rPr kumimoji="0" lang="en-US" altLang="en-US" sz="1700" b="1" i="0" u="none" strike="noStrike" cap="none" normalizeH="0" baseline="0" dirty="0">
                <a:ln>
                  <a:noFill/>
                </a:ln>
                <a:effectLst/>
              </a:rPr>
              <a:t>small k already captures most of the image energy</a:t>
            </a:r>
            <a:r>
              <a:rPr kumimoji="0" lang="en-US" altLang="en-US" sz="17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We can choose k based on a </a:t>
            </a:r>
            <a:r>
              <a:rPr kumimoji="0" lang="en-US" altLang="en-US" sz="1700" b="1" i="0" u="none" strike="noStrike" cap="none" normalizeH="0" baseline="0" dirty="0">
                <a:ln>
                  <a:noFill/>
                </a:ln>
                <a:effectLst/>
              </a:rPr>
              <a:t>target energy level</a:t>
            </a:r>
            <a:r>
              <a:rPr kumimoji="0" lang="en-US" altLang="en-US" sz="1700" b="0" i="0" u="none" strike="noStrike" cap="none" normalizeH="0" baseline="0" dirty="0">
                <a:ln>
                  <a:noFill/>
                </a:ln>
                <a:effectLst/>
              </a:rPr>
              <a:t> (e.g., 90%, 95%, 99%), so we keep enough singular values to preserve important information while still getting good </a:t>
            </a:r>
            <a:r>
              <a:rPr kumimoji="0" lang="en-US" altLang="en-US" sz="1700" b="1" i="0" u="none" strike="noStrike" cap="none" normalizeH="0" baseline="0" dirty="0">
                <a:ln>
                  <a:noFill/>
                </a:ln>
                <a:effectLst/>
              </a:rPr>
              <a:t>compression</a:t>
            </a:r>
            <a:r>
              <a:rPr kumimoji="0" lang="en-US" altLang="en-US" sz="1700" b="0" i="0" u="none" strike="noStrike" cap="none" normalizeH="0" baseline="0" dirty="0">
                <a:ln>
                  <a:noFill/>
                </a:ln>
                <a:effectLst/>
              </a:rPr>
              <a:t>.</a:t>
            </a:r>
          </a:p>
        </p:txBody>
      </p:sp>
      <p:pic>
        <p:nvPicPr>
          <p:cNvPr id="6" name="Picture 5">
            <a:extLst>
              <a:ext uri="{FF2B5EF4-FFF2-40B4-BE49-F238E27FC236}">
                <a16:creationId xmlns:a16="http://schemas.microsoft.com/office/drawing/2014/main" id="{7ECC8F6F-B5F1-D376-EE72-05EB852274DD}"/>
              </a:ext>
            </a:extLst>
          </p:cNvPr>
          <p:cNvPicPr>
            <a:picLocks noChangeAspect="1"/>
          </p:cNvPicPr>
          <p:nvPr/>
        </p:nvPicPr>
        <p:blipFill>
          <a:blip r:embed="rId3"/>
          <a:stretch>
            <a:fillRect/>
          </a:stretch>
        </p:blipFill>
        <p:spPr>
          <a:xfrm>
            <a:off x="3298673" y="2154417"/>
            <a:ext cx="1159434" cy="598723"/>
          </a:xfrm>
          <a:prstGeom prst="rect">
            <a:avLst/>
          </a:prstGeom>
        </p:spPr>
      </p:pic>
      <p:sp>
        <p:nvSpPr>
          <p:cNvPr id="7" name="TextBox 6">
            <a:extLst>
              <a:ext uri="{FF2B5EF4-FFF2-40B4-BE49-F238E27FC236}">
                <a16:creationId xmlns:a16="http://schemas.microsoft.com/office/drawing/2014/main" id="{6897EE9F-9C0F-721D-EE20-5B7BB946F4CD}"/>
              </a:ext>
            </a:extLst>
          </p:cNvPr>
          <p:cNvSpPr txBox="1"/>
          <p:nvPr/>
        </p:nvSpPr>
        <p:spPr>
          <a:xfrm>
            <a:off x="381904" y="251647"/>
            <a:ext cx="2758960" cy="461665"/>
          </a:xfrm>
          <a:prstGeom prst="rect">
            <a:avLst/>
          </a:prstGeom>
          <a:noFill/>
        </p:spPr>
        <p:txBody>
          <a:bodyPr wrap="none" rtlCol="0">
            <a:spAutoFit/>
          </a:bodyPr>
          <a:lstStyle/>
          <a:p>
            <a:r>
              <a:rPr lang="en-US" sz="2400" b="1" dirty="0"/>
              <a:t>RESULTS SECTION</a:t>
            </a:r>
          </a:p>
        </p:txBody>
      </p:sp>
      <p:pic>
        <p:nvPicPr>
          <p:cNvPr id="7171" name="Picture 3">
            <a:extLst>
              <a:ext uri="{FF2B5EF4-FFF2-40B4-BE49-F238E27FC236}">
                <a16:creationId xmlns:a16="http://schemas.microsoft.com/office/drawing/2014/main" id="{158DECB8-A57B-EAFE-1471-6C5DF6B42B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8127" y="3588127"/>
            <a:ext cx="4038600" cy="3179175"/>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a:extLst>
              <a:ext uri="{FF2B5EF4-FFF2-40B4-BE49-F238E27FC236}">
                <a16:creationId xmlns:a16="http://schemas.microsoft.com/office/drawing/2014/main" id="{08A63308-DCB8-F8D8-B967-79B7764A35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654" y="3587144"/>
            <a:ext cx="3899473" cy="308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70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3AFC8AD-B450-61CA-5A61-43968F443B85}"/>
              </a:ext>
            </a:extLst>
          </p:cNvPr>
          <p:cNvSpPr txBox="1"/>
          <p:nvPr/>
        </p:nvSpPr>
        <p:spPr>
          <a:xfrm>
            <a:off x="-137120" y="2976563"/>
            <a:ext cx="4809068" cy="2608143"/>
          </a:xfrm>
          <a:prstGeom prst="rect">
            <a:avLst/>
          </a:prstGeom>
        </p:spPr>
        <p:txBody>
          <a:bodyPr vert="horz" lIns="91440" tIns="45720" rIns="91440" bIns="45720" rtlCol="0" anchor="t">
            <a:normAutofit/>
          </a:bodyPr>
          <a:lstStyle/>
          <a:p>
            <a:pPr algn="ctr">
              <a:lnSpc>
                <a:spcPct val="90000"/>
              </a:lnSpc>
              <a:spcBef>
                <a:spcPct val="0"/>
              </a:spcBef>
              <a:spcAft>
                <a:spcPts val="600"/>
              </a:spcAft>
            </a:pPr>
            <a:r>
              <a:rPr lang="en-US" sz="4000" b="1" kern="1200">
                <a:solidFill>
                  <a:schemeClr val="tx1"/>
                </a:solidFill>
                <a:latin typeface="+mj-lt"/>
                <a:ea typeface="+mj-ea"/>
                <a:cs typeface="+mj-cs"/>
              </a:rPr>
              <a:t>Fixed Rank Experiments</a:t>
            </a:r>
          </a:p>
        </p:txBody>
      </p:sp>
      <p:pic>
        <p:nvPicPr>
          <p:cNvPr id="15" name="Graphic 14" descr="Checkmark">
            <a:extLst>
              <a:ext uri="{FF2B5EF4-FFF2-40B4-BE49-F238E27FC236}">
                <a16:creationId xmlns:a16="http://schemas.microsoft.com/office/drawing/2014/main" id="{58ECBE09-75E7-1642-1DAE-E2EEA1014EA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4028" y="2062163"/>
            <a:ext cx="914400" cy="9144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07CE7B-30C8-2B23-2C57-44FEA27553FE}"/>
                  </a:ext>
                </a:extLst>
              </p:cNvPr>
              <p:cNvSpPr txBox="1"/>
              <p:nvPr/>
            </p:nvSpPr>
            <p:spPr>
              <a:xfrm>
                <a:off x="4333458" y="726069"/>
                <a:ext cx="7482469" cy="5588000"/>
              </a:xfrm>
              <a:prstGeom prst="rect">
                <a:avLst/>
              </a:prstGeom>
            </p:spPr>
            <p:txBody>
              <a:bodyPr vert="horz" lIns="91440" tIns="45720" rIns="91440" bIns="45720" rtlCol="0" anchor="ctr">
                <a:noAutofit/>
              </a:bodyPr>
              <a:lstStyle/>
              <a:p>
                <a:pPr indent="-228600">
                  <a:lnSpc>
                    <a:spcPct val="90000"/>
                  </a:lnSpc>
                  <a:spcAft>
                    <a:spcPts val="600"/>
                  </a:spcAft>
                  <a:buFont typeface="Arial" panose="020B0604020202020204" pitchFamily="34" charset="0"/>
                  <a:buChar char="•"/>
                </a:pPr>
                <a:r>
                  <a:rPr lang="en-US" sz="1400" dirty="0"/>
                  <a:t>We selected </a:t>
                </a:r>
                <a:r>
                  <a:rPr lang="en-US" sz="1400" b="1" dirty="0"/>
                  <a:t>one sample image</a:t>
                </a:r>
                <a:r>
                  <a:rPr lang="en-US" sz="1400" dirty="0"/>
                  <a:t> from the Landscape Pictures dataset and treated it as a </a:t>
                </a:r>
                <a:r>
                  <a:rPr lang="en-US" sz="1400" b="1" dirty="0"/>
                  <a:t>256 × 256 grayscale matrix </a:t>
                </a:r>
                <a14:m>
                  <m:oMath xmlns:m="http://schemas.openxmlformats.org/officeDocument/2006/math">
                    <m:r>
                      <a:rPr lang="en-US" sz="1400" i="1">
                        <a:latin typeface="Cambria Math" panose="02040503050406030204" pitchFamily="18" charset="0"/>
                      </a:rPr>
                      <m:t>𝐴</m:t>
                    </m:r>
                  </m:oMath>
                </a14:m>
                <a:r>
                  <a:rPr lang="en-US" sz="1400" dirty="0"/>
                  <a:t>.</a:t>
                </a:r>
              </a:p>
              <a:p>
                <a:pPr indent="-228600">
                  <a:lnSpc>
                    <a:spcPct val="90000"/>
                  </a:lnSpc>
                  <a:spcAft>
                    <a:spcPts val="600"/>
                  </a:spcAft>
                  <a:buFont typeface="Arial" panose="020B0604020202020204" pitchFamily="34" charset="0"/>
                  <a:buChar char="•"/>
                </a:pPr>
                <a:r>
                  <a:rPr lang="en-US" sz="1400" dirty="0"/>
                  <a:t>For each chosen rank </a:t>
                </a:r>
                <a14:m>
                  <m:oMath xmlns:m="http://schemas.openxmlformats.org/officeDocument/2006/math">
                    <m:r>
                      <a:rPr lang="en-US" sz="1400" i="1">
                        <a:latin typeface="Cambria Math" panose="02040503050406030204" pitchFamily="18" charset="0"/>
                      </a:rPr>
                      <m:t>𝑘</m:t>
                    </m:r>
                    <m:r>
                      <a:rPr lang="en-US" sz="1400" i="0">
                        <a:latin typeface="Cambria Math" panose="02040503050406030204" pitchFamily="18" charset="0"/>
                      </a:rPr>
                      <m:t>∈</m:t>
                    </m:r>
                    <m:d>
                      <m:dPr>
                        <m:begChr m:val="{"/>
                        <m:endChr m:val="}"/>
                        <m:sepChr m:val=","/>
                        <m:ctrlPr>
                          <a:rPr lang="en-US" sz="1400" i="1">
                            <a:latin typeface="Cambria Math" panose="02040503050406030204" pitchFamily="18" charset="0"/>
                          </a:rPr>
                        </m:ctrlPr>
                      </m:dPr>
                      <m:e>
                        <m:r>
                          <a:rPr lang="en-US" sz="1400" i="0">
                            <a:latin typeface="Cambria Math" panose="02040503050406030204" pitchFamily="18" charset="0"/>
                          </a:rPr>
                          <m:t>5</m:t>
                        </m:r>
                      </m:e>
                      <m:e>
                        <m:r>
                          <a:rPr lang="en-US" sz="1400" i="0">
                            <a:latin typeface="Cambria Math" panose="02040503050406030204" pitchFamily="18" charset="0"/>
                          </a:rPr>
                          <m:t>20</m:t>
                        </m:r>
                      </m:e>
                      <m:e>
                        <m:r>
                          <a:rPr lang="en-US" sz="1400" i="0">
                            <a:latin typeface="Cambria Math" panose="02040503050406030204" pitchFamily="18" charset="0"/>
                          </a:rPr>
                          <m:t>50</m:t>
                        </m:r>
                      </m:e>
                      <m:e>
                        <m:r>
                          <a:rPr lang="en-US" sz="1400" i="0">
                            <a:latin typeface="Cambria Math" panose="02040503050406030204" pitchFamily="18" charset="0"/>
                          </a:rPr>
                          <m:t>100</m:t>
                        </m:r>
                      </m:e>
                    </m:d>
                  </m:oMath>
                </a14:m>
                <a:r>
                  <a:rPr lang="en-US" sz="1400" dirty="0"/>
                  <a:t>, we computed a </a:t>
                </a:r>
                <a:r>
                  <a:rPr lang="en-US" sz="1400" b="1" dirty="0"/>
                  <a:t>rank–k approximation</a:t>
                </a:r>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𝐴</m:t>
                        </m:r>
                      </m:e>
                      <m:sub>
                        <m:r>
                          <a:rPr lang="en-US" sz="1400" i="1">
                            <a:latin typeface="Cambria Math" panose="02040503050406030204" pitchFamily="18" charset="0"/>
                          </a:rPr>
                          <m:t>𝑘</m:t>
                        </m:r>
                      </m:sub>
                    </m:sSub>
                  </m:oMath>
                </a14:m>
                <a:r>
                  <a:rPr lang="en-US" sz="1400" dirty="0"/>
                  <a:t>using</a:t>
                </a:r>
              </a:p>
              <a:p>
                <a:pPr>
                  <a:lnSpc>
                    <a:spcPct val="90000"/>
                  </a:lnSpc>
                  <a:spcAft>
                    <a:spcPts val="600"/>
                  </a:spcAft>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𝐴</m:t>
                          </m:r>
                        </m:e>
                        <m:sub>
                          <m:r>
                            <a:rPr lang="en-US" sz="1400" i="1">
                              <a:latin typeface="Cambria Math" panose="02040503050406030204" pitchFamily="18" charset="0"/>
                            </a:rPr>
                            <m:t>𝑘</m:t>
                          </m:r>
                        </m:sub>
                      </m:sSub>
                      <m:r>
                        <a:rPr lang="en-US" sz="1400" i="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𝑈</m:t>
                          </m:r>
                        </m:e>
                        <m:sub>
                          <m:r>
                            <a:rPr lang="en-US" sz="1400" i="1">
                              <a:latin typeface="Cambria Math" panose="02040503050406030204" pitchFamily="18" charset="0"/>
                            </a:rPr>
                            <m:t>𝑘</m:t>
                          </m:r>
                        </m:sub>
                      </m:sSub>
                      <m:sSub>
                        <m:sSubPr>
                          <m:ctrlPr>
                            <a:rPr lang="en-US" sz="1400" i="1">
                              <a:latin typeface="Cambria Math" panose="02040503050406030204" pitchFamily="18" charset="0"/>
                            </a:rPr>
                          </m:ctrlPr>
                        </m:sSubPr>
                        <m:e>
                          <m:r>
                            <m:rPr>
                              <m:sty m:val="p"/>
                            </m:rPr>
                            <a:rPr lang="en-US" sz="1400" i="0">
                              <a:latin typeface="Cambria Math" panose="02040503050406030204" pitchFamily="18" charset="0"/>
                            </a:rPr>
                            <m:t>Σ</m:t>
                          </m:r>
                        </m:e>
                        <m:sub>
                          <m:r>
                            <a:rPr lang="en-US" sz="1400" i="1">
                              <a:latin typeface="Cambria Math" panose="02040503050406030204" pitchFamily="18" charset="0"/>
                            </a:rPr>
                            <m:t>𝑘</m:t>
                          </m:r>
                        </m:sub>
                      </m:sSub>
                      <m:sSubSup>
                        <m:sSubSupPr>
                          <m:ctrlPr>
                            <a:rPr lang="en-US" sz="1400" i="1">
                              <a:latin typeface="Cambria Math" panose="02040503050406030204" pitchFamily="18" charset="0"/>
                            </a:rPr>
                          </m:ctrlPr>
                        </m:sSubSupPr>
                        <m:e>
                          <m:r>
                            <a:rPr lang="en-US" sz="1400" i="1">
                              <a:latin typeface="Cambria Math" panose="02040503050406030204" pitchFamily="18" charset="0"/>
                            </a:rPr>
                            <m:t>𝑉</m:t>
                          </m:r>
                        </m:e>
                        <m:sub>
                          <m:r>
                            <a:rPr lang="en-US" sz="1400" i="1">
                              <a:latin typeface="Cambria Math" panose="02040503050406030204" pitchFamily="18" charset="0"/>
                            </a:rPr>
                            <m:t>𝑘</m:t>
                          </m:r>
                        </m:sub>
                        <m:sup>
                          <m:r>
                            <a:rPr lang="en-US" sz="1400" i="1">
                              <a:latin typeface="Cambria Math" panose="02040503050406030204" pitchFamily="18" charset="0"/>
                            </a:rPr>
                            <m:t>𝑇</m:t>
                          </m:r>
                        </m:sup>
                      </m:sSubSup>
                    </m:oMath>
                  </m:oMathPara>
                </a14:m>
                <a:endParaRPr lang="en-US" sz="1400" dirty="0"/>
              </a:p>
              <a:p>
                <a:pPr indent="-228600">
                  <a:lnSpc>
                    <a:spcPct val="90000"/>
                  </a:lnSpc>
                  <a:spcAft>
                    <a:spcPts val="600"/>
                  </a:spcAft>
                  <a:buFont typeface="Arial" panose="020B0604020202020204" pitchFamily="34" charset="0"/>
                  <a:buChar char="•"/>
                </a:pPr>
                <a:r>
                  <a:rPr lang="en-US" sz="1400" dirty="0"/>
                  <a:t>where only the top k singular values are kept.</a:t>
                </a:r>
              </a:p>
              <a:p>
                <a:pPr indent="-228600">
                  <a:lnSpc>
                    <a:spcPct val="90000"/>
                  </a:lnSpc>
                  <a:spcAft>
                    <a:spcPts val="600"/>
                  </a:spcAft>
                  <a:buFont typeface="Arial" panose="020B0604020202020204" pitchFamily="34" charset="0"/>
                  <a:buChar char="•"/>
                </a:pPr>
                <a:r>
                  <a:rPr lang="en-US" sz="1400" dirty="0"/>
                  <a:t>For every </a:t>
                </a:r>
                <a14:m>
                  <m:oMath xmlns:m="http://schemas.openxmlformats.org/officeDocument/2006/math">
                    <m:r>
                      <a:rPr lang="en-US" sz="1400" i="1">
                        <a:latin typeface="Cambria Math" panose="02040503050406030204" pitchFamily="18" charset="0"/>
                      </a:rPr>
                      <m:t>𝑘</m:t>
                    </m:r>
                  </m:oMath>
                </a14:m>
                <a:r>
                  <a:rPr lang="en-US" sz="1400" dirty="0"/>
                  <a:t>, we </a:t>
                </a:r>
                <a:r>
                  <a:rPr lang="en-US" sz="1400" b="1" dirty="0"/>
                  <a:t>reconstructed the image</a:t>
                </a:r>
                <a:r>
                  <a:rPr lang="en-US" sz="1400" dirty="0"/>
                  <a:t> from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𝐴</m:t>
                        </m:r>
                      </m:e>
                      <m:sub>
                        <m:r>
                          <a:rPr lang="en-US" sz="1400" i="1">
                            <a:latin typeface="Cambria Math" panose="02040503050406030204" pitchFamily="18" charset="0"/>
                          </a:rPr>
                          <m:t>𝑘</m:t>
                        </m:r>
                      </m:sub>
                    </m:sSub>
                  </m:oMath>
                </a14:m>
                <a:r>
                  <a:rPr lang="en-US" sz="1400" dirty="0"/>
                  <a:t>and clipped pixel values to the valid range </a:t>
                </a:r>
                <a14:m>
                  <m:oMath xmlns:m="http://schemas.openxmlformats.org/officeDocument/2006/math">
                    <m:d>
                      <m:dPr>
                        <m:begChr m:val="["/>
                        <m:endChr m:val="]"/>
                        <m:sepChr m:val=","/>
                        <m:ctrlPr>
                          <a:rPr lang="en-US" sz="1400" i="1">
                            <a:latin typeface="Cambria Math" panose="02040503050406030204" pitchFamily="18" charset="0"/>
                          </a:rPr>
                        </m:ctrlPr>
                      </m:dPr>
                      <m:e>
                        <m:r>
                          <a:rPr lang="en-US" sz="1400">
                            <a:latin typeface="Cambria Math" panose="02040503050406030204" pitchFamily="18" charset="0"/>
                          </a:rPr>
                          <m:t>0</m:t>
                        </m:r>
                      </m:e>
                      <m:e>
                        <m:r>
                          <a:rPr lang="en-US" sz="1400" i="0">
                            <a:latin typeface="Cambria Math" panose="02040503050406030204" pitchFamily="18" charset="0"/>
                          </a:rPr>
                          <m:t>255</m:t>
                        </m:r>
                      </m:e>
                    </m:d>
                  </m:oMath>
                </a14:m>
                <a:r>
                  <a:rPr lang="en-US" sz="1400" dirty="0"/>
                  <a:t>so it can be displayed properly.</a:t>
                </a:r>
              </a:p>
              <a:p>
                <a:pPr indent="-228600">
                  <a:lnSpc>
                    <a:spcPct val="90000"/>
                  </a:lnSpc>
                  <a:spcAft>
                    <a:spcPts val="600"/>
                  </a:spcAft>
                  <a:buFont typeface="Arial" panose="020B0604020202020204" pitchFamily="34" charset="0"/>
                  <a:buChar char="•"/>
                </a:pPr>
                <a:r>
                  <a:rPr lang="en-US" sz="1400" dirty="0"/>
                  <a:t>We then calculated the </a:t>
                </a:r>
                <a:r>
                  <a:rPr lang="en-US" sz="1400" b="1" dirty="0"/>
                  <a:t>relative reconstruction error</a:t>
                </a:r>
                <a:endParaRPr lang="en-US" sz="1400" dirty="0"/>
              </a:p>
              <a:p>
                <a:pPr>
                  <a:lnSpc>
                    <a:spcPct val="90000"/>
                  </a:lnSpc>
                  <a:spcAft>
                    <a:spcPts val="600"/>
                  </a:spcAft>
                </a:pPr>
                <a14:m>
                  <m:oMathPara xmlns:m="http://schemas.openxmlformats.org/officeDocument/2006/math">
                    <m:oMathParaPr>
                      <m:jc m:val="centerGroup"/>
                    </m:oMathParaPr>
                    <m:oMath xmlns:m="http://schemas.openxmlformats.org/officeDocument/2006/math">
                      <m:r>
                        <m:rPr>
                          <m:nor/>
                        </m:rPr>
                        <a:rPr lang="en-US" sz="1400" b="0"/>
                        <m:t>Error</m:t>
                      </m:r>
                      <m:d>
                        <m:dPr>
                          <m:ctrlPr>
                            <a:rPr lang="en-US" sz="1400" b="0" i="1">
                              <a:latin typeface="Cambria Math" panose="02040503050406030204" pitchFamily="18" charset="0"/>
                            </a:rPr>
                          </m:ctrlPr>
                        </m:dPr>
                        <m:e>
                          <m:r>
                            <a:rPr lang="en-US" sz="1400" b="0" i="1">
                              <a:latin typeface="Cambria Math" panose="02040503050406030204" pitchFamily="18" charset="0"/>
                            </a:rPr>
                            <m:t>𝑘</m:t>
                          </m:r>
                        </m:e>
                      </m:d>
                      <m:r>
                        <a:rPr lang="en-US" sz="1400" b="0" i="0">
                          <a:latin typeface="Cambria Math" panose="02040503050406030204" pitchFamily="18" charset="0"/>
                        </a:rPr>
                        <m:t>=</m:t>
                      </m:r>
                      <m:f>
                        <m:fPr>
                          <m:ctrlPr>
                            <a:rPr lang="en-US" sz="1400" b="0" i="1">
                              <a:latin typeface="Cambria Math" panose="02040503050406030204" pitchFamily="18" charset="0"/>
                            </a:rPr>
                          </m:ctrlPr>
                        </m:fPr>
                        <m:num>
                          <m:r>
                            <a:rPr lang="en-US" sz="1400" b="0" i="0">
                              <a:latin typeface="Cambria Math" panose="02040503050406030204" pitchFamily="18" charset="0"/>
                            </a:rPr>
                            <m:t>∥</m:t>
                          </m:r>
                          <m:r>
                            <a:rPr lang="en-US" sz="1400" b="0" i="1">
                              <a:latin typeface="Cambria Math" panose="02040503050406030204" pitchFamily="18" charset="0"/>
                            </a:rPr>
                            <m:t>𝐴</m:t>
                          </m:r>
                          <m:r>
                            <a:rPr lang="en-US" sz="1400" b="0" i="0">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𝐴</m:t>
                              </m:r>
                            </m:e>
                            <m:sub>
                              <m:r>
                                <a:rPr lang="en-US" sz="1400" b="0" i="1">
                                  <a:latin typeface="Cambria Math" panose="02040503050406030204" pitchFamily="18" charset="0"/>
                                </a:rPr>
                                <m:t>𝑘</m:t>
                              </m:r>
                            </m:sub>
                          </m:sSub>
                          <m:sSub>
                            <m:sSubPr>
                              <m:ctrlPr>
                                <a:rPr lang="en-US" sz="1400" b="0" i="1">
                                  <a:latin typeface="Cambria Math" panose="02040503050406030204" pitchFamily="18" charset="0"/>
                                </a:rPr>
                              </m:ctrlPr>
                            </m:sSubPr>
                            <m:e>
                              <m:r>
                                <a:rPr lang="en-US" sz="1400" b="0" i="0">
                                  <a:latin typeface="Cambria Math" panose="02040503050406030204" pitchFamily="18" charset="0"/>
                                </a:rPr>
                                <m:t>∥</m:t>
                              </m:r>
                            </m:e>
                            <m:sub>
                              <m:r>
                                <a:rPr lang="en-US" sz="1400" b="0" i="1">
                                  <a:latin typeface="Cambria Math" panose="02040503050406030204" pitchFamily="18" charset="0"/>
                                </a:rPr>
                                <m:t>𝐹</m:t>
                              </m:r>
                            </m:sub>
                          </m:sSub>
                        </m:num>
                        <m:den>
                          <m:r>
                            <a:rPr lang="en-US" sz="1400" b="0" i="0">
                              <a:latin typeface="Cambria Math" panose="02040503050406030204" pitchFamily="18" charset="0"/>
                            </a:rPr>
                            <m:t>∥</m:t>
                          </m:r>
                          <m:r>
                            <a:rPr lang="en-US" sz="1400" b="0" i="1">
                              <a:latin typeface="Cambria Math" panose="02040503050406030204" pitchFamily="18" charset="0"/>
                            </a:rPr>
                            <m:t>𝐴</m:t>
                          </m:r>
                          <m:sSub>
                            <m:sSubPr>
                              <m:ctrlPr>
                                <a:rPr lang="en-US" sz="1400" b="0" i="1">
                                  <a:latin typeface="Cambria Math" panose="02040503050406030204" pitchFamily="18" charset="0"/>
                                </a:rPr>
                              </m:ctrlPr>
                            </m:sSubPr>
                            <m:e>
                              <m:r>
                                <a:rPr lang="en-US" sz="1400" b="0" i="0">
                                  <a:latin typeface="Cambria Math" panose="02040503050406030204" pitchFamily="18" charset="0"/>
                                </a:rPr>
                                <m:t>∥</m:t>
                              </m:r>
                            </m:e>
                            <m:sub>
                              <m:r>
                                <a:rPr lang="en-US" sz="1400" b="0" i="1">
                                  <a:latin typeface="Cambria Math" panose="02040503050406030204" pitchFamily="18" charset="0"/>
                                </a:rPr>
                                <m:t>𝐹</m:t>
                              </m:r>
                            </m:sub>
                          </m:sSub>
                        </m:den>
                      </m:f>
                    </m:oMath>
                  </m:oMathPara>
                </a14:m>
                <a:endParaRPr lang="en-US" sz="1400" b="0" dirty="0"/>
              </a:p>
              <a:p>
                <a:pPr indent="-228600">
                  <a:lnSpc>
                    <a:spcPct val="90000"/>
                  </a:lnSpc>
                  <a:spcAft>
                    <a:spcPts val="600"/>
                  </a:spcAft>
                  <a:buFont typeface="Arial" panose="020B0604020202020204" pitchFamily="34" charset="0"/>
                  <a:buChar char="•"/>
                </a:pPr>
                <a:r>
                  <a:rPr lang="en-US" sz="1400" dirty="0"/>
                  <a:t>to measure how much information is lost at each rank.</a:t>
                </a:r>
              </a:p>
              <a:p>
                <a:pPr indent="-228600">
                  <a:lnSpc>
                    <a:spcPct val="90000"/>
                  </a:lnSpc>
                  <a:spcAft>
                    <a:spcPts val="600"/>
                  </a:spcAft>
                  <a:buFont typeface="Arial" panose="020B0604020202020204" pitchFamily="34" charset="0"/>
                  <a:buChar char="•"/>
                </a:pPr>
                <a:r>
                  <a:rPr lang="en-US" sz="1400" dirty="0"/>
                  <a:t>We also computed the </a:t>
                </a:r>
                <a:r>
                  <a:rPr lang="en-US" sz="1400" b="1" dirty="0"/>
                  <a:t>compression ratio</a:t>
                </a:r>
                <a:endParaRPr lang="en-US" sz="1400" dirty="0"/>
              </a:p>
              <a:p>
                <a:pPr>
                  <a:lnSpc>
                    <a:spcPct val="90000"/>
                  </a:lnSpc>
                  <a:spcAft>
                    <a:spcPts val="600"/>
                  </a:spcAft>
                </a:pPr>
                <a14:m>
                  <m:oMathPara xmlns:m="http://schemas.openxmlformats.org/officeDocument/2006/math">
                    <m:oMathParaPr>
                      <m:jc m:val="centerGroup"/>
                    </m:oMathParaPr>
                    <m:oMath xmlns:m="http://schemas.openxmlformats.org/officeDocument/2006/math">
                      <m:r>
                        <m:rPr>
                          <m:nor/>
                        </m:rPr>
                        <a:rPr lang="en-US" sz="1400" b="0"/>
                        <m:t>CR</m:t>
                      </m:r>
                      <m:d>
                        <m:dPr>
                          <m:ctrlPr>
                            <a:rPr lang="en-US" sz="1400" b="0" i="1">
                              <a:latin typeface="Cambria Math" panose="02040503050406030204" pitchFamily="18" charset="0"/>
                            </a:rPr>
                          </m:ctrlPr>
                        </m:dPr>
                        <m:e>
                          <m:r>
                            <a:rPr lang="en-US" sz="1400" b="0" i="1">
                              <a:latin typeface="Cambria Math" panose="02040503050406030204" pitchFamily="18" charset="0"/>
                            </a:rPr>
                            <m:t>𝑘</m:t>
                          </m:r>
                        </m:e>
                      </m:d>
                      <m:r>
                        <a:rPr lang="en-US" sz="1400" b="0" i="0">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𝑚𝑛</m:t>
                          </m:r>
                        </m:num>
                        <m:den>
                          <m:r>
                            <a:rPr lang="en-US" sz="1400" b="0" i="1">
                              <a:latin typeface="Cambria Math" panose="02040503050406030204" pitchFamily="18" charset="0"/>
                            </a:rPr>
                            <m:t>𝑚𝑘</m:t>
                          </m:r>
                          <m:r>
                            <a:rPr lang="en-US" sz="1400" b="0" i="0">
                              <a:latin typeface="Cambria Math" panose="02040503050406030204" pitchFamily="18" charset="0"/>
                            </a:rPr>
                            <m:t>+</m:t>
                          </m:r>
                          <m:r>
                            <a:rPr lang="en-US" sz="1400" b="0" i="1">
                              <a:latin typeface="Cambria Math" panose="02040503050406030204" pitchFamily="18" charset="0"/>
                            </a:rPr>
                            <m:t>𝑛𝑘</m:t>
                          </m:r>
                          <m:r>
                            <a:rPr lang="en-US" sz="1400" b="0" i="0">
                              <a:latin typeface="Cambria Math" panose="02040503050406030204" pitchFamily="18" charset="0"/>
                            </a:rPr>
                            <m:t>+</m:t>
                          </m:r>
                          <m:r>
                            <a:rPr lang="en-US" sz="1400" b="0" i="1">
                              <a:latin typeface="Cambria Math" panose="02040503050406030204" pitchFamily="18" charset="0"/>
                            </a:rPr>
                            <m:t>𝑘</m:t>
                          </m:r>
                        </m:den>
                      </m:f>
                    </m:oMath>
                  </m:oMathPara>
                </a14:m>
                <a:endParaRPr lang="en-US" sz="1400" b="0" dirty="0"/>
              </a:p>
              <a:p>
                <a:pPr indent="-228600">
                  <a:lnSpc>
                    <a:spcPct val="90000"/>
                  </a:lnSpc>
                  <a:spcAft>
                    <a:spcPts val="600"/>
                  </a:spcAft>
                  <a:buFont typeface="Arial" panose="020B0604020202020204" pitchFamily="34" charset="0"/>
                  <a:buChar char="•"/>
                </a:pPr>
                <a:r>
                  <a:rPr lang="en-US" sz="1400" dirty="0"/>
                  <a:t>to see how many times smaller the SVD representation is compared to the original image.</a:t>
                </a:r>
              </a:p>
              <a:p>
                <a:pPr indent="-228600">
                  <a:lnSpc>
                    <a:spcPct val="90000"/>
                  </a:lnSpc>
                  <a:spcAft>
                    <a:spcPts val="600"/>
                  </a:spcAft>
                  <a:buFont typeface="Arial" panose="020B0604020202020204" pitchFamily="34" charset="0"/>
                  <a:buChar char="•"/>
                </a:pPr>
                <a:r>
                  <a:rPr lang="en-US" sz="1400" b="1" dirty="0"/>
                  <a:t>Visual observation:</a:t>
                </a:r>
                <a:endParaRPr lang="en-US" sz="1400" dirty="0"/>
              </a:p>
              <a:p>
                <a:pPr marL="742950" lvl="1" indent="-228600">
                  <a:lnSpc>
                    <a:spcPct val="90000"/>
                  </a:lnSpc>
                  <a:spcAft>
                    <a:spcPts val="600"/>
                  </a:spcAft>
                  <a:buFont typeface="Arial" panose="020B0604020202020204" pitchFamily="34" charset="0"/>
                  <a:buChar char="•"/>
                </a:pPr>
                <a:r>
                  <a:rPr lang="en-US" sz="1400" b="1" dirty="0"/>
                  <a:t>k = 5:</a:t>
                </a:r>
                <a:r>
                  <a:rPr lang="en-US" sz="1400" dirty="0"/>
                  <a:t> image is highly blurred; only large regions and shapes are visible.</a:t>
                </a:r>
              </a:p>
              <a:p>
                <a:pPr marL="742950" lvl="1" indent="-228600">
                  <a:lnSpc>
                    <a:spcPct val="90000"/>
                  </a:lnSpc>
                  <a:spcAft>
                    <a:spcPts val="600"/>
                  </a:spcAft>
                  <a:buFont typeface="Arial" panose="020B0604020202020204" pitchFamily="34" charset="0"/>
                  <a:buChar char="•"/>
                </a:pPr>
                <a:r>
                  <a:rPr lang="en-US" sz="1400" b="1" dirty="0"/>
                  <a:t>k = 20:</a:t>
                </a:r>
                <a:r>
                  <a:rPr lang="en-US" sz="1400" dirty="0"/>
                  <a:t> image becomes much clearer; main objects and boundaries are recognizable.</a:t>
                </a:r>
              </a:p>
              <a:p>
                <a:pPr marL="742950" lvl="1" indent="-228600">
                  <a:lnSpc>
                    <a:spcPct val="90000"/>
                  </a:lnSpc>
                  <a:spcAft>
                    <a:spcPts val="600"/>
                  </a:spcAft>
                  <a:buFont typeface="Arial" panose="020B0604020202020204" pitchFamily="34" charset="0"/>
                  <a:buChar char="•"/>
                </a:pPr>
                <a:r>
                  <a:rPr lang="en-US" sz="1400" b="1" dirty="0"/>
                  <a:t>k = 50:</a:t>
                </a:r>
                <a:r>
                  <a:rPr lang="en-US" sz="1400" dirty="0"/>
                  <a:t> most fine details are visible; looks close to the original.</a:t>
                </a:r>
              </a:p>
              <a:p>
                <a:pPr marL="742950" lvl="1" indent="-228600">
                  <a:lnSpc>
                    <a:spcPct val="90000"/>
                  </a:lnSpc>
                  <a:spcAft>
                    <a:spcPts val="600"/>
                  </a:spcAft>
                  <a:buFont typeface="Arial" panose="020B0604020202020204" pitchFamily="34" charset="0"/>
                  <a:buChar char="•"/>
                </a:pPr>
                <a:r>
                  <a:rPr lang="en-US" sz="1400" b="1" dirty="0"/>
                  <a:t>k = 100:</a:t>
                </a:r>
                <a:r>
                  <a:rPr lang="en-US" sz="1400" dirty="0"/>
                  <a:t> almost visually identical to the original image.</a:t>
                </a:r>
              </a:p>
              <a:p>
                <a:pPr indent="-228600">
                  <a:lnSpc>
                    <a:spcPct val="90000"/>
                  </a:lnSpc>
                  <a:spcAft>
                    <a:spcPts val="600"/>
                  </a:spcAft>
                  <a:buFont typeface="Arial" panose="020B0604020202020204" pitchFamily="34" charset="0"/>
                  <a:buChar char="•"/>
                </a:pPr>
                <a:r>
                  <a:rPr lang="en-US" sz="1400" b="1" dirty="0"/>
                  <a:t>Numerical trend:</a:t>
                </a:r>
                <a:r>
                  <a:rPr lang="en-US" sz="1400" dirty="0"/>
                  <a:t> as k increases, </a:t>
                </a:r>
                <a:r>
                  <a:rPr lang="en-US" sz="1400" b="1" dirty="0"/>
                  <a:t>relative error decreases</a:t>
                </a:r>
                <a:r>
                  <a:rPr lang="en-US" sz="1400" dirty="0"/>
                  <a:t> (better quality), and </a:t>
                </a:r>
                <a:r>
                  <a:rPr lang="en-US" sz="1400" b="1" dirty="0"/>
                  <a:t>compression ratio decreases</a:t>
                </a:r>
                <a:r>
                  <a:rPr lang="en-US" sz="1400" dirty="0"/>
                  <a:t> (less compression), confirming the expected trade-off.</a:t>
                </a:r>
              </a:p>
              <a:p>
                <a:pPr indent="-228600">
                  <a:lnSpc>
                    <a:spcPct val="90000"/>
                  </a:lnSpc>
                  <a:spcAft>
                    <a:spcPts val="600"/>
                  </a:spcAft>
                  <a:buFont typeface="Arial" panose="020B0604020202020204" pitchFamily="34" charset="0"/>
                  <a:buChar char="•"/>
                </a:pPr>
                <a:r>
                  <a:rPr lang="en-US" sz="1400" dirty="0"/>
                  <a:t>These fixed-rank experiments provide a clear demonstration of how </a:t>
                </a:r>
                <a:r>
                  <a:rPr lang="en-US" sz="1400" b="1" dirty="0"/>
                  <a:t>changing k directly controls the balance</a:t>
                </a:r>
                <a:r>
                  <a:rPr lang="en-US" sz="1400" dirty="0"/>
                  <a:t> between </a:t>
                </a:r>
                <a:r>
                  <a:rPr lang="en-US" sz="1400" b="1" dirty="0"/>
                  <a:t>image quality</a:t>
                </a:r>
                <a:r>
                  <a:rPr lang="en-US" sz="1400" dirty="0"/>
                  <a:t> and </a:t>
                </a:r>
                <a:r>
                  <a:rPr lang="en-US" sz="1400" b="1" dirty="0"/>
                  <a:t>degree of compression</a:t>
                </a:r>
                <a:r>
                  <a:rPr lang="en-US" sz="1400" dirty="0"/>
                  <a:t> in SVD-based image approximation.</a:t>
                </a:r>
              </a:p>
            </p:txBody>
          </p:sp>
        </mc:Choice>
        <mc:Fallback xmlns="">
          <p:sp>
            <p:nvSpPr>
              <p:cNvPr id="5" name="TextBox 4">
                <a:extLst>
                  <a:ext uri="{FF2B5EF4-FFF2-40B4-BE49-F238E27FC236}">
                    <a16:creationId xmlns:a16="http://schemas.microsoft.com/office/drawing/2014/main" id="{A007CE7B-30C8-2B23-2C57-44FEA27553FE}"/>
                  </a:ext>
                </a:extLst>
              </p:cNvPr>
              <p:cNvSpPr txBox="1">
                <a:spLocks noRot="1" noChangeAspect="1" noMove="1" noResize="1" noEditPoints="1" noAdjustHandles="1" noChangeArrowheads="1" noChangeShapeType="1" noTextEdit="1"/>
              </p:cNvSpPr>
              <p:nvPr/>
            </p:nvSpPr>
            <p:spPr>
              <a:xfrm>
                <a:off x="4333458" y="726069"/>
                <a:ext cx="7482469" cy="5588000"/>
              </a:xfrm>
              <a:prstGeom prst="rect">
                <a:avLst/>
              </a:prstGeom>
              <a:blipFill>
                <a:blip r:embed="rId4"/>
                <a:stretch>
                  <a:fillRect l="-244" t="-5562" r="-570" b="-6107"/>
                </a:stretch>
              </a:blipFill>
            </p:spPr>
            <p:txBody>
              <a:bodyPr/>
              <a:lstStyle/>
              <a:p>
                <a:r>
                  <a:rPr lang="en-US">
                    <a:noFill/>
                  </a:rPr>
                  <a:t> </a:t>
                </a:r>
              </a:p>
            </p:txBody>
          </p:sp>
        </mc:Fallback>
      </mc:AlternateContent>
    </p:spTree>
    <p:extLst>
      <p:ext uri="{BB962C8B-B14F-4D97-AF65-F5344CB8AC3E}">
        <p14:creationId xmlns:p14="http://schemas.microsoft.com/office/powerpoint/2010/main" val="1791225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DCBEB-E965-C151-3E7E-24137B9440BC}"/>
              </a:ext>
            </a:extLst>
          </p:cNvPr>
          <p:cNvSpPr txBox="1"/>
          <p:nvPr/>
        </p:nvSpPr>
        <p:spPr>
          <a:xfrm>
            <a:off x="525500" y="398139"/>
            <a:ext cx="9408841" cy="584775"/>
          </a:xfrm>
          <a:prstGeom prst="rect">
            <a:avLst/>
          </a:prstGeom>
          <a:noFill/>
        </p:spPr>
        <p:txBody>
          <a:bodyPr wrap="square">
            <a:spAutoFit/>
          </a:bodyPr>
          <a:lstStyle/>
          <a:p>
            <a:r>
              <a:rPr lang="en-US" sz="3200" b="1" dirty="0"/>
              <a:t>Visual Comparison – Original vs Rank-k Images</a:t>
            </a:r>
          </a:p>
        </p:txBody>
      </p:sp>
      <p:sp>
        <p:nvSpPr>
          <p:cNvPr id="4" name="Rectangle 1">
            <a:extLst>
              <a:ext uri="{FF2B5EF4-FFF2-40B4-BE49-F238E27FC236}">
                <a16:creationId xmlns:a16="http://schemas.microsoft.com/office/drawing/2014/main" id="{791AD7AA-53A8-1BEA-F12A-732C01B8BC73}"/>
              </a:ext>
            </a:extLst>
          </p:cNvPr>
          <p:cNvSpPr>
            <a:spLocks noChangeArrowheads="1"/>
          </p:cNvSpPr>
          <p:nvPr/>
        </p:nvSpPr>
        <p:spPr bwMode="auto">
          <a:xfrm>
            <a:off x="262055" y="1214354"/>
            <a:ext cx="105936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 show </a:t>
            </a:r>
            <a:r>
              <a:rPr kumimoji="0" lang="en-US" altLang="en-US" sz="1800" b="1" i="0" u="none" strike="noStrike" cap="none" normalizeH="0" baseline="0" dirty="0">
                <a:ln>
                  <a:noFill/>
                </a:ln>
                <a:solidFill>
                  <a:schemeClr val="tx1"/>
                </a:solidFill>
                <a:effectLst/>
                <a:latin typeface="Arial" panose="020B0604020202020204" pitchFamily="34" charset="0"/>
              </a:rPr>
              <a:t>one original grayscale image</a:t>
            </a: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same image reconstructed</a:t>
            </a:r>
            <a:r>
              <a:rPr kumimoji="0" lang="en-US" altLang="en-US" sz="1800" b="0" i="0" u="none" strike="noStrike" cap="none" normalizeH="0" baseline="0" dirty="0">
                <a:ln>
                  <a:noFill/>
                </a:ln>
                <a:solidFill>
                  <a:schemeClr val="tx1"/>
                </a:solidFill>
                <a:effectLst/>
                <a:latin typeface="Arial" panose="020B0604020202020204" pitchFamily="34" charset="0"/>
              </a:rPr>
              <a:t> with different SVD ranks k (for example, k=5,20,50,100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rank–k image is built by keeping </a:t>
            </a:r>
            <a:r>
              <a:rPr kumimoji="0" lang="en-US" altLang="en-US" sz="1800" b="1" i="0" u="none" strike="noStrike" cap="none" normalizeH="0" baseline="0" dirty="0">
                <a:ln>
                  <a:noFill/>
                </a:ln>
                <a:solidFill>
                  <a:schemeClr val="tx1"/>
                </a:solidFill>
                <a:effectLst/>
                <a:latin typeface="Arial" panose="020B0604020202020204" pitchFamily="34" charset="0"/>
              </a:rPr>
              <a:t>only the top k singular values</a:t>
            </a:r>
            <a:r>
              <a:rPr kumimoji="0" lang="en-US" altLang="en-US" sz="1800" b="0" i="0" u="none" strike="noStrike" cap="none" normalizeH="0" baseline="0" dirty="0">
                <a:ln>
                  <a:noFill/>
                </a:ln>
                <a:solidFill>
                  <a:schemeClr val="tx1"/>
                </a:solidFill>
                <a:effectLst/>
                <a:latin typeface="Arial" panose="020B0604020202020204" pitchFamily="34" charset="0"/>
              </a:rPr>
              <a:t>, so it is a </a:t>
            </a:r>
            <a:r>
              <a:rPr kumimoji="0" lang="en-US" altLang="en-US" sz="1800" b="1" i="0" u="none" strike="noStrike" cap="none" normalizeH="0" baseline="0" dirty="0">
                <a:ln>
                  <a:noFill/>
                </a:ln>
                <a:solidFill>
                  <a:schemeClr val="tx1"/>
                </a:solidFill>
                <a:effectLst/>
                <a:latin typeface="Arial" panose="020B0604020202020204" pitchFamily="34" charset="0"/>
              </a:rPr>
              <a:t>compressed version</a:t>
            </a:r>
            <a:r>
              <a:rPr kumimoji="0" lang="en-US" altLang="en-US" sz="1800" b="0" i="0" u="none" strike="noStrike" cap="none" normalizeH="0" baseline="0" dirty="0">
                <a:ln>
                  <a:noFill/>
                </a:ln>
                <a:solidFill>
                  <a:schemeClr val="tx1"/>
                </a:solidFill>
                <a:effectLst/>
                <a:latin typeface="Arial" panose="020B0604020202020204" pitchFamily="34" charset="0"/>
              </a:rPr>
              <a:t> of the original.</a:t>
            </a:r>
          </a:p>
        </p:txBody>
      </p:sp>
      <p:sp>
        <p:nvSpPr>
          <p:cNvPr id="5" name="Rectangle 2">
            <a:extLst>
              <a:ext uri="{FF2B5EF4-FFF2-40B4-BE49-F238E27FC236}">
                <a16:creationId xmlns:a16="http://schemas.microsoft.com/office/drawing/2014/main" id="{3F95B5A1-8D25-0E85-E11C-217B22026795}"/>
              </a:ext>
            </a:extLst>
          </p:cNvPr>
          <p:cNvSpPr>
            <a:spLocks noChangeArrowheads="1"/>
          </p:cNvSpPr>
          <p:nvPr/>
        </p:nvSpPr>
        <p:spPr bwMode="auto">
          <a:xfrm>
            <a:off x="2754351" y="300525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Original</a:t>
            </a:r>
            <a:r>
              <a:rPr kumimoji="0" lang="en-US" altLang="en-US" sz="1800" b="0" i="0" u="none" strike="noStrike" cap="none" normalizeH="0" baseline="0" dirty="0">
                <a:ln>
                  <a:noFill/>
                </a:ln>
                <a:solidFill>
                  <a:schemeClr val="tx1"/>
                </a:solidFill>
                <a:effectLst/>
                <a:latin typeface="Arial" panose="020B0604020202020204" pitchFamily="34" charset="0"/>
              </a:rPr>
              <a:t> – full-quality image, no SVD compression.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Rank 5</a:t>
            </a:r>
            <a:r>
              <a:rPr kumimoji="0" lang="en-US" altLang="en-US" sz="1800" b="0" i="0" u="none" strike="noStrike" cap="none" normalizeH="0" baseline="0" dirty="0">
                <a:ln>
                  <a:noFill/>
                </a:ln>
                <a:solidFill>
                  <a:schemeClr val="tx1"/>
                </a:solidFill>
                <a:effectLst/>
                <a:latin typeface="Arial" panose="020B0604020202020204" pitchFamily="34" charset="0"/>
              </a:rPr>
              <a:t> – very blurry; only big shapes and large regions are visible.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Rank 20</a:t>
            </a:r>
            <a:r>
              <a:rPr kumimoji="0" lang="en-US" altLang="en-US" sz="1800" b="0" i="0" u="none" strike="noStrike" cap="none" normalizeH="0" baseline="0" dirty="0">
                <a:ln>
                  <a:noFill/>
                </a:ln>
                <a:solidFill>
                  <a:schemeClr val="tx1"/>
                </a:solidFill>
                <a:effectLst/>
                <a:latin typeface="Arial" panose="020B0604020202020204" pitchFamily="34" charset="0"/>
              </a:rPr>
              <a:t> – clearer; main objects and boundaries are visible, acceptable quality.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Rank 50</a:t>
            </a:r>
            <a:r>
              <a:rPr kumimoji="0" lang="en-US" altLang="en-US" sz="1800" b="0" i="0" u="none" strike="noStrike" cap="none" normalizeH="0" baseline="0" dirty="0">
                <a:ln>
                  <a:noFill/>
                </a:ln>
                <a:solidFill>
                  <a:schemeClr val="tx1"/>
                </a:solidFill>
                <a:effectLst/>
                <a:latin typeface="Arial" panose="020B0604020202020204" pitchFamily="34" charset="0"/>
              </a:rPr>
              <a:t> – good quality; most textures and details appear, close to the original.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Rank 100</a:t>
            </a:r>
            <a:r>
              <a:rPr kumimoji="0" lang="en-US" altLang="en-US" sz="1800" b="0" i="0" u="none" strike="noStrike" cap="none" normalizeH="0" baseline="0" dirty="0">
                <a:ln>
                  <a:noFill/>
                </a:ln>
                <a:solidFill>
                  <a:schemeClr val="tx1"/>
                </a:solidFill>
                <a:effectLst/>
                <a:latin typeface="Arial" panose="020B0604020202020204" pitchFamily="34" charset="0"/>
              </a:rPr>
              <a:t> – almost the same as the original; differences are hard to see.</a:t>
            </a:r>
          </a:p>
        </p:txBody>
      </p:sp>
      <p:sp>
        <p:nvSpPr>
          <p:cNvPr id="7" name="TextBox 6">
            <a:extLst>
              <a:ext uri="{FF2B5EF4-FFF2-40B4-BE49-F238E27FC236}">
                <a16:creationId xmlns:a16="http://schemas.microsoft.com/office/drawing/2014/main" id="{6DC6459F-4A76-BBEF-C391-2D10EC732F6B}"/>
              </a:ext>
            </a:extLst>
          </p:cNvPr>
          <p:cNvSpPr txBox="1"/>
          <p:nvPr/>
        </p:nvSpPr>
        <p:spPr>
          <a:xfrm>
            <a:off x="262055" y="3796987"/>
            <a:ext cx="9545442" cy="646331"/>
          </a:xfrm>
          <a:prstGeom prst="rect">
            <a:avLst/>
          </a:prstGeom>
          <a:noFill/>
        </p:spPr>
        <p:txBody>
          <a:bodyPr wrap="square">
            <a:spAutoFit/>
          </a:bodyPr>
          <a:lstStyle/>
          <a:p>
            <a:pPr>
              <a:buFont typeface="Arial" panose="020B0604020202020204" pitchFamily="34" charset="0"/>
              <a:buChar char="•"/>
            </a:pPr>
            <a:r>
              <a:rPr lang="en-US" dirty="0"/>
              <a:t>This comparison shows the </a:t>
            </a:r>
            <a:r>
              <a:rPr lang="en-US" b="1" dirty="0"/>
              <a:t>trade-off</a:t>
            </a:r>
            <a:r>
              <a:rPr lang="en-US" dirty="0"/>
              <a:t>: small k gives </a:t>
            </a:r>
            <a:r>
              <a:rPr lang="en-US" b="1" dirty="0"/>
              <a:t>strong compression but lower quality</a:t>
            </a:r>
            <a:r>
              <a:rPr lang="en-US" dirty="0"/>
              <a:t>, while large k gives </a:t>
            </a:r>
            <a:r>
              <a:rPr lang="en-US" b="1" dirty="0"/>
              <a:t>better quality but less compression</a:t>
            </a:r>
            <a:r>
              <a:rPr lang="en-US" dirty="0"/>
              <a:t>.</a:t>
            </a:r>
          </a:p>
        </p:txBody>
      </p:sp>
      <p:pic>
        <p:nvPicPr>
          <p:cNvPr id="8196" name="Picture 4">
            <a:extLst>
              <a:ext uri="{FF2B5EF4-FFF2-40B4-BE49-F238E27FC236}">
                <a16:creationId xmlns:a16="http://schemas.microsoft.com/office/drawing/2014/main" id="{A3FB504A-7397-ACC2-B774-6F776929D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06" y="4387558"/>
            <a:ext cx="10762437" cy="2389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49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860391-7228-9CFB-0279-A77DF11F83EB}"/>
              </a:ext>
            </a:extLst>
          </p:cNvPr>
          <p:cNvSpPr>
            <a:spLocks noGrp="1"/>
          </p:cNvSpPr>
          <p:nvPr>
            <p:ph type="body" idx="1"/>
          </p:nvPr>
        </p:nvSpPr>
        <p:spPr>
          <a:xfrm>
            <a:off x="751509" y="433793"/>
            <a:ext cx="8269828" cy="669809"/>
          </a:xfrm>
        </p:spPr>
        <p:txBody>
          <a:bodyPr>
            <a:noAutofit/>
          </a:bodyPr>
          <a:lstStyle/>
          <a:p>
            <a:r>
              <a:rPr lang="en-US" sz="3200" dirty="0"/>
              <a:t>Relative Reconstruction Error vs Rank k</a:t>
            </a:r>
          </a:p>
        </p:txBody>
      </p:sp>
      <p:graphicFrame>
        <p:nvGraphicFramePr>
          <p:cNvPr id="12" name="Rectangle 1">
            <a:extLst>
              <a:ext uri="{FF2B5EF4-FFF2-40B4-BE49-F238E27FC236}">
                <a16:creationId xmlns:a16="http://schemas.microsoft.com/office/drawing/2014/main" id="{93700C59-6F19-9869-1E4D-1DA269CB5732}"/>
              </a:ext>
            </a:extLst>
          </p:cNvPr>
          <p:cNvGraphicFramePr>
            <a:graphicFrameLocks noGrp="1"/>
          </p:cNvGraphicFramePr>
          <p:nvPr>
            <p:ph sz="half" idx="2"/>
            <p:extLst>
              <p:ext uri="{D42A27DB-BD31-4B8C-83A1-F6EECF244321}">
                <p14:modId xmlns:p14="http://schemas.microsoft.com/office/powerpoint/2010/main" val="1176663147"/>
              </p:ext>
            </p:extLst>
          </p:nvPr>
        </p:nvGraphicFramePr>
        <p:xfrm>
          <a:off x="3949122" y="1389153"/>
          <a:ext cx="8997444" cy="4509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37795DD1-BD3E-5C6F-9B95-3E45B7AE2A7C}"/>
              </a:ext>
            </a:extLst>
          </p:cNvPr>
          <p:cNvPicPr>
            <a:picLocks noChangeAspect="1"/>
          </p:cNvPicPr>
          <p:nvPr/>
        </p:nvPicPr>
        <p:blipFill>
          <a:blip r:embed="rId8"/>
          <a:stretch>
            <a:fillRect/>
          </a:stretch>
        </p:blipFill>
        <p:spPr>
          <a:xfrm>
            <a:off x="10016610" y="2396180"/>
            <a:ext cx="1569507" cy="495903"/>
          </a:xfrm>
          <a:prstGeom prst="rect">
            <a:avLst/>
          </a:prstGeom>
        </p:spPr>
      </p:pic>
      <p:pic>
        <p:nvPicPr>
          <p:cNvPr id="10243" name="Picture 3">
            <a:extLst>
              <a:ext uri="{FF2B5EF4-FFF2-40B4-BE49-F238E27FC236}">
                <a16:creationId xmlns:a16="http://schemas.microsoft.com/office/drawing/2014/main" id="{4F93A123-E077-5F08-D61C-D5AAE1A0A8A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664" y="1844702"/>
            <a:ext cx="4587929" cy="3624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886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DD3D45-C7A5-EB97-3AC7-28745357FFF9}"/>
              </a:ext>
            </a:extLst>
          </p:cNvPr>
          <p:cNvSpPr>
            <a:spLocks noGrp="1"/>
          </p:cNvSpPr>
          <p:nvPr>
            <p:ph type="title"/>
          </p:nvPr>
        </p:nvSpPr>
        <p:spPr>
          <a:xfrm>
            <a:off x="330522" y="548640"/>
            <a:ext cx="4111586" cy="1458580"/>
          </a:xfrm>
        </p:spPr>
        <p:txBody>
          <a:bodyPr vert="horz" lIns="91440" tIns="45720" rIns="91440" bIns="45720" rtlCol="0" anchor="ctr">
            <a:normAutofit/>
          </a:bodyPr>
          <a:lstStyle/>
          <a:p>
            <a:r>
              <a:rPr lang="en-US" sz="4600" b="1" kern="1200" dirty="0">
                <a:solidFill>
                  <a:schemeClr val="tx1"/>
                </a:solidFill>
                <a:latin typeface="+mj-lt"/>
                <a:ea typeface="+mj-ea"/>
                <a:cs typeface="+mj-cs"/>
              </a:rPr>
              <a:t>Compression Ratio vs Rank  k</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AAF4A792-D301-69FA-A687-AB3A9781F854}"/>
              </a:ext>
            </a:extLst>
          </p:cNvPr>
          <p:cNvSpPr>
            <a:spLocks noChangeArrowheads="1"/>
          </p:cNvSpPr>
          <p:nvPr/>
        </p:nvSpPr>
        <p:spPr bwMode="auto">
          <a:xfrm>
            <a:off x="5126418" y="552090"/>
            <a:ext cx="6530621" cy="57037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We define the </a:t>
            </a:r>
            <a:r>
              <a:rPr kumimoji="0" lang="en-US" altLang="en-US" sz="1700" b="1" i="0" u="none" strike="noStrike" cap="none" normalizeH="0" baseline="0" dirty="0">
                <a:ln>
                  <a:noFill/>
                </a:ln>
                <a:effectLst/>
              </a:rPr>
              <a:t>compression ratio</a:t>
            </a:r>
            <a:r>
              <a:rPr kumimoji="0" lang="en-US" altLang="en-US" sz="1700" b="0" i="0" u="none" strike="noStrike" cap="none" normalizeH="0" baseline="0" dirty="0">
                <a:ln>
                  <a:noFill/>
                </a:ln>
                <a:effectLst/>
              </a:rPr>
              <a:t> for rank k as:</a:t>
            </a:r>
          </a:p>
          <a:p>
            <a:pPr marR="0" lvl="0" fontAlgn="base">
              <a:lnSpc>
                <a:spcPct val="90000"/>
              </a:lnSpc>
              <a:spcBef>
                <a:spcPct val="0"/>
              </a:spcBef>
              <a:spcAft>
                <a:spcPts val="600"/>
              </a:spcAft>
              <a:buClrTx/>
              <a:buSzTx/>
              <a:tabLst/>
            </a:pPr>
            <a:r>
              <a:rPr lang="en-US" altLang="en-US" sz="1700" dirty="0"/>
              <a:t> </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where </a:t>
            </a:r>
            <a:r>
              <a:rPr lang="en-US" altLang="en-US" sz="1700" dirty="0"/>
              <a:t>m </a:t>
            </a:r>
            <a:r>
              <a:rPr kumimoji="0" lang="en-US" altLang="en-US" sz="1700" b="0" i="0" u="none" strike="noStrike" cap="none" normalizeH="0" baseline="0" dirty="0">
                <a:ln>
                  <a:noFill/>
                </a:ln>
                <a:effectLst/>
              </a:rPr>
              <a:t>× n is the image size and </a:t>
            </a:r>
            <a:r>
              <a:rPr kumimoji="0" lang="en-US" altLang="en-US" sz="1700" b="0" i="0" u="none" strike="noStrike" cap="none" normalizeH="0" baseline="0" dirty="0" err="1">
                <a:ln>
                  <a:noFill/>
                </a:ln>
                <a:effectLst/>
              </a:rPr>
              <a:t>mk</a:t>
            </a:r>
            <a:r>
              <a:rPr kumimoji="0" lang="en-US" altLang="en-US" sz="1700" b="0" i="0" u="none" strike="noStrike" cap="none" normalizeH="0" baseline="0" dirty="0">
                <a:ln>
                  <a:noFill/>
                </a:ln>
                <a:effectLst/>
              </a:rPr>
              <a:t> + </a:t>
            </a:r>
            <a:r>
              <a:rPr kumimoji="0" lang="en-US" altLang="en-US" sz="1700" b="0" i="0" u="none" strike="noStrike" cap="none" normalizeH="0" baseline="0" dirty="0" err="1">
                <a:ln>
                  <a:noFill/>
                </a:ln>
                <a:effectLst/>
              </a:rPr>
              <a:t>nk</a:t>
            </a:r>
            <a:r>
              <a:rPr kumimoji="0" lang="en-US" altLang="en-US" sz="1700" b="0" i="0" u="none" strike="noStrike" cap="none" normalizeH="0" baseline="0" dirty="0">
                <a:ln>
                  <a:noFill/>
                </a:ln>
                <a:effectLst/>
              </a:rPr>
              <a:t> + k is the number of values in the rank–k SVD.</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We plot </a:t>
            </a:r>
            <a:r>
              <a:rPr kumimoji="0" lang="en-US" altLang="en-US" sz="1700" b="1" i="0" u="none" strike="noStrike" cap="none" normalizeH="0" baseline="0" dirty="0">
                <a:ln>
                  <a:noFill/>
                </a:ln>
                <a:effectLst/>
              </a:rPr>
              <a:t>CR(k) on the y-axis</a:t>
            </a:r>
            <a:r>
              <a:rPr kumimoji="0" lang="en-US" altLang="en-US" sz="1700" b="0" i="0" u="none" strike="noStrike" cap="none" normalizeH="0" baseline="0" dirty="0">
                <a:ln>
                  <a:noFill/>
                </a:ln>
                <a:effectLst/>
              </a:rPr>
              <a:t> and </a:t>
            </a:r>
            <a:r>
              <a:rPr kumimoji="0" lang="en-US" altLang="en-US" sz="1700" b="1" i="0" u="none" strike="noStrike" cap="none" normalizeH="0" baseline="0" dirty="0">
                <a:ln>
                  <a:noFill/>
                </a:ln>
                <a:effectLst/>
              </a:rPr>
              <a:t>k on the x-axis</a:t>
            </a:r>
            <a:r>
              <a:rPr kumimoji="0" lang="en-US" altLang="en-US" sz="1700" b="0" i="0" u="none" strike="noStrike" cap="none" normalizeH="0" baseline="0" dirty="0">
                <a:ln>
                  <a:noFill/>
                </a:ln>
                <a:effectLst/>
              </a:rPr>
              <a:t> for the same k values (5, 10, 15, …, 100).</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The curve </a:t>
            </a:r>
            <a:r>
              <a:rPr kumimoji="0" lang="en-US" altLang="en-US" sz="1700" b="1" i="0" u="none" strike="noStrike" cap="none" normalizeH="0" baseline="0" dirty="0">
                <a:ln>
                  <a:noFill/>
                </a:ln>
                <a:effectLst/>
              </a:rPr>
              <a:t>starts high</a:t>
            </a:r>
            <a:r>
              <a:rPr kumimoji="0" lang="en-US" altLang="en-US" sz="1700" b="0" i="0" u="none" strike="noStrike" cap="none" normalizeH="0" baseline="0" dirty="0">
                <a:ln>
                  <a:noFill/>
                </a:ln>
                <a:effectLst/>
              </a:rPr>
              <a:t> for small k (strong compression) and </a:t>
            </a:r>
            <a:r>
              <a:rPr kumimoji="0" lang="en-US" altLang="en-US" sz="1700" b="1" i="0" u="none" strike="noStrike" cap="none" normalizeH="0" baseline="0" dirty="0">
                <a:ln>
                  <a:noFill/>
                </a:ln>
                <a:effectLst/>
              </a:rPr>
              <a:t>drops down</a:t>
            </a:r>
            <a:r>
              <a:rPr kumimoji="0" lang="en-US" altLang="en-US" sz="1700" b="0" i="0" u="none" strike="noStrike" cap="none" normalizeH="0" baseline="0" dirty="0">
                <a:ln>
                  <a:noFill/>
                </a:ln>
                <a:effectLst/>
              </a:rPr>
              <a:t> toward 1 as k increases.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Small k</a:t>
            </a:r>
            <a:r>
              <a:rPr kumimoji="0" lang="en-US" altLang="en-US" sz="1700" b="0" i="0" u="none" strike="noStrike" cap="none" normalizeH="0" baseline="0" dirty="0">
                <a:ln>
                  <a:noFill/>
                </a:ln>
                <a:effectLst/>
              </a:rPr>
              <a:t> → very high compression ratio (many times smaller than original), but lower image quality.</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Large k</a:t>
            </a:r>
            <a:r>
              <a:rPr kumimoji="0" lang="en-US" altLang="en-US" sz="1700" b="0" i="0" u="none" strike="noStrike" cap="none" normalizeH="0" baseline="0" dirty="0">
                <a:ln>
                  <a:noFill/>
                </a:ln>
                <a:effectLst/>
              </a:rPr>
              <a:t> → compression ratio close to 1 (almost no compression), but image quality is very close to the original.</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This plot clearly shows the </a:t>
            </a:r>
            <a:r>
              <a:rPr kumimoji="0" lang="en-US" altLang="en-US" sz="1700" b="1" i="0" u="none" strike="noStrike" cap="none" normalizeH="0" baseline="0" dirty="0">
                <a:ln>
                  <a:noFill/>
                </a:ln>
                <a:effectLst/>
              </a:rPr>
              <a:t>inverse relationship</a:t>
            </a:r>
            <a:r>
              <a:rPr kumimoji="0" lang="en-US" altLang="en-US" sz="1700" b="0" i="0" u="none" strike="noStrike" cap="none" normalizeH="0" baseline="0" dirty="0">
                <a:ln>
                  <a:noFill/>
                </a:ln>
                <a:effectLst/>
              </a:rPr>
              <a:t>: as we increase k to improve quality, we </a:t>
            </a:r>
            <a:r>
              <a:rPr kumimoji="0" lang="en-US" altLang="en-US" sz="1700" b="1" i="0" u="none" strike="noStrike" cap="none" normalizeH="0" baseline="0" dirty="0">
                <a:ln>
                  <a:noFill/>
                </a:ln>
                <a:effectLst/>
              </a:rPr>
              <a:t>lose compression</a:t>
            </a:r>
            <a:r>
              <a:rPr kumimoji="0" lang="en-US" altLang="en-US" sz="1700" b="0" i="0" u="none" strike="noStrike" cap="none" normalizeH="0" baseline="0" dirty="0">
                <a:ln>
                  <a:noFill/>
                </a:ln>
                <a:effectLst/>
              </a:rPr>
              <a:t>, highlighting the core </a:t>
            </a:r>
            <a:r>
              <a:rPr kumimoji="0" lang="en-US" altLang="en-US" sz="1700" b="1" i="0" u="none" strike="noStrike" cap="none" normalizeH="0" baseline="0" dirty="0">
                <a:ln>
                  <a:noFill/>
                </a:ln>
                <a:effectLst/>
              </a:rPr>
              <a:t>trade-off</a:t>
            </a:r>
            <a:r>
              <a:rPr kumimoji="0" lang="en-US" altLang="en-US" sz="1700" b="0" i="0" u="none" strike="noStrike" cap="none" normalizeH="0" baseline="0" dirty="0">
                <a:ln>
                  <a:noFill/>
                </a:ln>
                <a:effectLst/>
              </a:rPr>
              <a:t> in SVD-based image compression.</a:t>
            </a:r>
          </a:p>
        </p:txBody>
      </p:sp>
      <p:pic>
        <p:nvPicPr>
          <p:cNvPr id="5" name="Picture 4">
            <a:extLst>
              <a:ext uri="{FF2B5EF4-FFF2-40B4-BE49-F238E27FC236}">
                <a16:creationId xmlns:a16="http://schemas.microsoft.com/office/drawing/2014/main" id="{2ED8A854-6118-F078-A730-9D15B25FDDC1}"/>
              </a:ext>
            </a:extLst>
          </p:cNvPr>
          <p:cNvPicPr>
            <a:picLocks noChangeAspect="1"/>
          </p:cNvPicPr>
          <p:nvPr/>
        </p:nvPicPr>
        <p:blipFill>
          <a:blip r:embed="rId3"/>
          <a:stretch>
            <a:fillRect/>
          </a:stretch>
        </p:blipFill>
        <p:spPr>
          <a:xfrm>
            <a:off x="7238408" y="1255504"/>
            <a:ext cx="2000353" cy="577880"/>
          </a:xfrm>
          <a:prstGeom prst="rect">
            <a:avLst/>
          </a:prstGeom>
        </p:spPr>
      </p:pic>
      <p:pic>
        <p:nvPicPr>
          <p:cNvPr id="10245" name="Picture 5">
            <a:extLst>
              <a:ext uri="{FF2B5EF4-FFF2-40B4-BE49-F238E27FC236}">
                <a16:creationId xmlns:a16="http://schemas.microsoft.com/office/drawing/2014/main" id="{B93AE305-F31B-6B6B-1758-5A78CC0846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414" y="2221069"/>
            <a:ext cx="4308694" cy="348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558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2A11F4-1E6B-D0A6-D388-B4856543730C}"/>
              </a:ext>
            </a:extLst>
          </p:cNvPr>
          <p:cNvSpPr txBox="1"/>
          <p:nvPr/>
        </p:nvSpPr>
        <p:spPr>
          <a:xfrm>
            <a:off x="504592" y="407240"/>
            <a:ext cx="7803067" cy="1077218"/>
          </a:xfrm>
          <a:prstGeom prst="rect">
            <a:avLst/>
          </a:prstGeom>
          <a:noFill/>
        </p:spPr>
        <p:txBody>
          <a:bodyPr wrap="square">
            <a:spAutoFit/>
          </a:bodyPr>
          <a:lstStyle/>
          <a:p>
            <a:r>
              <a:rPr lang="en-US" sz="3200" b="1" dirty="0"/>
              <a:t>Multi-Image Evaluation: Average Results Over Multiple Images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23DD8C-E57C-B605-CDEF-3DEAFE32444F}"/>
                  </a:ext>
                </a:extLst>
              </p:cNvPr>
              <p:cNvSpPr txBox="1"/>
              <p:nvPr/>
            </p:nvSpPr>
            <p:spPr>
              <a:xfrm>
                <a:off x="4597091" y="1197393"/>
                <a:ext cx="6966724" cy="5078313"/>
              </a:xfrm>
              <a:prstGeom prst="rect">
                <a:avLst/>
              </a:prstGeom>
              <a:noFill/>
            </p:spPr>
            <p:txBody>
              <a:bodyPr wrap="square">
                <a:spAutoFit/>
              </a:bodyPr>
              <a:lstStyle/>
              <a:p>
                <a:pPr marL="285750" indent="-285750">
                  <a:buFont typeface="Wingdings" panose="05000000000000000000" pitchFamily="2" charset="2"/>
                  <a:buChar char="Ø"/>
                </a:pPr>
                <a:r>
                  <a:rPr lang="en-US" dirty="0"/>
                  <a:t>Instead of using only one sample image, we also tested SVD compression on a </a:t>
                </a:r>
                <a:r>
                  <a:rPr lang="en-US" b="1" dirty="0"/>
                  <a:t>subset of multiple images</a:t>
                </a:r>
                <a:r>
                  <a:rPr lang="en-US" dirty="0"/>
                  <a:t> from the dataset (e.g., first 10 images).</a:t>
                </a:r>
              </a:p>
              <a:p>
                <a:pPr marL="285750" indent="-285750">
                  <a:buFont typeface="Wingdings" panose="05000000000000000000" pitchFamily="2" charset="2"/>
                  <a:buChar char="Ø"/>
                </a:pPr>
                <a:r>
                  <a:rPr lang="en-US" dirty="0"/>
                  <a:t>For each image and each rank </a:t>
                </a:r>
                <a14:m>
                  <m:oMath xmlns:m="http://schemas.openxmlformats.org/officeDocument/2006/math">
                    <m:r>
                      <a:rPr lang="en-US" i="1">
                        <a:latin typeface="Cambria Math" panose="02040503050406030204" pitchFamily="18" charset="0"/>
                      </a:rPr>
                      <m:t>𝑘</m:t>
                    </m:r>
                  </m:oMath>
                </a14:m>
                <a:r>
                  <a:rPr lang="en-US" dirty="0"/>
                  <a:t>(e.g., 5, 20, 50, 100), we:</a:t>
                </a:r>
              </a:p>
              <a:p>
                <a:pPr marL="742950" lvl="1" indent="-285750">
                  <a:buFont typeface="Arial" panose="020B0604020202020204" pitchFamily="34" charset="0"/>
                  <a:buChar char="•"/>
                </a:pPr>
                <a:r>
                  <a:rPr lang="en-US" dirty="0"/>
                  <a:t>Computed the </a:t>
                </a:r>
                <a:r>
                  <a:rPr lang="en-US" b="1" dirty="0"/>
                  <a:t>rank–k approximation</a:t>
                </a:r>
                <a:r>
                  <a:rPr lang="en-US"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𝐴</m:t>
                        </m:r>
                      </m:e>
                      <m:sub>
                        <m:r>
                          <a:rPr lang="ar-AE" i="1">
                            <a:latin typeface="Cambria Math" panose="02040503050406030204" pitchFamily="18" charset="0"/>
                          </a:rPr>
                          <m:t>𝑘</m:t>
                        </m:r>
                      </m:sub>
                    </m:sSub>
                  </m:oMath>
                </a14:m>
                <a:r>
                  <a:rPr lang="ar-AE" dirty="0"/>
                  <a:t>.</a:t>
                </a:r>
              </a:p>
              <a:p>
                <a:pPr marL="742950" lvl="1" indent="-285750">
                  <a:buFont typeface="Arial" panose="020B0604020202020204" pitchFamily="34" charset="0"/>
                  <a:buChar char="•"/>
                </a:pPr>
                <a:r>
                  <a:rPr lang="en-US" dirty="0"/>
                  <a:t>Measured </a:t>
                </a:r>
                <a:r>
                  <a:rPr lang="en-US" b="1" dirty="0"/>
                  <a:t>relative reconstruction error</a:t>
                </a:r>
                <a:r>
                  <a:rPr lang="en-US" dirty="0"/>
                  <a:t> and </a:t>
                </a:r>
                <a:r>
                  <a:rPr lang="en-US" b="1" dirty="0"/>
                  <a:t>compression ratio</a:t>
                </a:r>
                <a:r>
                  <a:rPr lang="en-US" dirty="0"/>
                  <a:t>.</a:t>
                </a:r>
              </a:p>
              <a:p>
                <a:pPr marL="285750" indent="-285750">
                  <a:buFont typeface="Wingdings" panose="05000000000000000000" pitchFamily="2" charset="2"/>
                  <a:buChar char="Ø"/>
                </a:pPr>
                <a:r>
                  <a:rPr lang="en-US" dirty="0"/>
                  <a:t>Then, we </a:t>
                </a:r>
                <a:r>
                  <a:rPr lang="en-US" b="1" dirty="0"/>
                  <a:t>averaged</a:t>
                </a:r>
                <a:r>
                  <a:rPr lang="en-US" dirty="0"/>
                  <a:t> the error and compression ratio across all selected images to get </a:t>
                </a:r>
                <a:r>
                  <a:rPr lang="en-US" b="1" dirty="0"/>
                  <a:t>mean values</a:t>
                </a:r>
                <a:r>
                  <a:rPr lang="en-US" dirty="0"/>
                  <a:t> for each k.</a:t>
                </a:r>
              </a:p>
              <a:p>
                <a:pPr marL="285750" indent="-285750">
                  <a:buFont typeface="Wingdings" panose="05000000000000000000" pitchFamily="2" charset="2"/>
                  <a:buChar char="Ø"/>
                </a:pPr>
                <a:r>
                  <a:rPr lang="en-US" dirty="0"/>
                  <a:t>The average results showed a </a:t>
                </a:r>
                <a:r>
                  <a:rPr lang="en-US" b="1" dirty="0"/>
                  <a:t>similar pattern</a:t>
                </a:r>
                <a:r>
                  <a:rPr lang="en-US" dirty="0"/>
                  <a:t> as the single-image case:</a:t>
                </a:r>
              </a:p>
              <a:p>
                <a:pPr marL="742950" lvl="1" indent="-285750">
                  <a:buFont typeface="Arial" panose="020B0604020202020204" pitchFamily="34" charset="0"/>
                  <a:buChar char="•"/>
                </a:pPr>
                <a:r>
                  <a:rPr lang="en-US" dirty="0"/>
                  <a:t>Error decreases as k increases.</a:t>
                </a:r>
              </a:p>
              <a:p>
                <a:pPr marL="742950" lvl="1" indent="-285750">
                  <a:buFont typeface="Arial" panose="020B0604020202020204" pitchFamily="34" charset="0"/>
                  <a:buChar char="•"/>
                </a:pPr>
                <a:r>
                  <a:rPr lang="en-US" dirty="0"/>
                  <a:t>Compression ratio decreases as k increases.</a:t>
                </a:r>
              </a:p>
              <a:p>
                <a:pPr marL="285750" indent="-285750">
                  <a:buFont typeface="Wingdings" panose="05000000000000000000" pitchFamily="2" charset="2"/>
                  <a:buChar char="Ø"/>
                </a:pPr>
                <a:r>
                  <a:rPr lang="en-US" dirty="0"/>
                  <a:t>This confirms that the </a:t>
                </a:r>
                <a:r>
                  <a:rPr lang="en-US" b="1" dirty="0"/>
                  <a:t>trade-off between quality and compression</a:t>
                </a:r>
                <a:r>
                  <a:rPr lang="en-US" dirty="0"/>
                  <a:t> is consistent across different landscape images, not just one example.</a:t>
                </a:r>
              </a:p>
              <a:p>
                <a:pPr marL="285750" indent="-285750">
                  <a:buFont typeface="Wingdings" panose="05000000000000000000" pitchFamily="2" charset="2"/>
                  <a:buChar char="Ø"/>
                </a:pPr>
                <a:r>
                  <a:rPr lang="en-US" dirty="0"/>
                  <a:t>It makes the conclusions of our project </a:t>
                </a:r>
                <a:r>
                  <a:rPr lang="en-US" b="1" dirty="0"/>
                  <a:t>more reliable</a:t>
                </a:r>
                <a:r>
                  <a:rPr lang="en-US" dirty="0"/>
                  <a:t>, because they are based on </a:t>
                </a:r>
                <a:r>
                  <a:rPr lang="en-US" b="1" dirty="0"/>
                  <a:t>multiple images</a:t>
                </a:r>
                <a:r>
                  <a:rPr lang="en-US" dirty="0"/>
                  <a:t>, not a single special case.</a:t>
                </a:r>
              </a:p>
            </p:txBody>
          </p:sp>
        </mc:Choice>
        <mc:Fallback xmlns="">
          <p:sp>
            <p:nvSpPr>
              <p:cNvPr id="5" name="TextBox 4">
                <a:extLst>
                  <a:ext uri="{FF2B5EF4-FFF2-40B4-BE49-F238E27FC236}">
                    <a16:creationId xmlns:a16="http://schemas.microsoft.com/office/drawing/2014/main" id="{3923DD8C-E57C-B605-CDEF-3DEAFE32444F}"/>
                  </a:ext>
                </a:extLst>
              </p:cNvPr>
              <p:cNvSpPr txBox="1">
                <a:spLocks noRot="1" noChangeAspect="1" noMove="1" noResize="1" noEditPoints="1" noAdjustHandles="1" noChangeArrowheads="1" noChangeShapeType="1" noTextEdit="1"/>
              </p:cNvSpPr>
              <p:nvPr/>
            </p:nvSpPr>
            <p:spPr>
              <a:xfrm>
                <a:off x="4597091" y="1197393"/>
                <a:ext cx="6966724" cy="5078313"/>
              </a:xfrm>
              <a:prstGeom prst="rect">
                <a:avLst/>
              </a:prstGeom>
              <a:blipFill>
                <a:blip r:embed="rId3"/>
                <a:stretch>
                  <a:fillRect l="-525" t="-480" r="-87" b="-1080"/>
                </a:stretch>
              </a:blipFill>
            </p:spPr>
            <p:txBody>
              <a:bodyPr/>
              <a:lstStyle/>
              <a:p>
                <a:r>
                  <a:rPr lang="en-US">
                    <a:noFill/>
                  </a:rPr>
                  <a:t> </a:t>
                </a:r>
              </a:p>
            </p:txBody>
          </p:sp>
        </mc:Fallback>
      </mc:AlternateContent>
    </p:spTree>
    <p:extLst>
      <p:ext uri="{BB962C8B-B14F-4D97-AF65-F5344CB8AC3E}">
        <p14:creationId xmlns:p14="http://schemas.microsoft.com/office/powerpoint/2010/main" val="178764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A9F699-F7B1-26E9-0CA5-802299AC5839}"/>
              </a:ext>
            </a:extLst>
          </p:cNvPr>
          <p:cNvSpPr txBox="1"/>
          <p:nvPr/>
        </p:nvSpPr>
        <p:spPr>
          <a:xfrm>
            <a:off x="1079344" y="134585"/>
            <a:ext cx="10412452" cy="584775"/>
          </a:xfrm>
          <a:prstGeom prst="rect">
            <a:avLst/>
          </a:prstGeom>
          <a:noFill/>
        </p:spPr>
        <p:txBody>
          <a:bodyPr wrap="square">
            <a:spAutoFit/>
          </a:bodyPr>
          <a:lstStyle/>
          <a:p>
            <a:r>
              <a:rPr lang="en-US" sz="3200" b="1" dirty="0"/>
              <a:t>Extension – SVD Compression on Color Images (RGB)</a:t>
            </a:r>
          </a:p>
        </p:txBody>
      </p:sp>
      <p:sp>
        <p:nvSpPr>
          <p:cNvPr id="4" name="Rectangle 1">
            <a:extLst>
              <a:ext uri="{FF2B5EF4-FFF2-40B4-BE49-F238E27FC236}">
                <a16:creationId xmlns:a16="http://schemas.microsoft.com/office/drawing/2014/main" id="{180F4AA6-5A71-F5DE-D96E-A01ABDC5010A}"/>
              </a:ext>
            </a:extLst>
          </p:cNvPr>
          <p:cNvSpPr>
            <a:spLocks noChangeArrowheads="1"/>
          </p:cNvSpPr>
          <p:nvPr/>
        </p:nvSpPr>
        <p:spPr bwMode="auto">
          <a:xfrm>
            <a:off x="501806" y="1368103"/>
            <a:ext cx="1098999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 far, we worked with </a:t>
            </a:r>
            <a:r>
              <a:rPr kumimoji="0" lang="en-US" altLang="en-US" sz="1800" b="1" i="0" u="none" strike="noStrike" cap="none" normalizeH="0" baseline="0" dirty="0">
                <a:ln>
                  <a:noFill/>
                </a:ln>
                <a:solidFill>
                  <a:schemeClr val="tx1"/>
                </a:solidFill>
                <a:effectLst/>
                <a:latin typeface="Arial" panose="020B0604020202020204" pitchFamily="34" charset="0"/>
              </a:rPr>
              <a:t>grayscale images</a:t>
            </a:r>
            <a:r>
              <a:rPr kumimoji="0" lang="en-US" altLang="en-US" sz="1800" b="0" i="0" u="none" strike="noStrike" cap="none" normalizeH="0" baseline="0" dirty="0">
                <a:ln>
                  <a:noFill/>
                </a:ln>
                <a:solidFill>
                  <a:schemeClr val="tx1"/>
                </a:solidFill>
                <a:effectLst/>
                <a:latin typeface="Arial" panose="020B0604020202020204" pitchFamily="34" charset="0"/>
              </a:rPr>
              <a:t>, where each image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is a </a:t>
            </a:r>
            <a:r>
              <a:rPr kumimoji="0" lang="en-US" altLang="en-US" sz="1800" b="1" i="0" u="none" strike="noStrike" cap="none" normalizeH="0" baseline="0" dirty="0">
                <a:ln>
                  <a:noFill/>
                </a:ln>
                <a:solidFill>
                  <a:schemeClr val="tx1"/>
                </a:solidFill>
                <a:effectLst/>
                <a:latin typeface="Arial" panose="020B0604020202020204" pitchFamily="34" charset="0"/>
              </a:rPr>
              <a:t>single 2D matrix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As an extension, we also tested SVD on </a:t>
            </a:r>
            <a:r>
              <a:rPr kumimoji="0" lang="en-US" altLang="en-US" sz="1800" b="1" i="0" u="none" strike="noStrike" cap="none" normalizeH="0" baseline="0" dirty="0">
                <a:ln>
                  <a:noFill/>
                </a:ln>
                <a:solidFill>
                  <a:schemeClr val="tx1"/>
                </a:solidFill>
                <a:effectLst/>
                <a:latin typeface="Arial" panose="020B0604020202020204" pitchFamily="34" charset="0"/>
              </a:rPr>
              <a:t>color images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which have </a:t>
            </a:r>
            <a:r>
              <a:rPr kumimoji="0" lang="en-US" altLang="en-US" sz="1800" b="1" i="0" u="none" strike="noStrike" cap="none" normalizeH="0" baseline="0" dirty="0">
                <a:ln>
                  <a:noFill/>
                </a:ln>
                <a:solidFill>
                  <a:schemeClr val="tx1"/>
                </a:solidFill>
                <a:effectLst/>
                <a:latin typeface="Arial" panose="020B0604020202020204" pitchFamily="34" charset="0"/>
              </a:rPr>
              <a:t>three channels: R, G, and B</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Each color image is represented as three matrices: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 channel (R)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Green channel (G)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Blue channel (B)</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For color compression, we: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Applied </a:t>
            </a:r>
            <a:r>
              <a:rPr kumimoji="0" lang="en-US" altLang="en-US" sz="1800" b="1" i="0" u="none" strike="noStrike" cap="none" normalizeH="0" baseline="0" dirty="0">
                <a:ln>
                  <a:noFill/>
                </a:ln>
                <a:solidFill>
                  <a:schemeClr val="tx1"/>
                </a:solidFill>
                <a:effectLst/>
                <a:latin typeface="Arial" panose="020B0604020202020204" pitchFamily="34" charset="0"/>
              </a:rPr>
              <a:t>SVD separately</a:t>
            </a:r>
            <a:r>
              <a:rPr kumimoji="0" lang="en-US" altLang="en-US" sz="1800" b="0" i="0" u="none" strike="noStrike" cap="none" normalizeH="0" baseline="0" dirty="0">
                <a:ln>
                  <a:noFill/>
                </a:ln>
                <a:solidFill>
                  <a:schemeClr val="tx1"/>
                </a:solidFill>
                <a:effectLst/>
                <a:latin typeface="Arial" panose="020B0604020202020204" pitchFamily="34" charset="0"/>
              </a:rPr>
              <a:t> to each channel matrix (R, G, 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Reconstructed each channel using </a:t>
            </a:r>
            <a:r>
              <a:rPr kumimoji="0" lang="en-US" altLang="en-US" sz="1800" b="1" i="0" u="none" strike="noStrike" cap="none" normalizeH="0" baseline="0" dirty="0">
                <a:ln>
                  <a:noFill/>
                </a:ln>
                <a:solidFill>
                  <a:schemeClr val="tx1"/>
                </a:solidFill>
                <a:effectLst/>
                <a:latin typeface="Arial" panose="020B0604020202020204" pitchFamily="34" charset="0"/>
              </a:rPr>
              <a:t>rank 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Combined the three reconstructed channels back into one </a:t>
            </a:r>
            <a:r>
              <a:rPr kumimoji="0" lang="en-US" altLang="en-US" sz="1800" b="1" i="0" u="none" strike="noStrike" cap="none" normalizeH="0" baseline="0" dirty="0">
                <a:ln>
                  <a:noFill/>
                </a:ln>
                <a:solidFill>
                  <a:schemeClr val="tx1"/>
                </a:solidFill>
                <a:effectLst/>
                <a:latin typeface="Arial" panose="020B0604020202020204" pitchFamily="34" charset="0"/>
              </a:rPr>
              <a:t>RGB image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Visual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 moderate k (e.g., </a:t>
            </a:r>
            <a:r>
              <a:rPr kumimoji="0" lang="en-US" altLang="en-US" sz="1800" b="1" i="0" u="none" strike="noStrike" cap="none" normalizeH="0" baseline="0" dirty="0">
                <a:ln>
                  <a:noFill/>
                </a:ln>
                <a:solidFill>
                  <a:schemeClr val="tx1"/>
                </a:solidFill>
                <a:effectLst/>
                <a:latin typeface="Arial" panose="020B0604020202020204" pitchFamily="34" charset="0"/>
              </a:rPr>
              <a:t>k = 50</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color image still looks very close to the original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Edges, textures, and colors are mostly preserved, but very fine details may be slightly smoother.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shows that the same </a:t>
            </a:r>
            <a:r>
              <a:rPr kumimoji="0" lang="en-US" altLang="en-US" sz="1800" b="1" i="0" u="none" strike="noStrike" cap="none" normalizeH="0" baseline="0" dirty="0">
                <a:ln>
                  <a:noFill/>
                </a:ln>
                <a:solidFill>
                  <a:schemeClr val="tx1"/>
                </a:solidFill>
                <a:effectLst/>
                <a:latin typeface="Arial" panose="020B0604020202020204" pitchFamily="34" charset="0"/>
              </a:rPr>
              <a:t>SVD-based low-rank idea</a:t>
            </a:r>
            <a:r>
              <a:rPr kumimoji="0" lang="en-US" altLang="en-US" sz="1800" b="0" i="0" u="none" strike="noStrike" cap="none" normalizeH="0" baseline="0" dirty="0">
                <a:ln>
                  <a:noFill/>
                </a:ln>
                <a:solidFill>
                  <a:schemeClr val="tx1"/>
                </a:solidFill>
                <a:effectLst/>
                <a:latin typeface="Arial" panose="020B0604020202020204" pitchFamily="34" charset="0"/>
              </a:rPr>
              <a:t> can be extended</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from </a:t>
            </a:r>
            <a:r>
              <a:rPr kumimoji="0" lang="en-US" altLang="en-US" sz="1800" b="1" i="0" u="none" strike="noStrike" cap="none" normalizeH="0" baseline="0" dirty="0">
                <a:ln>
                  <a:noFill/>
                </a:ln>
                <a:solidFill>
                  <a:schemeClr val="tx1"/>
                </a:solidFill>
                <a:effectLst/>
                <a:latin typeface="Arial" panose="020B0604020202020204" pitchFamily="34" charset="0"/>
              </a:rPr>
              <a:t>grayscale</a:t>
            </a:r>
            <a:r>
              <a:rPr kumimoji="0" lang="en-US" altLang="en-US" sz="1800" b="0" i="0" u="none" strike="noStrike" cap="none" normalizeH="0" baseline="0" dirty="0">
                <a:ln>
                  <a:noFill/>
                </a:ln>
                <a:solidFill>
                  <a:schemeClr val="tx1"/>
                </a:solidFill>
                <a:effectLst/>
                <a:latin typeface="Arial" panose="020B0604020202020204" pitchFamily="34" charset="0"/>
              </a:rPr>
              <a:t> to </a:t>
            </a:r>
            <a:r>
              <a:rPr kumimoji="0" lang="en-US" altLang="en-US" sz="1800" b="1" i="0" u="none" strike="noStrike" cap="none" normalizeH="0" baseline="0" dirty="0">
                <a:ln>
                  <a:noFill/>
                </a:ln>
                <a:solidFill>
                  <a:schemeClr val="tx1"/>
                </a:solidFill>
                <a:effectLst/>
                <a:latin typeface="Arial" panose="020B0604020202020204" pitchFamily="34" charset="0"/>
              </a:rPr>
              <a:t>full color images</a:t>
            </a:r>
            <a:r>
              <a:rPr kumimoji="0" lang="en-US" altLang="en-US" sz="1800" b="0" i="0" u="none" strike="noStrike" cap="none" normalizeH="0" baseline="0" dirty="0">
                <a:ln>
                  <a:noFill/>
                </a:ln>
                <a:solidFill>
                  <a:schemeClr val="tx1"/>
                </a:solidFill>
                <a:effectLst/>
                <a:latin typeface="Arial" panose="020B0604020202020204" pitchFamily="34" charset="0"/>
              </a:rPr>
              <a:t>, by working channel-wise.</a:t>
            </a:r>
          </a:p>
        </p:txBody>
      </p:sp>
      <p:pic>
        <p:nvPicPr>
          <p:cNvPr id="11271" name="Picture 7">
            <a:extLst>
              <a:ext uri="{FF2B5EF4-FFF2-40B4-BE49-F238E27FC236}">
                <a16:creationId xmlns:a16="http://schemas.microsoft.com/office/drawing/2014/main" id="{327E30A0-99FA-482E-EB23-6C31D76BB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317" y="1455341"/>
            <a:ext cx="5197399" cy="2709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02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F30A91-7A56-6C48-92F5-B8CEAFFFC812}"/>
              </a:ext>
            </a:extLst>
          </p:cNvPr>
          <p:cNvSpPr txBox="1"/>
          <p:nvPr/>
        </p:nvSpPr>
        <p:spPr>
          <a:xfrm>
            <a:off x="2021159" y="314220"/>
            <a:ext cx="6094140" cy="584775"/>
          </a:xfrm>
          <a:prstGeom prst="rect">
            <a:avLst/>
          </a:prstGeom>
          <a:noFill/>
        </p:spPr>
        <p:txBody>
          <a:bodyPr wrap="square">
            <a:spAutoFit/>
          </a:bodyPr>
          <a:lstStyle/>
          <a:p>
            <a:r>
              <a:rPr lang="en-US" sz="3200" b="1" dirty="0"/>
              <a:t>Key Insights</a:t>
            </a:r>
          </a:p>
        </p:txBody>
      </p:sp>
      <p:sp>
        <p:nvSpPr>
          <p:cNvPr id="4" name="Rectangle 1">
            <a:extLst>
              <a:ext uri="{FF2B5EF4-FFF2-40B4-BE49-F238E27FC236}">
                <a16:creationId xmlns:a16="http://schemas.microsoft.com/office/drawing/2014/main" id="{029596B5-399D-2F41-52D2-83880086C3C8}"/>
              </a:ext>
            </a:extLst>
          </p:cNvPr>
          <p:cNvSpPr>
            <a:spLocks noChangeArrowheads="1"/>
          </p:cNvSpPr>
          <p:nvPr/>
        </p:nvSpPr>
        <p:spPr bwMode="auto">
          <a:xfrm>
            <a:off x="698810" y="1256943"/>
            <a:ext cx="539719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Landscape images show a strong </a:t>
            </a:r>
            <a:r>
              <a:rPr kumimoji="0" lang="en-US" altLang="en-US" sz="1800" b="1" i="0" u="none" strike="noStrike" cap="none" normalizeH="0" baseline="0" dirty="0">
                <a:ln>
                  <a:noFill/>
                </a:ln>
                <a:solidFill>
                  <a:schemeClr val="tx1"/>
                </a:solidFill>
                <a:effectLst/>
                <a:latin typeface="Arial" panose="020B0604020202020204" pitchFamily="34" charset="0"/>
              </a:rPr>
              <a:t>low-rank structure</a:t>
            </a:r>
            <a:r>
              <a:rPr kumimoji="0" lang="en-US" altLang="en-US" sz="1800" b="0"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even small ranks (low k) give </a:t>
            </a:r>
            <a:r>
              <a:rPr kumimoji="0" lang="en-US" altLang="en-US" sz="1800" b="1" i="0" u="none" strike="noStrike" cap="none" normalizeH="0" baseline="0" dirty="0">
                <a:ln>
                  <a:noFill/>
                </a:ln>
                <a:solidFill>
                  <a:schemeClr val="tx1"/>
                </a:solidFill>
                <a:effectLst/>
                <a:latin typeface="Arial" panose="020B0604020202020204" pitchFamily="34" charset="0"/>
              </a:rPr>
              <a:t>recognizable images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There is a clear </a:t>
            </a:r>
            <a:r>
              <a:rPr kumimoji="0" lang="en-US" altLang="en-US" sz="1800" b="1" i="0" u="none" strike="noStrike" cap="none" normalizeH="0" baseline="0" dirty="0">
                <a:ln>
                  <a:noFill/>
                </a:ln>
                <a:solidFill>
                  <a:schemeClr val="tx1"/>
                </a:solidFill>
                <a:effectLst/>
                <a:latin typeface="Arial" panose="020B0604020202020204" pitchFamily="34" charset="0"/>
              </a:rPr>
              <a:t>trade-off</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Small k</a:t>
            </a:r>
            <a:r>
              <a:rPr kumimoji="0" lang="en-US" altLang="en-US" sz="1800" b="0" i="0" u="none" strike="noStrike" cap="none" normalizeH="0" baseline="0" dirty="0">
                <a:ln>
                  <a:noFill/>
                </a:ln>
                <a:solidFill>
                  <a:schemeClr val="tx1"/>
                </a:solidFill>
                <a:effectLst/>
                <a:latin typeface="Arial" panose="020B0604020202020204" pitchFamily="34" charset="0"/>
              </a:rPr>
              <a:t> → high compression, more blur and loss of detail.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Large k</a:t>
            </a:r>
            <a:r>
              <a:rPr kumimoji="0" lang="en-US" altLang="en-US" sz="1800" b="0" i="0" u="none" strike="noStrike" cap="none" normalizeH="0" baseline="0" dirty="0">
                <a:ln>
                  <a:noFill/>
                </a:ln>
                <a:solidFill>
                  <a:schemeClr val="tx1"/>
                </a:solidFill>
                <a:effectLst/>
                <a:latin typeface="Arial" panose="020B0604020202020204" pitchFamily="34" charset="0"/>
              </a:rPr>
              <a:t> → low compression, but quality very close to original.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Quantitative results (error vs k and compression ratio vs k) match the visual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Error decreases</a:t>
            </a:r>
            <a:r>
              <a:rPr kumimoji="0" lang="en-US" altLang="en-US" sz="1800" b="0" i="0" u="none" strike="noStrike" cap="none" normalizeH="0" baseline="0" dirty="0">
                <a:ln>
                  <a:noFill/>
                </a:ln>
                <a:solidFill>
                  <a:schemeClr val="tx1"/>
                </a:solidFill>
                <a:effectLst/>
                <a:latin typeface="Arial" panose="020B0604020202020204" pitchFamily="34" charset="0"/>
              </a:rPr>
              <a:t> as k increases.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Compression ratio decreases</a:t>
            </a:r>
            <a:r>
              <a:rPr kumimoji="0" lang="en-US" altLang="en-US" sz="1800" b="0" i="0" u="none" strike="noStrike" cap="none" normalizeH="0" baseline="0" dirty="0">
                <a:ln>
                  <a:noFill/>
                </a:ln>
                <a:solidFill>
                  <a:schemeClr val="tx1"/>
                </a:solidFill>
                <a:effectLst/>
                <a:latin typeface="Arial" panose="020B0604020202020204" pitchFamily="34" charset="0"/>
              </a:rPr>
              <a:t> as k increases.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Averaging over multiple images shows this behavior is </a:t>
            </a:r>
            <a:r>
              <a:rPr kumimoji="0" lang="en-US" altLang="en-US" sz="1800" b="1" i="0" u="none" strike="noStrike" cap="none" normalizeH="0" baseline="0" dirty="0">
                <a:ln>
                  <a:noFill/>
                </a:ln>
                <a:solidFill>
                  <a:schemeClr val="tx1"/>
                </a:solidFill>
                <a:effectLst/>
                <a:latin typeface="Arial" panose="020B0604020202020204" pitchFamily="34" charset="0"/>
              </a:rPr>
              <a:t>consistent</a:t>
            </a:r>
            <a:r>
              <a:rPr kumimoji="0" lang="en-US" altLang="en-US" sz="1800" b="0" i="0" u="none" strike="noStrike" cap="none" normalizeH="0" baseline="0" dirty="0">
                <a:ln>
                  <a:noFill/>
                </a:ln>
                <a:solidFill>
                  <a:schemeClr val="tx1"/>
                </a:solidFill>
                <a:effectLst/>
                <a:latin typeface="Arial" panose="020B0604020202020204" pitchFamily="34" charset="0"/>
              </a:rPr>
              <a:t> across the dataset, not just for one example image.</a:t>
            </a:r>
          </a:p>
        </p:txBody>
      </p:sp>
      <p:sp>
        <p:nvSpPr>
          <p:cNvPr id="6" name="TextBox 5">
            <a:extLst>
              <a:ext uri="{FF2B5EF4-FFF2-40B4-BE49-F238E27FC236}">
                <a16:creationId xmlns:a16="http://schemas.microsoft.com/office/drawing/2014/main" id="{8ABA83E1-FC61-F17A-414D-F1BE7850D774}"/>
              </a:ext>
            </a:extLst>
          </p:cNvPr>
          <p:cNvSpPr txBox="1"/>
          <p:nvPr/>
        </p:nvSpPr>
        <p:spPr>
          <a:xfrm>
            <a:off x="7574466" y="316206"/>
            <a:ext cx="6094140" cy="584775"/>
          </a:xfrm>
          <a:prstGeom prst="rect">
            <a:avLst/>
          </a:prstGeom>
          <a:noFill/>
        </p:spPr>
        <p:txBody>
          <a:bodyPr wrap="square">
            <a:spAutoFit/>
          </a:bodyPr>
          <a:lstStyle/>
          <a:p>
            <a:r>
              <a:rPr lang="en-US" sz="3200" b="1" dirty="0"/>
              <a:t>Future Work</a:t>
            </a:r>
          </a:p>
        </p:txBody>
      </p:sp>
      <p:sp>
        <p:nvSpPr>
          <p:cNvPr id="7" name="Rectangle 2">
            <a:extLst>
              <a:ext uri="{FF2B5EF4-FFF2-40B4-BE49-F238E27FC236}">
                <a16:creationId xmlns:a16="http://schemas.microsoft.com/office/drawing/2014/main" id="{F01AA920-09DA-A80C-38A1-79C42014C095}"/>
              </a:ext>
            </a:extLst>
          </p:cNvPr>
          <p:cNvSpPr>
            <a:spLocks noChangeArrowheads="1"/>
          </p:cNvSpPr>
          <p:nvPr/>
        </p:nvSpPr>
        <p:spPr bwMode="auto">
          <a:xfrm>
            <a:off x="6731619" y="1395442"/>
            <a:ext cx="46835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SVD-based compression more directly with </a:t>
            </a:r>
            <a:r>
              <a:rPr kumimoji="0" lang="en-US" altLang="en-US" sz="1800" b="1" i="0" u="none" strike="noStrike" cap="none" normalizeH="0" baseline="0" dirty="0">
                <a:ln>
                  <a:noFill/>
                </a:ln>
                <a:solidFill>
                  <a:schemeClr val="tx1"/>
                </a:solidFill>
                <a:effectLst/>
                <a:latin typeface="Arial" panose="020B0604020202020204" pitchFamily="34" charset="0"/>
              </a:rPr>
              <a:t>standard formats</a:t>
            </a:r>
            <a:r>
              <a:rPr kumimoji="0" lang="en-US" altLang="en-US" sz="1800" b="0" i="0" u="none" strike="noStrike" cap="none" normalizeH="0" baseline="0" dirty="0">
                <a:ln>
                  <a:noFill/>
                </a:ln>
                <a:solidFill>
                  <a:schemeClr val="tx1"/>
                </a:solidFill>
                <a:effectLst/>
                <a:latin typeface="Arial" panose="020B0604020202020204" pitchFamily="34" charset="0"/>
              </a:rPr>
              <a:t> like </a:t>
            </a:r>
            <a:r>
              <a:rPr kumimoji="0" lang="en-US" altLang="en-US" sz="1800" b="1" i="0" u="none" strike="noStrike" cap="none" normalizeH="0" baseline="0" dirty="0">
                <a:ln>
                  <a:noFill/>
                </a:ln>
                <a:solidFill>
                  <a:schemeClr val="tx1"/>
                </a:solidFill>
                <a:effectLst/>
                <a:latin typeface="Arial" panose="020B0604020202020204" pitchFamily="34" charset="0"/>
              </a:rPr>
              <a:t>JPEG</a:t>
            </a:r>
            <a:r>
              <a:rPr kumimoji="0" lang="en-US" altLang="en-US" sz="1800" b="0" i="0" u="none" strike="noStrike" cap="none" normalizeH="0" baseline="0" dirty="0">
                <a:ln>
                  <a:noFill/>
                </a:ln>
                <a:solidFill>
                  <a:schemeClr val="tx1"/>
                </a:solidFill>
                <a:effectLst/>
                <a:latin typeface="Arial" panose="020B0604020202020204" pitchFamily="34" charset="0"/>
              </a:rPr>
              <a:t> at similar file sizes.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Try </a:t>
            </a:r>
            <a:r>
              <a:rPr kumimoji="0" lang="en-US" altLang="en-US" sz="1800" b="1" i="0" u="none" strike="noStrike" cap="none" normalizeH="0" baseline="0" dirty="0">
                <a:ln>
                  <a:noFill/>
                </a:ln>
                <a:solidFill>
                  <a:schemeClr val="tx1"/>
                </a:solidFill>
                <a:effectLst/>
                <a:latin typeface="Arial" panose="020B0604020202020204" pitchFamily="34" charset="0"/>
              </a:rPr>
              <a:t>different image sizes</a:t>
            </a:r>
            <a:r>
              <a:rPr kumimoji="0" lang="en-US" altLang="en-US" sz="1800" b="0" i="0" u="none" strike="noStrike" cap="none" normalizeH="0" baseline="0" dirty="0">
                <a:ln>
                  <a:noFill/>
                </a:ln>
                <a:solidFill>
                  <a:schemeClr val="tx1"/>
                </a:solidFill>
                <a:effectLst/>
                <a:latin typeface="Arial" panose="020B0604020202020204" pitchFamily="34" charset="0"/>
              </a:rPr>
              <a:t> or other datasets (faces, objects, etc.) to see how low-rank behavior changes.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Explore </a:t>
            </a:r>
            <a:r>
              <a:rPr kumimoji="0" lang="en-US" altLang="en-US" sz="1800" b="1" i="0" u="none" strike="noStrike" cap="none" normalizeH="0" baseline="0" dirty="0">
                <a:ln>
                  <a:noFill/>
                </a:ln>
                <a:solidFill>
                  <a:schemeClr val="tx1"/>
                </a:solidFill>
                <a:effectLst/>
                <a:latin typeface="Arial" panose="020B0604020202020204" pitchFamily="34" charset="0"/>
              </a:rPr>
              <a:t>adaptive selection of k</a:t>
            </a:r>
            <a:r>
              <a:rPr kumimoji="0" lang="en-US" altLang="en-US" sz="1800" b="0" i="0" u="none" strike="noStrike" cap="none" normalizeH="0" baseline="0" dirty="0">
                <a:ln>
                  <a:noFill/>
                </a:ln>
                <a:solidFill>
                  <a:schemeClr val="tx1"/>
                </a:solidFill>
                <a:effectLst/>
                <a:latin typeface="Arial" panose="020B0604020202020204" pitchFamily="34" charset="0"/>
              </a:rPr>
              <a:t>, for example choosing k based on a target </a:t>
            </a:r>
            <a:r>
              <a:rPr kumimoji="0" lang="en-US" altLang="en-US" sz="1800" b="1" i="0" u="none" strike="noStrike" cap="none" normalizeH="0" baseline="0" dirty="0">
                <a:ln>
                  <a:noFill/>
                </a:ln>
                <a:solidFill>
                  <a:schemeClr val="tx1"/>
                </a:solidFill>
                <a:effectLst/>
                <a:latin typeface="Arial" panose="020B0604020202020204" pitchFamily="34" charset="0"/>
              </a:rPr>
              <a:t>error</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compression ratio</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Investigate more advanced methods (e.g., </a:t>
            </a:r>
            <a:r>
              <a:rPr kumimoji="0" lang="en-US" altLang="en-US" sz="1800" b="1" i="0" u="none" strike="noStrike" cap="none" normalizeH="0" baseline="0" dirty="0">
                <a:ln>
                  <a:noFill/>
                </a:ln>
                <a:solidFill>
                  <a:schemeClr val="tx1"/>
                </a:solidFill>
                <a:effectLst/>
                <a:latin typeface="Arial" panose="020B0604020202020204" pitchFamily="34" charset="0"/>
              </a:rPr>
              <a:t>truncated SVD algorithms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PCA/CNN-based compression</a:t>
            </a:r>
            <a:r>
              <a:rPr kumimoji="0" lang="en-US" altLang="en-US" sz="1800" b="0" i="0" u="none" strike="noStrike" cap="none" normalizeH="0" baseline="0" dirty="0">
                <a:ln>
                  <a:noFill/>
                </a:ln>
                <a:solidFill>
                  <a:schemeClr val="tx1"/>
                </a:solidFill>
                <a:effectLst/>
                <a:latin typeface="Arial" panose="020B0604020202020204" pitchFamily="34" charset="0"/>
              </a:rPr>
              <a:t>) for larger or higher-resolution images.</a:t>
            </a:r>
          </a:p>
        </p:txBody>
      </p:sp>
    </p:spTree>
    <p:extLst>
      <p:ext uri="{BB962C8B-B14F-4D97-AF65-F5344CB8AC3E}">
        <p14:creationId xmlns:p14="http://schemas.microsoft.com/office/powerpoint/2010/main" val="2239870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F6A3F22-0B21-1A6C-A8C7-9AB69FE27E63}"/>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200" b="1"/>
              <a:t> Conclusion</a:t>
            </a:r>
          </a:p>
          <a:p>
            <a:pPr indent="-228600">
              <a:lnSpc>
                <a:spcPct val="90000"/>
              </a:lnSpc>
              <a:spcAft>
                <a:spcPts val="600"/>
              </a:spcAft>
              <a:buFont typeface="Arial" panose="020B0604020202020204" pitchFamily="34" charset="0"/>
              <a:buChar char="•"/>
            </a:pPr>
            <a:endParaRPr lang="en-US" sz="2200" b="1"/>
          </a:p>
          <a:p>
            <a:pPr indent="-228600">
              <a:lnSpc>
                <a:spcPct val="90000"/>
              </a:lnSpc>
              <a:spcAft>
                <a:spcPts val="600"/>
              </a:spcAft>
              <a:buFont typeface="Arial" panose="020B0604020202020204" pitchFamily="34" charset="0"/>
              <a:buChar char="•"/>
            </a:pPr>
            <a:endParaRPr lang="en-US" sz="2200" b="1"/>
          </a:p>
          <a:p>
            <a:pPr indent="-228600">
              <a:lnSpc>
                <a:spcPct val="90000"/>
              </a:lnSpc>
              <a:spcAft>
                <a:spcPts val="600"/>
              </a:spcAft>
              <a:buFont typeface="Arial" panose="020B0604020202020204" pitchFamily="34" charset="0"/>
              <a:buChar char="•"/>
            </a:pPr>
            <a:r>
              <a:rPr lang="en-US" sz="2200" b="1"/>
              <a:t>SVD and low-rank approximation</a:t>
            </a:r>
            <a:r>
              <a:rPr lang="en-US" sz="2200"/>
              <a:t> provide a simple and effective way to </a:t>
            </a:r>
            <a:r>
              <a:rPr lang="en-US" sz="2200" b="1"/>
              <a:t>compress images</a:t>
            </a:r>
            <a:r>
              <a:rPr lang="en-US" sz="2200"/>
              <a:t> using linear algebra.</a:t>
            </a:r>
          </a:p>
          <a:p>
            <a:pPr indent="-228600">
              <a:lnSpc>
                <a:spcPct val="90000"/>
              </a:lnSpc>
              <a:spcAft>
                <a:spcPts val="600"/>
              </a:spcAft>
              <a:buFont typeface="Arial" panose="020B0604020202020204" pitchFamily="34" charset="0"/>
              <a:buChar char="•"/>
            </a:pPr>
            <a:r>
              <a:rPr lang="en-US" sz="2200"/>
              <a:t>Medium ranks (for example </a:t>
            </a:r>
            <a:r>
              <a:rPr lang="en-US" sz="2200" b="1"/>
              <a:t>k = 20–50</a:t>
            </a:r>
            <a:r>
              <a:rPr lang="en-US" sz="2200"/>
              <a:t> for 256×256 images) often give a </a:t>
            </a:r>
            <a:r>
              <a:rPr lang="en-US" sz="2200" b="1"/>
              <a:t>good balance</a:t>
            </a:r>
            <a:r>
              <a:rPr lang="en-US" sz="2200"/>
              <a:t> between image quality and compression.</a:t>
            </a:r>
          </a:p>
          <a:p>
            <a:pPr indent="-228600">
              <a:lnSpc>
                <a:spcPct val="90000"/>
              </a:lnSpc>
              <a:spcAft>
                <a:spcPts val="600"/>
              </a:spcAft>
              <a:buFont typeface="Arial" panose="020B0604020202020204" pitchFamily="34" charset="0"/>
              <a:buChar char="•"/>
            </a:pPr>
            <a:r>
              <a:rPr lang="en-US" sz="2200"/>
              <a:t>The project successfully connects </a:t>
            </a:r>
            <a:r>
              <a:rPr lang="en-US" sz="2200" b="1"/>
              <a:t>numerical linear algebra theory (SVD)</a:t>
            </a:r>
            <a:r>
              <a:rPr lang="en-US" sz="2200"/>
              <a:t> with a </a:t>
            </a:r>
            <a:r>
              <a:rPr lang="en-US" sz="2200" b="1"/>
              <a:t>practical application (image compression)</a:t>
            </a:r>
            <a:r>
              <a:rPr lang="en-US" sz="2200"/>
              <a:t> on a real dataset.</a:t>
            </a:r>
          </a:p>
        </p:txBody>
      </p:sp>
    </p:spTree>
    <p:extLst>
      <p:ext uri="{BB962C8B-B14F-4D97-AF65-F5344CB8AC3E}">
        <p14:creationId xmlns:p14="http://schemas.microsoft.com/office/powerpoint/2010/main" val="3743506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8A9A2B-D2ED-34BE-B22C-90E1251C3CE1}"/>
              </a:ext>
            </a:extLst>
          </p:cNvPr>
          <p:cNvSpPr txBox="1"/>
          <p:nvPr/>
        </p:nvSpPr>
        <p:spPr>
          <a:xfrm>
            <a:off x="6668429" y="4326673"/>
            <a:ext cx="2910477" cy="769441"/>
          </a:xfrm>
          <a:prstGeom prst="rect">
            <a:avLst/>
          </a:prstGeom>
          <a:noFill/>
        </p:spPr>
        <p:txBody>
          <a:bodyPr wrap="none" rtlCol="0">
            <a:spAutoFit/>
          </a:bodyPr>
          <a:lstStyle/>
          <a:p>
            <a:r>
              <a:rPr lang="en-US" sz="4400" b="1"/>
              <a:t>Thank  You</a:t>
            </a:r>
            <a:endParaRPr lang="en-US" sz="4400" b="1" dirty="0"/>
          </a:p>
        </p:txBody>
      </p:sp>
    </p:spTree>
    <p:extLst>
      <p:ext uri="{BB962C8B-B14F-4D97-AF65-F5344CB8AC3E}">
        <p14:creationId xmlns:p14="http://schemas.microsoft.com/office/powerpoint/2010/main" val="3828554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250</TotalTime>
  <Words>3138</Words>
  <Application>Microsoft Office PowerPoint</Application>
  <PresentationFormat>Widescreen</PresentationFormat>
  <Paragraphs>245</Paragraphs>
  <Slides>20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Calibri</vt:lpstr>
      <vt:lpstr>Cambria Math</vt:lpstr>
      <vt:lpstr>Wingdings</vt:lpstr>
      <vt:lpstr>Office Theme</vt:lpstr>
      <vt:lpstr>Image Compression using Singular Value  Decomposition (SVD)</vt:lpstr>
      <vt:lpstr>Project Overview</vt:lpstr>
      <vt:lpstr>Motivation:   Why Image Compression?</vt:lpstr>
      <vt:lpstr>PowerPoint Presentation</vt:lpstr>
      <vt:lpstr>SVD and Low-Rank Approximation </vt:lpstr>
      <vt:lpstr>Dataset Overview</vt:lpstr>
      <vt:lpstr>Data Preprocessing: Resize and Grayscale Conversion</vt:lpstr>
      <vt:lpstr>PowerPoint Presentation</vt:lpstr>
      <vt:lpstr>PowerPoint Presentation</vt:lpstr>
      <vt:lpstr>Implementation Workflow</vt:lpstr>
      <vt:lpstr>Singular Values &amp; Energy-Based Rank Selection</vt:lpstr>
      <vt:lpstr>PowerPoint Presentation</vt:lpstr>
      <vt:lpstr>PowerPoint Presentation</vt:lpstr>
      <vt:lpstr>PowerPoint Presentation</vt:lpstr>
      <vt:lpstr>Compression Ratio vs Rank  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Dontheboina, Lavanya</dc:creator>
  <cp:lastModifiedBy>Dontheboina, Lavanya</cp:lastModifiedBy>
  <cp:revision>4</cp:revision>
  <dcterms:created xsi:type="dcterms:W3CDTF">2025-11-25T00:49:23Z</dcterms:created>
  <dcterms:modified xsi:type="dcterms:W3CDTF">2025-12-05T03:33:05Z</dcterms:modified>
</cp:coreProperties>
</file>